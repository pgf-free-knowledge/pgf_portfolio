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496.5080443633704</c:v>
                </c:pt>
                <c:pt idx="1">
                  <c:v>552.4719749331391</c:v>
                </c:pt>
                <c:pt idx="2">
                  <c:v>568.5895567467327</c:v>
                </c:pt>
                <c:pt idx="3">
                  <c:v>547.9940650824199</c:v>
                </c:pt>
                <c:pt idx="4">
                  <c:v>613.8441717059865</c:v>
                </c:pt>
                <c:pt idx="5">
                  <c:v>357.65466284813164</c:v>
                </c:pt>
                <c:pt idx="6">
                  <c:v>412.795501691437</c:v>
                </c:pt>
                <c:pt idx="7">
                  <c:v>375.6354195198239</c:v>
                </c:pt>
                <c:pt idx="8">
                  <c:v>434.2334728555383</c:v>
                </c:pt>
                <c:pt idx="9">
                  <c:v>427.9148664610524</c:v>
                </c:pt>
                <c:pt idx="10">
                  <c:v>408.3072350436408</c:v>
                </c:pt>
                <c:pt idx="11">
                  <c:v>583.0826185076188</c:v>
                </c:pt>
                <c:pt idx="12">
                  <c:v>443.5760116140351</c:v>
                </c:pt>
                <c:pt idx="13">
                  <c:v>428.2178116271993</c:v>
                </c:pt>
                <c:pt idx="14">
                  <c:v>503.66535406369246</c:v>
                </c:pt>
                <c:pt idx="15">
                  <c:v>401.00981891387954</c:v>
                </c:pt>
                <c:pt idx="16">
                  <c:v>598.3744603536849</c:v>
                </c:pt>
                <c:pt idx="17">
                  <c:v>450.7136960152433</c:v>
                </c:pt>
                <c:pt idx="18">
                  <c:v>549.2836961864567</c:v>
                </c:pt>
                <c:pt idx="19">
                  <c:v>545.5391810889961</c:v>
                </c:pt>
                <c:pt idx="20">
                  <c:v>396.9484399134155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Predicho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536.5198532340519</c:v>
                </c:pt>
                <c:pt idx="1">
                  <c:v>547.543571318397</c:v>
                </c:pt>
                <c:pt idx="2">
                  <c:v>565.2144762897077</c:v>
                </c:pt>
                <c:pt idx="3">
                  <c:v>531.2445195731625</c:v>
                </c:pt>
                <c:pt idx="4">
                  <c:v>560.3996016643449</c:v>
                </c:pt>
                <c:pt idx="5">
                  <c:v>381.4891267600201</c:v>
                </c:pt>
                <c:pt idx="6">
                  <c:v>429.133171637454</c:v>
                </c:pt>
                <c:pt idx="7">
                  <c:v>404.33809237555084</c:v>
                </c:pt>
                <c:pt idx="8">
                  <c:v>440.8118219307422</c:v>
                </c:pt>
                <c:pt idx="9">
                  <c:v>439.1489425800548</c:v>
                </c:pt>
                <c:pt idx="10">
                  <c:v>436.708024482253</c:v>
                </c:pt>
                <c:pt idx="11">
                  <c:v>549.349989038142</c:v>
                </c:pt>
                <c:pt idx="12">
                  <c:v>435.35746217545056</c:v>
                </c:pt>
                <c:pt idx="13">
                  <c:v>448.7135192175867</c:v>
                </c:pt>
                <c:pt idx="14">
                  <c:v>511.11135042366897</c:v>
                </c:pt>
                <c:pt idx="15">
                  <c:v>418.3338334316566</c:v>
                </c:pt>
                <c:pt idx="16">
                  <c:v>563.8187692207451</c:v>
                </c:pt>
                <c:pt idx="17">
                  <c:v>438.95896113813353</c:v>
                </c:pt>
                <c:pt idx="18">
                  <c:v>559.0567600993489</c:v>
                </c:pt>
                <c:pt idx="19">
                  <c:v>551.746438429103</c:v>
                </c:pt>
                <c:pt idx="20">
                  <c:v>421.37784793747727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Hora del conjunto de prueba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Consumo [kW]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|SHAP|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it load roll3</c:v>
                </c:pt>
                <c:pt idx="1">
                  <c:v>it load lag1</c:v>
                </c:pt>
                <c:pt idx="2">
                  <c:v>temperature C</c:v>
                </c:pt>
                <c:pt idx="3">
                  <c:v>hour sin</c:v>
                </c:pt>
                <c:pt idx="4">
                  <c:v>hvac</c:v>
                </c:pt>
                <c:pt idx="5">
                  <c:v>it load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0.9614401974630181</c:v>
                </c:pt>
                <c:pt idx="1">
                  <c:v>1.081584530325599</c:v>
                </c:pt>
                <c:pt idx="2">
                  <c:v>1.1397494550087302</c:v>
                </c:pt>
                <c:pt idx="3">
                  <c:v>1.9784802457458492</c:v>
                </c:pt>
                <c:pt idx="4">
                  <c:v>9.413460116615923</c:v>
                </c:pt>
                <c:pt idx="5">
                  <c:v>53.05161636636366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Impacto medio absoluto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Consumo medio simulado [kW]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ISO reactivo</c:v>
                </c:pt>
                <c:pt idx="2">
                  <c:v>IA predictiva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476.4358455422615</c:v>
                </c:pt>
                <c:pt idx="1">
                  <c:v>472.6243587779234</c:v>
                </c:pt>
                <c:pt idx="2">
                  <c:v>468.8128720135853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kW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SEMINARIO · INGENIERÍA +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5943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6217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52928"/>
            <a:ext cx="56692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Evolución de la gestión del desempeño energético con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504688"/>
            <a:ext cx="6400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E3E8"/>
                </a:solidFill>
                <a:latin typeface="Aptos Display"/>
              </a:rPr>
              <a:t>ISO 50001 · Analítica de datos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870448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143000"/>
            <a:ext cx="1325880" cy="13258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1848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ENERGÍA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434340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949440" y="1828800"/>
            <a:ext cx="2423160" cy="283464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0" y="4892040"/>
            <a:ext cx="658368" cy="65836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623559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549640" y="1828800"/>
            <a:ext cx="822960" cy="3383279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38360" y="425196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98348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1828800"/>
            <a:ext cx="685800" cy="274320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78440" y="2606040"/>
            <a:ext cx="658368" cy="658368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33756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1828800"/>
            <a:ext cx="1325880" cy="109728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¿Estamos midiendo energía o realmente gestionándola?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DEL DATO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76272"/>
            <a:ext cx="594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9456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GESTIONAR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03320"/>
            <a:ext cx="8778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D6E3E8"/>
                </a:solidFill>
                <a:latin typeface="Aptos Display"/>
              </a:rPr>
              <a:t>Gestionar implica comprender el desempeño y actuar sobre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recorrido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misma pregunta evoluciona desde la medición hasta la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ENTENDER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7056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COMPARAR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PREDECIR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EXPLORAR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33888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DECIDIR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875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energía no existe aislada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desempeño energético se interpreta en contexto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841248" cy="84124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ENERGÍA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2286000"/>
            <a:ext cx="841248" cy="84124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6" y="2286000"/>
            <a:ext cx="841248" cy="84124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7223" y="2286000"/>
            <a:ext cx="841248" cy="84124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1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COSTO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72" y="2286000"/>
            <a:ext cx="841248" cy="841248"/>
          </a:xfrm>
          <a:prstGeom prst="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Medir no es todavía 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metodología transforma datos en una lectura del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ISO 50001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Revisión energética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Indicadores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LBEn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¿Cuánto estamos consumiendo… y cuánto deberíamos consumir?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referencia convierte un registro en una pregunta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7269480" cy="448056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4440" y="5257800"/>
            <a:ext cx="6035040" cy="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34440" y="2011680"/>
            <a:ext cx="0" cy="324612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17320" y="480060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448055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416052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384047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395935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639311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331927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99923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311810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2798063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47802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15798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325880" y="2148840"/>
            <a:ext cx="5715000" cy="2834640"/>
          </a:xfrm>
          <a:prstGeom prst="line">
            <a:avLst/>
          </a:prstGeom>
          <a:ln w="3810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542239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708590"/>
                </a:solidFill>
                <a:latin typeface="Aptos Display"/>
              </a:rPr>
              <a:t>consumo observado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EF8919"/>
                </a:solidFill>
                <a:latin typeface="Aptos Display"/>
              </a:rPr>
              <a:t>referencia / línea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063240" cy="33375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2121408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IDEA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06040"/>
            <a:ext cx="2331720" cy="2148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F8FAFB"/>
                </a:solidFill>
                <a:latin typeface="Aptos Display"/>
              </a:rPr>
              <a:t>Sin referencia,
el consumo es solo
un número.
Con referencia,
se transforma en
desempeño.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Caso real · Planta Oil Malal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evidencia industrial permite pasar de conceptos a desempeño observado.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657600" cy="4251960"/>
          </a:xfrm>
          <a:prstGeom prst="roundRect">
            <a:avLst/>
          </a:prstGeom>
          <a:solidFill>
            <a:srgbClr val="0F2B3C"/>
          </a:solidFill>
          <a:ln>
            <a:solidFill>
              <a:srgbClr val="30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B"/>
                </a:solidFill>
                <a:latin typeface="Aptos Display"/>
              </a:rPr>
              <a:t>OIL MALAL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F8919"/>
                </a:solidFill>
                <a:latin typeface="Aptos Display"/>
              </a:rPr>
              <a:t>CASO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9260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Gestión energética
medición · análisis · mejora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600200"/>
            <a:ext cx="457200" cy="4572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819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476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consumo y operación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971800"/>
            <a:ext cx="457200" cy="45720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9535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192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indicadores y LBEn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343400"/>
            <a:ext cx="457200" cy="4572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MEJORA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6908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medidas y evaluación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¿Dónde está la oportunidad energética?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Resultados verificables del caso Oil Malal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063240" cy="43434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514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EF8919"/>
                </a:solidFill>
                <a:latin typeface="Aptos Display"/>
              </a:rPr>
              <a:t>575,88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514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kWh/mes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514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6,08 % del consumo energético mensual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AHORRO POTENCIAL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6E3E8"/>
                </a:solidFill>
                <a:latin typeface="Aptos Display"/>
              </a:rPr>
              <a:t>análisis del punto de quiebre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463040"/>
            <a:ext cx="7178040" cy="43434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6355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81927"/>
                </a:solidFill>
                <a:latin typeface="Aptos Display"/>
              </a:rPr>
              <a:t>Concentración del potencial identificado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81927"/>
                </a:solidFill>
                <a:latin typeface="Aptos Display"/>
              </a:rPr>
              <a:t>Iluminación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633472"/>
            <a:ext cx="3749039" cy="329184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258775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EF8919"/>
                </a:solidFill>
                <a:latin typeface="Aptos Display"/>
              </a:rPr>
              <a:t>41 %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81927"/>
                </a:solidFill>
                <a:latin typeface="Aptos Display"/>
              </a:rPr>
              <a:t>Aire acondicionado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776472"/>
            <a:ext cx="2377440" cy="329184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373075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2CAAB8"/>
                </a:solidFill>
                <a:latin typeface="Aptos Display"/>
              </a:rPr>
              <a:t>26 %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6172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081927"/>
                </a:solidFill>
                <a:latin typeface="Aptos Display"/>
              </a:rPr>
              <a:t>La revisión energética deja de ser diagnóstico y se convierte en cartera de acciones.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línea base convierte consumo en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 real del estudio: referencia energética y meta de desempeño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7452360" cy="46177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69951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88036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03120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B"/>
                </a:solidFill>
                <a:latin typeface="Aptos Display"/>
              </a:rPr>
              <a:t>R² LBEn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42032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2CAAB8"/>
                </a:solidFill>
                <a:latin typeface="Aptos Display"/>
              </a:rPr>
              <a:t>0,84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337560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B"/>
                </a:solidFill>
                <a:latin typeface="Aptos Display"/>
              </a:rPr>
              <a:t>R² LBEn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749039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EF8919"/>
                </a:solidFill>
                <a:latin typeface="Aptos Display"/>
              </a:rPr>
              <a:t>0,9508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IB100 · ¿cómo se comporta el desempeño?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Indicador real del caso Oil Malal · período de estudio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7452360" cy="46177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69951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88036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240280"/>
            <a:ext cx="2423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EF8919"/>
                </a:solidFill>
                <a:latin typeface="Aptos Display"/>
              </a:rPr>
              <a:t>45,8 %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63240"/>
            <a:ext cx="24231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8FAFB"/>
                </a:solidFill>
                <a:latin typeface="Aptos Display"/>
              </a:rPr>
              <a:t>de los datos de consumo
por debajo de la línea
base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CUSUM · ¿qué tendencia muestra el desempeño?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Indicador real del caso Oil Malal · evolución acumulada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7452360" cy="46177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69951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88036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194560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SIN TRAZAS
DE AHORRO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4231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 Display"/>
              </a:rPr>
              <a:t>El período evaluado muestra
derroche de consumo energético.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eficiencia debe traducirse en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Medidas de mejora + evaluación económica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81927"/>
                </a:solidFill>
                <a:latin typeface="Aptos Display"/>
              </a:rPr>
              <a:t>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459D69"/>
                </a:solidFill>
                <a:latin typeface="Aptos Display"/>
              </a:rPr>
              <a:t>AHORRO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4320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eficiencia adquiere sentido cuando sostiene una decisión.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¿Podemos anticiparnos?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Hasta aquí podemos medir, entender y comparar. Ahora cambia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6E3E8"/>
                </a:solidFill>
                <a:latin typeface="Aptos Display"/>
              </a:rPr>
              <a:t>PASADO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26771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 Display"/>
              </a:rPr>
              <a:t>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¿Qué comportamiento energético esperamos?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Del dato al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Flujo efectivamente implementado en el notebook Procesoinicialpgfenergia2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874519" cy="20116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85B74"/>
                </a:solidFill>
                <a:latin typeface="Aptos Display"/>
              </a:rPr>
              <a:t>70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965960"/>
            <a:ext cx="1874519" cy="20116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CAAB8"/>
                </a:solidFill>
                <a:latin typeface="Aptos Display"/>
              </a:rPr>
              <a:t>lags + rolling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965960"/>
            <a:ext cx="1874519" cy="20116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TRAIN /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70 /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4" y="1965960"/>
            <a:ext cx="1874519" cy="20116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 Display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72" y="1965960"/>
            <a:ext cx="1874519" cy="20116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59D69"/>
                </a:solidFill>
                <a:latin typeface="Aptos Display"/>
              </a:rPr>
              <a:t>MAE · RMSE · R²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10744200" cy="6858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82312"/>
            <a:ext cx="10287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DEMO ML · dataset sintético de Data Center · 70 observaciones → 49 entrenamiento + 21 prueba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Predicción · Real vs. Predicho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Random Forest aplicado al conjunto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63040"/>
          <a:ext cx="76352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783080"/>
            <a:ext cx="278892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60320"/>
            <a:ext cx="2240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EF8919"/>
                </a:solidFill>
                <a:latin typeface="Aptos Display"/>
              </a:rPr>
              <a:t>0.911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383280"/>
            <a:ext cx="22402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 Display"/>
              </a:rPr>
              <a:t>El modelo sigue la señal real,
pero mantiene error residual.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Validación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Métricas calculadas sobre las 21 observaciones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2CAAB8"/>
                </a:solidFill>
                <a:latin typeface="Aptos Display"/>
              </a:rPr>
              <a:t>19.406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9456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23.353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kW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19456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459D69"/>
                </a:solidFill>
                <a:latin typeface="Aptos Display"/>
              </a:rPr>
              <a:t>0.911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Referencia del mismo notebook: Regresión Lineal → MAE 11,66 · RMSE 13,10 · R² 0,972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21808"/>
            <a:ext cx="10332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Random Forest no se presenta como “mejor” sin una comparación homogénea y criterio explícito.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Predecir no es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Una predicción útil también debe poder interpretarse.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22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0" b="1">
                <a:solidFill>
                  <a:srgbClr val="EF8919"/>
                </a:solidFill>
                <a:latin typeface="Aptos Display"/>
              </a:rPr>
              <a:t>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8600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343400"/>
            <a:ext cx="8138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¿por qué el modelo llegó a ese resultado?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¿Por qué el modelo predijo 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SHAP · importancia global calculada sobre el conjunto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08760"/>
          <a:ext cx="69037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92440" y="1737360"/>
            <a:ext cx="3246120" cy="37033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05740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2606040" cy="2057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IT load domina la explicación.
HVAC aparece como segunda variable.
Las demás aportan mucho menos.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Escenarios · explorar antes de actuar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Simulación demostrativa del notebook · no es una medición de ahorro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6995160" cy="45262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1874519"/>
          <a:ext cx="644652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737360"/>
            <a:ext cx="3246120" cy="37033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5740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SIMULACIÓN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651760"/>
            <a:ext cx="26060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Base
→ respuesta reactiva
→ ajuste predictivo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794760"/>
            <a:ext cx="269748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CDDCE2"/>
                </a:solidFill>
                <a:latin typeface="Aptos Display"/>
              </a:rPr>
              <a:t>El notebook genera escenarios sintéticos; deben presentarse como demostración metodológica, no como ahorro validado de Oil Malal.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De la explicación a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Comparar alternativas con una misma lógica de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ALTERNATIVA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ALTERNATIVA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892040"/>
            <a:ext cx="8138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La simulación permite evaluar antes de intervenir.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SHAP convierte la caja negra en lectura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Qué variables empujan la predicción y en qué dirección.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38528"/>
            <a:ext cx="448056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633472"/>
            <a:ext cx="329184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328416"/>
            <a:ext cx="228600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023360"/>
            <a:ext cx="137160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001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718304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Una decisión cambia cuando podemos explicar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4028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SHAP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40280"/>
            <a:ext cx="658368" cy="65836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Escenarios: ¿qué alternativa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IA deja de responder solo “qué pasará”.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185B74"/>
                </a:solidFill>
                <a:latin typeface="Aptos Display"/>
              </a:rPr>
              <a:t>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AB8"/>
                </a:solidFill>
                <a:latin typeface="Aptos Display"/>
              </a:rPr>
              <a:t>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59D69"/>
                </a:solidFill>
                <a:latin typeface="Aptos Display"/>
              </a:rPr>
              <a:t>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decisión se construye comparando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 técnico + impacto operacional + criterio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685800" cy="68580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685800" cy="6858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48840"/>
            <a:ext cx="685800" cy="6858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519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081927"/>
                </a:solidFill>
                <a:latin typeface="Aptos Display"/>
              </a:rPr>
              <a:t>DECISIÓN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Arquitectura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cadena continua: dato → desempeño → IA →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ESCENARIOS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331720"/>
            <a:ext cx="1463040" cy="960120"/>
          </a:xfrm>
          <a:prstGeom prst="round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138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Del prototipo al entorno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valor aparece cuando el análisis entra en el flujo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2267712"/>
            <a:ext cx="640080" cy="64008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67712"/>
            <a:ext cx="640080" cy="64008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ANALIZAR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Python /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2267712"/>
            <a:ext cx="640080" cy="64008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80" y="2267712"/>
            <a:ext cx="640080" cy="6400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ACTUAR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operación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IA + ingeniería: una nueva capacidad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IA amplifica el conocimiento del proceso; no sustituye al ingeniero.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INGENIERÍA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DATOS +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9326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D6E3E8"/>
                </a:solidFill>
                <a:latin typeface="Aptos Display"/>
              </a:rPr>
              <a:t>La tecnología aumenta la capacidad de anticipar, explicar y evaluar.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siguiente nivel: optimizar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Después de predecir y explicar, podemos evaluar alternativas.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EXPLICACIÓN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¿Cómo transformar datos energéticos operacionales en capacidad predictiva y de decisión?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CAAB8"/>
                </a:solidFill>
                <a:latin typeface="Aptos Display"/>
              </a:rPr>
              <a:t>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39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Propuesta doctoral · línea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investigación surge naturalmente de la evolución del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anticipar desempeño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59D69"/>
                </a:solidFill>
                <a:latin typeface="Aptos Display"/>
              </a:rPr>
              <a:t>XAI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comprender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F8919"/>
                </a:solidFill>
                <a:latin typeface="Aptos Display"/>
              </a:rPr>
              <a:t>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evaluar alternativas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5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orientar decisiones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evolución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No se trata de agregar IA. Se trata de aumentar la capacidad de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CAAB8"/>
                </a:solidFill>
                <a:latin typeface="Aptos Display"/>
              </a:rPr>
              <a:t>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CONOCIMIENTO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583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68580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78608"/>
            <a:ext cx="75895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8FAFB"/>
                </a:solidFill>
                <a:latin typeface="Aptos Display"/>
              </a:rPr>
              <a:t>y de predecir 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01568"/>
            <a:ext cx="7680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La evolución de la gestión energética consiste en transformar datos operacionales en capacidad de predicción y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6144768"/>
            <a:ext cx="5303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4892040"/>
            <a:ext cx="502920" cy="5029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42248" y="4892040"/>
            <a:ext cx="502920" cy="5029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ENTENDER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83496" y="4892040"/>
            <a:ext cx="502920" cy="5029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616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PREDECIR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24744" y="4892040"/>
            <a:ext cx="502920" cy="5029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41864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