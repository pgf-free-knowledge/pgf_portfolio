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7DB1"/>
    <a:srgbClr val="437C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30"/>
          </a:solidFill>
          <a:ln>
            <a:solidFill>
              <a:srgbClr val="08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2606040" y="777240"/>
            <a:ext cx="6583680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CL" sz="3100" b="1" noProof="0" dirty="0">
                <a:solidFill>
                  <a:srgbClr val="FFFFFF"/>
                </a:solidFill>
                <a:latin typeface="Aptos Display"/>
              </a:rPr>
              <a:t>Machine Learning,
XAI y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2359152"/>
            <a:ext cx="493776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CL" sz="2100" b="1" noProof="0" dirty="0">
                <a:solidFill>
                  <a:srgbClr val="ABD337"/>
                </a:solidFill>
                <a:latin typeface="Aptos"/>
              </a:rPr>
              <a:t>De la predicción
a la decisión informada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3611880"/>
            <a:ext cx="548640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CL" sz="1600" b="0" noProof="0" dirty="0">
                <a:solidFill>
                  <a:srgbClr val="FFFFFF"/>
                </a:solidFill>
                <a:latin typeface="Aptos"/>
              </a:rPr>
              <a:t>Cómo la inteligencia artificial explicable
potencia la gestión energética.</a:t>
            </a:r>
          </a:p>
        </p:txBody>
      </p:sp>
      <p:sp>
        <p:nvSpPr>
          <p:cNvPr id="8" name="Oval 7"/>
          <p:cNvSpPr/>
          <p:nvPr/>
        </p:nvSpPr>
        <p:spPr>
          <a:xfrm>
            <a:off x="9738360" y="960120"/>
            <a:ext cx="960120" cy="960120"/>
          </a:xfrm>
          <a:prstGeom prst="ellipse">
            <a:avLst/>
          </a:prstGeom>
          <a:solidFill>
            <a:srgbClr val="103146"/>
          </a:solidFill>
          <a:ln w="20320">
            <a:solidFill>
              <a:srgbClr val="ABD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9738360" y="1124712"/>
            <a:ext cx="9601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2800" b="1" noProof="0" dirty="0">
                <a:solidFill>
                  <a:srgbClr val="ABD337"/>
                </a:solidFill>
                <a:latin typeface="Aptos"/>
              </a:rPr>
              <a:t>⚡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36792"/>
            <a:ext cx="12191695" cy="521207"/>
          </a:xfrm>
          <a:prstGeom prst="rect">
            <a:avLst/>
          </a:prstGeom>
          <a:solidFill>
            <a:srgbClr val="103146"/>
          </a:solidFill>
          <a:ln>
            <a:solidFill>
              <a:srgbClr val="103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274320" y="6473952"/>
            <a:ext cx="21945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CL" sz="900" b="1" noProof="0" dirty="0">
                <a:solidFill>
                  <a:srgbClr val="FFFFFF"/>
                </a:solidFill>
                <a:latin typeface="Aptos"/>
              </a:rPr>
              <a:t>INGENIERÍA PGF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6473952"/>
            <a:ext cx="43891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lang="es-CL" sz="900" b="0" noProof="0" dirty="0">
                <a:solidFill>
                  <a:srgbClr val="FFFFFF"/>
                </a:solidFill>
                <a:latin typeface="Aptos"/>
              </a:rPr>
              <a:t>Paul Gálvez (Ingeniero Electrónico - USM)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69AC3AA-ECBE-03CE-7794-A33A70856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81" y="4551725"/>
            <a:ext cx="1437839" cy="14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4D72C0BB-5257-36A2-9D8C-4542F7C1378B}"/>
              </a:ext>
            </a:extLst>
          </p:cNvPr>
          <p:cNvSpPr/>
          <p:nvPr/>
        </p:nvSpPr>
        <p:spPr>
          <a:xfrm>
            <a:off x="6144768" y="1995055"/>
            <a:ext cx="987552" cy="159853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" name="Rounded Rectangle 2"/>
          <p:cNvSpPr/>
          <p:nvPr/>
        </p:nvSpPr>
        <p:spPr>
          <a:xfrm>
            <a:off x="201168" y="164592"/>
            <a:ext cx="347472" cy="347472"/>
          </a:xfrm>
          <a:prstGeom prst="round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" name="TextBox 3"/>
          <p:cNvSpPr txBox="1"/>
          <p:nvPr/>
        </p:nvSpPr>
        <p:spPr>
          <a:xfrm>
            <a:off x="201168" y="192024"/>
            <a:ext cx="34747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es-CL" sz="1200" b="1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CL" sz="2300" b="1" dirty="0">
                <a:solidFill>
                  <a:srgbClr val="102D44"/>
                </a:solidFill>
                <a:latin typeface="Aptos Display"/>
              </a:rPr>
              <a:t>¿Dónde está Machine Learning
en nuestro trabajo?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39" y="1103503"/>
            <a:ext cx="8484595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CL" sz="2000" b="0" dirty="0">
                <a:solidFill>
                  <a:srgbClr val="5D717E"/>
                </a:solidFill>
                <a:latin typeface="Aptos"/>
              </a:rPr>
              <a:t>Se integra entre la comparación del desempeño y la toma de decisiones.</a:t>
            </a:r>
          </a:p>
        </p:txBody>
      </p:sp>
      <p:sp>
        <p:nvSpPr>
          <p:cNvPr id="9" name="Oval 8"/>
          <p:cNvSpPr/>
          <p:nvPr/>
        </p:nvSpPr>
        <p:spPr>
          <a:xfrm>
            <a:off x="2050140" y="2290572"/>
            <a:ext cx="658368" cy="6583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0" name="TextBox 9"/>
          <p:cNvSpPr txBox="1"/>
          <p:nvPr/>
        </p:nvSpPr>
        <p:spPr>
          <a:xfrm>
            <a:off x="2075688" y="2350008"/>
            <a:ext cx="621792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es-CL" sz="850" b="1" dirty="0">
                <a:solidFill>
                  <a:srgbClr val="188297"/>
                </a:solidFill>
                <a:latin typeface="Aptos"/>
              </a:rPr>
              <a:t>MEDIR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7" y="2999232"/>
            <a:ext cx="987552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950" b="0" dirty="0">
                <a:solidFill>
                  <a:srgbClr val="102D44"/>
                </a:solidFill>
                <a:latin typeface="Aptos"/>
              </a:rPr>
              <a:t>Datos de energía
+ operación</a:t>
            </a:r>
          </a:p>
        </p:txBody>
      </p:sp>
      <p:sp>
        <p:nvSpPr>
          <p:cNvPr id="13" name="Oval 12"/>
          <p:cNvSpPr/>
          <p:nvPr/>
        </p:nvSpPr>
        <p:spPr>
          <a:xfrm>
            <a:off x="3534157" y="2290572"/>
            <a:ext cx="658368" cy="6583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4" name="TextBox 13"/>
          <p:cNvSpPr txBox="1"/>
          <p:nvPr/>
        </p:nvSpPr>
        <p:spPr>
          <a:xfrm>
            <a:off x="3559326" y="2334311"/>
            <a:ext cx="621792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es-CL" sz="850" b="1" dirty="0">
                <a:solidFill>
                  <a:srgbClr val="188297"/>
                </a:solidFill>
                <a:latin typeface="Aptos"/>
              </a:rPr>
              <a:t>ENTENDER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7" y="2999232"/>
            <a:ext cx="987552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950" b="0" dirty="0">
                <a:solidFill>
                  <a:srgbClr val="102D44"/>
                </a:solidFill>
                <a:latin typeface="Aptos"/>
              </a:rPr>
              <a:t>Uso </a:t>
            </a:r>
            <a:r>
              <a:rPr lang="es-CL" sz="950" b="0" noProof="0" dirty="0">
                <a:solidFill>
                  <a:srgbClr val="102D44"/>
                </a:solidFill>
                <a:latin typeface="Aptos"/>
              </a:rPr>
              <a:t>significativo</a:t>
            </a:r>
            <a:r>
              <a:rPr lang="es-CL" sz="950" b="0" dirty="0">
                <a:solidFill>
                  <a:srgbClr val="102D44"/>
                </a:solidFill>
                <a:latin typeface="Aptos"/>
              </a:rPr>
              <a:t>
y desempeño</a:t>
            </a:r>
          </a:p>
        </p:txBody>
      </p:sp>
      <p:sp>
        <p:nvSpPr>
          <p:cNvPr id="17" name="Oval 16"/>
          <p:cNvSpPr/>
          <p:nvPr/>
        </p:nvSpPr>
        <p:spPr>
          <a:xfrm>
            <a:off x="4839462" y="2296699"/>
            <a:ext cx="658368" cy="6583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TextBox 17"/>
          <p:cNvSpPr txBox="1"/>
          <p:nvPr/>
        </p:nvSpPr>
        <p:spPr>
          <a:xfrm>
            <a:off x="4811181" y="2521992"/>
            <a:ext cx="692657" cy="20467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es-CL" sz="850" b="1" dirty="0">
                <a:solidFill>
                  <a:srgbClr val="188297"/>
                </a:solidFill>
                <a:latin typeface="Aptos"/>
              </a:rPr>
              <a:t>COMPARAR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2999232"/>
            <a:ext cx="987552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950" b="0" dirty="0">
                <a:solidFill>
                  <a:srgbClr val="102D44"/>
                </a:solidFill>
                <a:latin typeface="Aptos"/>
              </a:rPr>
              <a:t>Contra LBEn /
Referencia</a:t>
            </a:r>
          </a:p>
        </p:txBody>
      </p:sp>
      <p:sp>
        <p:nvSpPr>
          <p:cNvPr id="21" name="Oval 20"/>
          <p:cNvSpPr/>
          <p:nvPr/>
        </p:nvSpPr>
        <p:spPr>
          <a:xfrm>
            <a:off x="6309359" y="2306269"/>
            <a:ext cx="658368" cy="6583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2" name="TextBox 21"/>
          <p:cNvSpPr txBox="1"/>
          <p:nvPr/>
        </p:nvSpPr>
        <p:spPr>
          <a:xfrm>
            <a:off x="6310771" y="2365279"/>
            <a:ext cx="621792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es-CL" sz="850" b="1" dirty="0">
                <a:solidFill>
                  <a:srgbClr val="79B12D"/>
                </a:solidFill>
                <a:latin typeface="Aptos"/>
              </a:rPr>
              <a:t>PREDECIR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2999232"/>
            <a:ext cx="987552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950" b="0" dirty="0">
                <a:solidFill>
                  <a:schemeClr val="bg1"/>
                </a:solidFill>
                <a:latin typeface="Aptos"/>
              </a:rPr>
              <a:t>Machine
Learning</a:t>
            </a:r>
          </a:p>
        </p:txBody>
      </p:sp>
      <p:sp>
        <p:nvSpPr>
          <p:cNvPr id="25" name="Oval 24"/>
          <p:cNvSpPr/>
          <p:nvPr/>
        </p:nvSpPr>
        <p:spPr>
          <a:xfrm>
            <a:off x="7744969" y="2302685"/>
            <a:ext cx="658368" cy="6583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6" name="TextBox 25"/>
          <p:cNvSpPr txBox="1"/>
          <p:nvPr/>
        </p:nvSpPr>
        <p:spPr>
          <a:xfrm>
            <a:off x="7772398" y="2350008"/>
            <a:ext cx="621792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es-CL" sz="850" b="1" dirty="0">
                <a:solidFill>
                  <a:srgbClr val="188297"/>
                </a:solidFill>
                <a:latin typeface="Aptos"/>
              </a:rPr>
              <a:t>EXPLICAR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2999232"/>
            <a:ext cx="987552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950" b="0" dirty="0">
                <a:solidFill>
                  <a:srgbClr val="102D44"/>
                </a:solidFill>
                <a:latin typeface="Aptos"/>
              </a:rPr>
              <a:t>XAI / SHAP
¿Por qué?</a:t>
            </a:r>
          </a:p>
        </p:txBody>
      </p:sp>
      <p:sp>
        <p:nvSpPr>
          <p:cNvPr id="29" name="Oval 28"/>
          <p:cNvSpPr/>
          <p:nvPr/>
        </p:nvSpPr>
        <p:spPr>
          <a:xfrm>
            <a:off x="9162288" y="2287603"/>
            <a:ext cx="658368" cy="65836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TextBox 29"/>
          <p:cNvSpPr txBox="1"/>
          <p:nvPr/>
        </p:nvSpPr>
        <p:spPr>
          <a:xfrm>
            <a:off x="9198864" y="2340864"/>
            <a:ext cx="621792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es-CL" sz="850" b="1" dirty="0">
                <a:solidFill>
                  <a:srgbClr val="188297"/>
                </a:solidFill>
                <a:latin typeface="Aptos"/>
              </a:rPr>
              <a:t>DECIDIR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9408" y="2999232"/>
            <a:ext cx="987552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950" b="0" dirty="0">
                <a:solidFill>
                  <a:srgbClr val="102D44"/>
                </a:solidFill>
                <a:latin typeface="Aptos"/>
              </a:rPr>
              <a:t>Acciones e
impacto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48840" y="4663440"/>
            <a:ext cx="9052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dirty="0"/>
          </a:p>
        </p:txBody>
      </p:sp>
      <p:sp>
        <p:nvSpPr>
          <p:cNvPr id="33" name="TextBox 32"/>
          <p:cNvSpPr txBox="1"/>
          <p:nvPr/>
        </p:nvSpPr>
        <p:spPr>
          <a:xfrm>
            <a:off x="2379324" y="4798832"/>
            <a:ext cx="877824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2000" b="1" dirty="0">
                <a:solidFill>
                  <a:srgbClr val="102D44"/>
                </a:solidFill>
                <a:latin typeface="Aptos"/>
              </a:rPr>
              <a:t>La IA no reemplaza la ingeniería: amplía la capacidad de anticipar y evaluar.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1F30"/>
          </a:solidFill>
          <a:ln>
            <a:solidFill>
              <a:srgbClr val="08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5" name="TextBox 34"/>
          <p:cNvSpPr txBox="1"/>
          <p:nvPr/>
        </p:nvSpPr>
        <p:spPr>
          <a:xfrm>
            <a:off x="228600" y="6547104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CL" sz="900" b="1" dirty="0">
                <a:solidFill>
                  <a:srgbClr val="FFFFFF"/>
                </a:solidFill>
                <a:latin typeface="Aptos"/>
              </a:rPr>
              <a:t>INGENIERÍA PGF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6547104"/>
            <a:ext cx="4160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lang="es-CL" sz="900" b="0" dirty="0">
                <a:solidFill>
                  <a:srgbClr val="FFFFFF"/>
                </a:solidFill>
                <a:latin typeface="Aptos"/>
              </a:rPr>
              <a:t>Paul Gálvez (Ingeniero Electrónico - USM)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42F76087-9040-6776-A9A6-019B671DC536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2708508" y="2619756"/>
            <a:ext cx="825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AF53A05B-025A-ADC9-B8AE-53CA93EFAAA6}"/>
              </a:ext>
            </a:extLst>
          </p:cNvPr>
          <p:cNvCxnSpPr>
            <a:cxnSpLocks/>
            <a:stCxn id="13" idx="6"/>
            <a:endCxn id="17" idx="2"/>
          </p:cNvCxnSpPr>
          <p:nvPr/>
        </p:nvCxnSpPr>
        <p:spPr>
          <a:xfrm>
            <a:off x="4192525" y="2619756"/>
            <a:ext cx="646937" cy="6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541D8FC5-AE80-1878-01D7-59D2787B8BB2}"/>
              </a:ext>
            </a:extLst>
          </p:cNvPr>
          <p:cNvCxnSpPr>
            <a:cxnSpLocks/>
            <a:stCxn id="17" idx="6"/>
            <a:endCxn id="21" idx="2"/>
          </p:cNvCxnSpPr>
          <p:nvPr/>
        </p:nvCxnSpPr>
        <p:spPr>
          <a:xfrm>
            <a:off x="5497830" y="2625883"/>
            <a:ext cx="811529" cy="95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E26DAEBA-25FE-0A6C-F216-E5D26B034550}"/>
              </a:ext>
            </a:extLst>
          </p:cNvPr>
          <p:cNvCxnSpPr>
            <a:cxnSpLocks/>
            <a:stCxn id="21" idx="6"/>
            <a:endCxn id="25" idx="2"/>
          </p:cNvCxnSpPr>
          <p:nvPr/>
        </p:nvCxnSpPr>
        <p:spPr>
          <a:xfrm flipV="1">
            <a:off x="6967727" y="2631869"/>
            <a:ext cx="777242" cy="3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84852EA3-CD38-B8E8-6DE7-389C49034C18}"/>
              </a:ext>
            </a:extLst>
          </p:cNvPr>
          <p:cNvCxnSpPr>
            <a:cxnSpLocks/>
            <a:stCxn id="26" idx="3"/>
            <a:endCxn id="29" idx="2"/>
          </p:cNvCxnSpPr>
          <p:nvPr/>
        </p:nvCxnSpPr>
        <p:spPr>
          <a:xfrm flipV="1">
            <a:off x="8394190" y="2616787"/>
            <a:ext cx="768098" cy="75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2" name="Imagen 81">
            <a:extLst>
              <a:ext uri="{FF2B5EF4-FFF2-40B4-BE49-F238E27FC236}">
                <a16:creationId xmlns:a16="http://schemas.microsoft.com/office/drawing/2014/main" id="{36F43720-435E-8CA0-E5A3-EFA2F90955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416030" y="4798832"/>
            <a:ext cx="1078379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01168" y="164592"/>
            <a:ext cx="347472" cy="347472"/>
          </a:xfrm>
          <a:prstGeom prst="round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201168" y="192024"/>
            <a:ext cx="34747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es-CL" sz="1200" b="1" noProof="0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CL" sz="2300" b="1" noProof="0" dirty="0">
                <a:solidFill>
                  <a:srgbClr val="102D44"/>
                </a:solidFill>
                <a:latin typeface="Aptos Display"/>
              </a:rPr>
              <a:t>¿Cómo aprende el modelo?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12648"/>
            <a:ext cx="1069848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CL" sz="2000" b="0" noProof="0" dirty="0">
                <a:solidFill>
                  <a:srgbClr val="5D717E"/>
                </a:solidFill>
                <a:latin typeface="Aptos"/>
              </a:rPr>
              <a:t>Del dato crudo a una predicción de consumo futuro.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1965960"/>
            <a:ext cx="1600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2148840" y="2148840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1100" b="1" noProof="0" dirty="0">
                <a:solidFill>
                  <a:srgbClr val="188297"/>
                </a:solidFill>
                <a:latin typeface="Aptos"/>
              </a:rPr>
              <a:t>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2578608"/>
            <a:ext cx="1371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1150" b="0" noProof="0" dirty="0">
                <a:solidFill>
                  <a:srgbClr val="102D44"/>
                </a:solidFill>
                <a:latin typeface="Aptos"/>
              </a:rPr>
              <a:t>21 observaciones
de prueba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1965960"/>
            <a:ext cx="1600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4023359" y="2148840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1100" b="1" noProof="0" dirty="0">
                <a:solidFill>
                  <a:srgbClr val="188297"/>
                </a:solidFill>
                <a:latin typeface="Aptos"/>
              </a:rPr>
              <a:t>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2578608"/>
            <a:ext cx="1371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1150" b="0" noProof="0" dirty="0">
                <a:solidFill>
                  <a:srgbClr val="102D44"/>
                </a:solidFill>
                <a:latin typeface="Aptos"/>
              </a:rPr>
              <a:t>Ingeniería de variables
lags, rolling, ciclos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1965960"/>
            <a:ext cx="1600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5897879" y="2148840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1100" b="1" noProof="0" dirty="0">
                <a:solidFill>
                  <a:srgbClr val="188297"/>
                </a:solidFill>
                <a:latin typeface="Aptos"/>
              </a:rPr>
              <a:t>ENTRENAMIENTO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2578608"/>
            <a:ext cx="1371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1150" b="0" noProof="0" dirty="0">
                <a:solidFill>
                  <a:srgbClr val="102D44"/>
                </a:solidFill>
                <a:latin typeface="Aptos"/>
              </a:rPr>
              <a:t>Random Forest
70 / 30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59" y="1965960"/>
            <a:ext cx="1600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7772399" y="2148840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1100" b="1" noProof="0" dirty="0">
                <a:solidFill>
                  <a:srgbClr val="188297"/>
                </a:solidFill>
                <a:latin typeface="Aptos"/>
              </a:rPr>
              <a:t>PREDICCIÓN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7" y="2578608"/>
            <a:ext cx="1371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1150" b="0" noProof="0" dirty="0">
                <a:solidFill>
                  <a:srgbClr val="102D44"/>
                </a:solidFill>
                <a:latin typeface="Aptos"/>
              </a:rPr>
              <a:t>Predice consumo
futuro (kW)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55480" y="1965960"/>
            <a:ext cx="1600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9646919" y="2148840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1100" b="1" noProof="0" dirty="0">
                <a:solidFill>
                  <a:srgbClr val="188297"/>
                </a:solidFill>
                <a:latin typeface="Aptos"/>
              </a:rPr>
              <a:t>VALIDACIÓN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5207" y="2578608"/>
            <a:ext cx="1371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1150" b="0" noProof="0" dirty="0">
                <a:solidFill>
                  <a:srgbClr val="102D44"/>
                </a:solidFill>
                <a:latin typeface="Aptos"/>
              </a:rPr>
              <a:t>MAE, RMSE,
R²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03120" y="4251960"/>
            <a:ext cx="90068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2168635" y="4316919"/>
            <a:ext cx="8895604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L" sz="2000" b="1" noProof="0" dirty="0">
                <a:solidFill>
                  <a:srgbClr val="102D44"/>
                </a:solidFill>
                <a:latin typeface="Aptos"/>
              </a:rPr>
              <a:t>El modelo aprende patrones históricos que relacionan la operación con el consumo futuro.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1F30"/>
          </a:solidFill>
          <a:ln>
            <a:solidFill>
              <a:srgbClr val="08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228600" y="6547104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CL" sz="900" b="1" noProof="0" dirty="0">
                <a:solidFill>
                  <a:srgbClr val="FFFFFF"/>
                </a:solidFill>
                <a:latin typeface="Aptos"/>
              </a:rPr>
              <a:t>INGENIERÍA PGF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547104"/>
            <a:ext cx="4160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lang="es-CL" sz="900" b="0" noProof="0" dirty="0">
                <a:solidFill>
                  <a:srgbClr val="FFFFFF"/>
                </a:solidFill>
                <a:latin typeface="Aptos"/>
              </a:rPr>
              <a:t>Paul Gálvez (Ingeniero Electrónico - USM)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E50447F0-B0D3-3664-9C7E-DA88F58651F8}"/>
              </a:ext>
            </a:extLst>
          </p:cNvPr>
          <p:cNvCxnSpPr>
            <a:stCxn id="9" idx="3"/>
            <a:endCxn id="13" idx="1"/>
          </p:cNvCxnSpPr>
          <p:nvPr/>
        </p:nvCxnSpPr>
        <p:spPr>
          <a:xfrm>
            <a:off x="3657600" y="2720340"/>
            <a:ext cx="2743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AC717CD3-5E39-9C75-9CB2-3525609247DC}"/>
              </a:ext>
            </a:extLst>
          </p:cNvPr>
          <p:cNvCxnSpPr>
            <a:stCxn id="13" idx="3"/>
            <a:endCxn id="17" idx="1"/>
          </p:cNvCxnSpPr>
          <p:nvPr/>
        </p:nvCxnSpPr>
        <p:spPr>
          <a:xfrm>
            <a:off x="5532120" y="2720340"/>
            <a:ext cx="2743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7B9BB0FC-A7D8-E87D-7B26-F458810E80AA}"/>
              </a:ext>
            </a:extLst>
          </p:cNvPr>
          <p:cNvCxnSpPr>
            <a:stCxn id="17" idx="3"/>
            <a:endCxn id="21" idx="1"/>
          </p:cNvCxnSpPr>
          <p:nvPr/>
        </p:nvCxnSpPr>
        <p:spPr>
          <a:xfrm>
            <a:off x="7406640" y="2720340"/>
            <a:ext cx="2743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97D2D402-BF07-A6C8-1345-A53A1FF688C7}"/>
              </a:ext>
            </a:extLst>
          </p:cNvPr>
          <p:cNvCxnSpPr>
            <a:stCxn id="21" idx="3"/>
            <a:endCxn id="25" idx="1"/>
          </p:cNvCxnSpPr>
          <p:nvPr/>
        </p:nvCxnSpPr>
        <p:spPr>
          <a:xfrm>
            <a:off x="9281159" y="2720340"/>
            <a:ext cx="2743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Imagen 43">
            <a:extLst>
              <a:ext uri="{FF2B5EF4-FFF2-40B4-BE49-F238E27FC236}">
                <a16:creationId xmlns:a16="http://schemas.microsoft.com/office/drawing/2014/main" id="{A28556E5-FD05-8DDC-6C48-431CDB0064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416030" y="4798832"/>
            <a:ext cx="1078379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01168" y="164592"/>
            <a:ext cx="347472" cy="347472"/>
          </a:xfrm>
          <a:prstGeom prst="round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92024"/>
            <a:ext cx="34747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>
                <a:solidFill>
                  <a:srgbClr val="102D44"/>
                </a:solidFill>
                <a:latin typeface="Aptos Display"/>
              </a:rPr>
              <a:t>¿Qué hace Random Forest?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12648"/>
            <a:ext cx="1069848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0" dirty="0">
                <a:solidFill>
                  <a:srgbClr val="5D717E"/>
                </a:solidFill>
                <a:latin typeface="Aptos"/>
              </a:rPr>
              <a:t>Un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modelo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robusto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para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problemas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complejos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1393" y="1445319"/>
            <a:ext cx="6126480" cy="3485057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02D44"/>
                </a:solidFill>
                <a:latin typeface="Aptos"/>
              </a:defRPr>
            </a:pPr>
            <a:r>
              <a:rPr dirty="0"/>
              <a:t>✓  Ensemble de </a:t>
            </a:r>
            <a:r>
              <a:rPr dirty="0" err="1"/>
              <a:t>muchos</a:t>
            </a:r>
            <a:r>
              <a:rPr dirty="0"/>
              <a:t> </a:t>
            </a:r>
            <a:r>
              <a:rPr dirty="0" err="1"/>
              <a:t>árboles</a:t>
            </a:r>
            <a:r>
              <a:rPr dirty="0"/>
              <a:t> de </a:t>
            </a:r>
            <a:r>
              <a:rPr dirty="0" err="1"/>
              <a:t>decisión</a:t>
            </a:r>
            <a:r>
              <a:rPr dirty="0"/>
              <a:t>.</a:t>
            </a:r>
            <a:endParaRPr lang="es-ES" dirty="0"/>
          </a:p>
          <a:p>
            <a:pPr>
              <a:spcAft>
                <a:spcPts val="1000"/>
              </a:spcAft>
              <a:defRPr sz="1550">
                <a:solidFill>
                  <a:srgbClr val="102D44"/>
                </a:solidFill>
                <a:latin typeface="Aptos"/>
              </a:defRPr>
            </a:pPr>
            <a:endParaRPr dirty="0"/>
          </a:p>
          <a:p>
            <a:pPr>
              <a:spcAft>
                <a:spcPts val="1000"/>
              </a:spcAft>
              <a:defRPr sz="1550">
                <a:solidFill>
                  <a:srgbClr val="102D44"/>
                </a:solidFill>
                <a:latin typeface="Aptos"/>
              </a:defRPr>
            </a:pPr>
            <a:r>
              <a:rPr dirty="0"/>
              <a:t>✓  Cada árbol </a:t>
            </a:r>
            <a:r>
              <a:rPr dirty="0" err="1"/>
              <a:t>aprende</a:t>
            </a:r>
            <a:r>
              <a:rPr dirty="0"/>
              <a:t> con </a:t>
            </a:r>
            <a:r>
              <a:rPr dirty="0" err="1"/>
              <a:t>una</a:t>
            </a:r>
            <a:r>
              <a:rPr dirty="0"/>
              <a:t> muestra del conjunto de datos y variables </a:t>
            </a:r>
            <a:r>
              <a:rPr dirty="0" err="1"/>
              <a:t>aleatorias</a:t>
            </a:r>
            <a:r>
              <a:rPr dirty="0"/>
              <a:t>.</a:t>
            </a:r>
            <a:endParaRPr lang="es-ES" dirty="0"/>
          </a:p>
          <a:p>
            <a:pPr>
              <a:spcAft>
                <a:spcPts val="1000"/>
              </a:spcAft>
              <a:defRPr sz="1550">
                <a:solidFill>
                  <a:srgbClr val="102D44"/>
                </a:solidFill>
                <a:latin typeface="Aptos"/>
              </a:defRPr>
            </a:pPr>
            <a:endParaRPr dirty="0"/>
          </a:p>
          <a:p>
            <a:pPr>
              <a:spcAft>
                <a:spcPts val="1000"/>
              </a:spcAft>
              <a:defRPr sz="1550">
                <a:solidFill>
                  <a:srgbClr val="102D44"/>
                </a:solidFill>
                <a:latin typeface="Aptos"/>
              </a:defRPr>
            </a:pPr>
            <a:r>
              <a:rPr dirty="0"/>
              <a:t>✓  La </a:t>
            </a:r>
            <a:r>
              <a:rPr dirty="0" err="1"/>
              <a:t>predicción</a:t>
            </a:r>
            <a:r>
              <a:rPr dirty="0"/>
              <a:t> final es el </a:t>
            </a:r>
            <a:r>
              <a:rPr dirty="0" err="1"/>
              <a:t>promedio</a:t>
            </a:r>
            <a:r>
              <a:rPr dirty="0"/>
              <a:t> de </a:t>
            </a:r>
            <a:r>
              <a:rPr dirty="0" err="1"/>
              <a:t>todos</a:t>
            </a:r>
            <a:r>
              <a:rPr dirty="0"/>
              <a:t> los </a:t>
            </a:r>
            <a:r>
              <a:rPr dirty="0" err="1"/>
              <a:t>árboles</a:t>
            </a:r>
            <a:r>
              <a:rPr dirty="0"/>
              <a:t>.</a:t>
            </a:r>
            <a:endParaRPr lang="es-ES" dirty="0"/>
          </a:p>
          <a:p>
            <a:pPr>
              <a:spcAft>
                <a:spcPts val="1000"/>
              </a:spcAft>
              <a:defRPr sz="1550">
                <a:solidFill>
                  <a:srgbClr val="102D44"/>
                </a:solidFill>
                <a:latin typeface="Aptos"/>
              </a:defRPr>
            </a:pPr>
            <a:endParaRPr dirty="0"/>
          </a:p>
          <a:p>
            <a:pPr>
              <a:spcAft>
                <a:spcPts val="1000"/>
              </a:spcAft>
              <a:defRPr sz="1550">
                <a:solidFill>
                  <a:srgbClr val="102D44"/>
                </a:solidFill>
                <a:latin typeface="Aptos"/>
              </a:defRPr>
            </a:pPr>
            <a:r>
              <a:rPr dirty="0"/>
              <a:t>✓  Maneja </a:t>
            </a:r>
            <a:r>
              <a:rPr dirty="0" err="1"/>
              <a:t>relaciones</a:t>
            </a:r>
            <a:r>
              <a:rPr dirty="0"/>
              <a:t> no </a:t>
            </a:r>
            <a:r>
              <a:rPr dirty="0" err="1"/>
              <a:t>lineales</a:t>
            </a:r>
            <a:r>
              <a:rPr dirty="0"/>
              <a:t> e </a:t>
            </a:r>
            <a:r>
              <a:rPr dirty="0" err="1"/>
              <a:t>interacciones</a:t>
            </a:r>
            <a:r>
              <a:rPr dirty="0"/>
              <a:t> entre variables.</a:t>
            </a:r>
            <a:endParaRPr lang="es-ES" dirty="0"/>
          </a:p>
          <a:p>
            <a:pPr>
              <a:spcAft>
                <a:spcPts val="1000"/>
              </a:spcAft>
              <a:defRPr sz="1550">
                <a:solidFill>
                  <a:srgbClr val="102D44"/>
                </a:solidFill>
                <a:latin typeface="Aptos"/>
              </a:defRPr>
            </a:pPr>
            <a:endParaRPr dirty="0"/>
          </a:p>
          <a:p>
            <a:pPr>
              <a:spcAft>
                <a:spcPts val="1000"/>
              </a:spcAft>
              <a:defRPr sz="1550">
                <a:solidFill>
                  <a:srgbClr val="102D44"/>
                </a:solidFill>
                <a:latin typeface="Aptos"/>
              </a:defRPr>
            </a:pPr>
            <a:r>
              <a:rPr dirty="0"/>
              <a:t>✓  Menor </a:t>
            </a:r>
            <a:r>
              <a:rPr dirty="0" err="1"/>
              <a:t>sobreajuste</a:t>
            </a:r>
            <a:r>
              <a:rPr dirty="0"/>
              <a:t> y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capacidad</a:t>
            </a:r>
            <a:r>
              <a:rPr dirty="0"/>
              <a:t> </a:t>
            </a:r>
            <a:r>
              <a:rPr dirty="0" err="1"/>
              <a:t>predictiva</a:t>
            </a:r>
            <a:r>
              <a:rPr dirty="0"/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367562"/>
            <a:ext cx="14173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dirty="0">
                <a:solidFill>
                  <a:srgbClr val="102D44"/>
                </a:solidFill>
                <a:latin typeface="Aptos"/>
              </a:rPr>
              <a:t>PREDICCIÓN
(kW)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1F30"/>
          </a:solidFill>
          <a:ln>
            <a:solidFill>
              <a:srgbClr val="08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8600" y="6547104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INGENIERÍA PGF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547104"/>
            <a:ext cx="4160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Paul Gálvez (Ingeniero Electrónico - USM)</a:t>
            </a:r>
          </a:p>
        </p:txBody>
      </p:sp>
      <p:sp>
        <p:nvSpPr>
          <p:cNvPr id="33" name="Oval 9">
            <a:extLst>
              <a:ext uri="{FF2B5EF4-FFF2-40B4-BE49-F238E27FC236}">
                <a16:creationId xmlns:a16="http://schemas.microsoft.com/office/drawing/2014/main" id="{526BD740-AB47-4803-7546-7A033966469E}"/>
              </a:ext>
            </a:extLst>
          </p:cNvPr>
          <p:cNvSpPr/>
          <p:nvPr/>
        </p:nvSpPr>
        <p:spPr>
          <a:xfrm>
            <a:off x="9647679" y="1481328"/>
            <a:ext cx="180000" cy="180000"/>
          </a:xfrm>
          <a:prstGeom prst="ellipse">
            <a:avLst/>
          </a:prstGeom>
          <a:solidFill>
            <a:srgbClr val="00B050"/>
          </a:solidFill>
          <a:ln w="20320"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9">
            <a:extLst>
              <a:ext uri="{FF2B5EF4-FFF2-40B4-BE49-F238E27FC236}">
                <a16:creationId xmlns:a16="http://schemas.microsoft.com/office/drawing/2014/main" id="{13CC46D4-4ACC-B4DA-8532-A8817B60240C}"/>
              </a:ext>
            </a:extLst>
          </p:cNvPr>
          <p:cNvSpPr/>
          <p:nvPr/>
        </p:nvSpPr>
        <p:spPr>
          <a:xfrm>
            <a:off x="9231233" y="1958256"/>
            <a:ext cx="180000" cy="180000"/>
          </a:xfrm>
          <a:prstGeom prst="ellipse">
            <a:avLst/>
          </a:prstGeom>
          <a:solidFill>
            <a:srgbClr val="00B050"/>
          </a:solidFill>
          <a:ln w="20320"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Oval 9">
            <a:extLst>
              <a:ext uri="{FF2B5EF4-FFF2-40B4-BE49-F238E27FC236}">
                <a16:creationId xmlns:a16="http://schemas.microsoft.com/office/drawing/2014/main" id="{EDE84D99-9EFF-814D-A68B-23633DF16397}"/>
              </a:ext>
            </a:extLst>
          </p:cNvPr>
          <p:cNvSpPr/>
          <p:nvPr/>
        </p:nvSpPr>
        <p:spPr>
          <a:xfrm>
            <a:off x="10104310" y="1958256"/>
            <a:ext cx="180000" cy="180000"/>
          </a:xfrm>
          <a:prstGeom prst="ellipse">
            <a:avLst/>
          </a:prstGeom>
          <a:solidFill>
            <a:srgbClr val="00B050"/>
          </a:solidFill>
          <a:ln w="20320"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9">
            <a:extLst>
              <a:ext uri="{FF2B5EF4-FFF2-40B4-BE49-F238E27FC236}">
                <a16:creationId xmlns:a16="http://schemas.microsoft.com/office/drawing/2014/main" id="{8E919AC1-60FB-AFC8-AD39-EFAABD9AADF4}"/>
              </a:ext>
            </a:extLst>
          </p:cNvPr>
          <p:cNvSpPr/>
          <p:nvPr/>
        </p:nvSpPr>
        <p:spPr>
          <a:xfrm>
            <a:off x="8631351" y="2662561"/>
            <a:ext cx="180000" cy="180000"/>
          </a:xfrm>
          <a:prstGeom prst="ellipse">
            <a:avLst/>
          </a:prstGeom>
          <a:solidFill>
            <a:srgbClr val="00B0F0"/>
          </a:solidFill>
          <a:ln w="2032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4" name="Oval 9">
            <a:extLst>
              <a:ext uri="{FF2B5EF4-FFF2-40B4-BE49-F238E27FC236}">
                <a16:creationId xmlns:a16="http://schemas.microsoft.com/office/drawing/2014/main" id="{8393591B-9219-1FC5-A61B-F4E8A04F64EB}"/>
              </a:ext>
            </a:extLst>
          </p:cNvPr>
          <p:cNvSpPr/>
          <p:nvPr/>
        </p:nvSpPr>
        <p:spPr>
          <a:xfrm>
            <a:off x="8191513" y="3152422"/>
            <a:ext cx="180000" cy="180000"/>
          </a:xfrm>
          <a:prstGeom prst="ellipse">
            <a:avLst/>
          </a:prstGeom>
          <a:solidFill>
            <a:srgbClr val="00B0F0"/>
          </a:solidFill>
          <a:ln w="2032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Oval 9">
            <a:extLst>
              <a:ext uri="{FF2B5EF4-FFF2-40B4-BE49-F238E27FC236}">
                <a16:creationId xmlns:a16="http://schemas.microsoft.com/office/drawing/2014/main" id="{BFDBB943-17B5-DD8D-27C8-05CFBBB70F0D}"/>
              </a:ext>
            </a:extLst>
          </p:cNvPr>
          <p:cNvSpPr/>
          <p:nvPr/>
        </p:nvSpPr>
        <p:spPr>
          <a:xfrm>
            <a:off x="9023939" y="3152422"/>
            <a:ext cx="180000" cy="180000"/>
          </a:xfrm>
          <a:prstGeom prst="ellipse">
            <a:avLst/>
          </a:prstGeom>
          <a:solidFill>
            <a:srgbClr val="00B0F0"/>
          </a:solidFill>
          <a:ln w="2032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0" name="Oval 9">
            <a:extLst>
              <a:ext uri="{FF2B5EF4-FFF2-40B4-BE49-F238E27FC236}">
                <a16:creationId xmlns:a16="http://schemas.microsoft.com/office/drawing/2014/main" id="{77215C5B-4780-B9E7-04C1-4A1C2CAC0BD1}"/>
              </a:ext>
            </a:extLst>
          </p:cNvPr>
          <p:cNvSpPr/>
          <p:nvPr/>
        </p:nvSpPr>
        <p:spPr>
          <a:xfrm>
            <a:off x="7764215" y="3636746"/>
            <a:ext cx="180000" cy="18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20320"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3" name="Oval 9">
            <a:extLst>
              <a:ext uri="{FF2B5EF4-FFF2-40B4-BE49-F238E27FC236}">
                <a16:creationId xmlns:a16="http://schemas.microsoft.com/office/drawing/2014/main" id="{C61CDF74-FC65-711E-6D60-973AA7EBE311}"/>
              </a:ext>
            </a:extLst>
          </p:cNvPr>
          <p:cNvSpPr/>
          <p:nvPr/>
        </p:nvSpPr>
        <p:spPr>
          <a:xfrm>
            <a:off x="8631351" y="3635527"/>
            <a:ext cx="180000" cy="18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20320"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5" name="Oval 9">
            <a:extLst>
              <a:ext uri="{FF2B5EF4-FFF2-40B4-BE49-F238E27FC236}">
                <a16:creationId xmlns:a16="http://schemas.microsoft.com/office/drawing/2014/main" id="{136FB046-590C-533B-7F1C-192E4245B6D5}"/>
              </a:ext>
            </a:extLst>
          </p:cNvPr>
          <p:cNvSpPr/>
          <p:nvPr/>
        </p:nvSpPr>
        <p:spPr>
          <a:xfrm>
            <a:off x="9406574" y="3631831"/>
            <a:ext cx="180000" cy="18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20320"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7" name="Oval 9">
            <a:extLst>
              <a:ext uri="{FF2B5EF4-FFF2-40B4-BE49-F238E27FC236}">
                <a16:creationId xmlns:a16="http://schemas.microsoft.com/office/drawing/2014/main" id="{EBB31FD2-8C7C-A505-A918-65C2A9B9C774}"/>
              </a:ext>
            </a:extLst>
          </p:cNvPr>
          <p:cNvSpPr/>
          <p:nvPr/>
        </p:nvSpPr>
        <p:spPr>
          <a:xfrm>
            <a:off x="10733044" y="2645562"/>
            <a:ext cx="180000" cy="180000"/>
          </a:xfrm>
          <a:prstGeom prst="ellipse">
            <a:avLst/>
          </a:prstGeom>
          <a:solidFill>
            <a:srgbClr val="00B0F0"/>
          </a:solidFill>
          <a:ln w="2032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9" name="Oval 9">
            <a:extLst>
              <a:ext uri="{FF2B5EF4-FFF2-40B4-BE49-F238E27FC236}">
                <a16:creationId xmlns:a16="http://schemas.microsoft.com/office/drawing/2014/main" id="{67302F2D-E311-4ED2-914B-C634E63883F3}"/>
              </a:ext>
            </a:extLst>
          </p:cNvPr>
          <p:cNvSpPr/>
          <p:nvPr/>
        </p:nvSpPr>
        <p:spPr>
          <a:xfrm>
            <a:off x="10314096" y="3152422"/>
            <a:ext cx="180000" cy="180000"/>
          </a:xfrm>
          <a:prstGeom prst="ellipse">
            <a:avLst/>
          </a:prstGeom>
          <a:solidFill>
            <a:srgbClr val="00B0F0"/>
          </a:solidFill>
          <a:ln w="2032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1" name="Oval 9">
            <a:extLst>
              <a:ext uri="{FF2B5EF4-FFF2-40B4-BE49-F238E27FC236}">
                <a16:creationId xmlns:a16="http://schemas.microsoft.com/office/drawing/2014/main" id="{411C423C-A3C7-3897-37A3-CE276A01FC38}"/>
              </a:ext>
            </a:extLst>
          </p:cNvPr>
          <p:cNvSpPr/>
          <p:nvPr/>
        </p:nvSpPr>
        <p:spPr>
          <a:xfrm>
            <a:off x="11191341" y="3137578"/>
            <a:ext cx="180000" cy="180000"/>
          </a:xfrm>
          <a:prstGeom prst="ellipse">
            <a:avLst/>
          </a:prstGeom>
          <a:solidFill>
            <a:srgbClr val="00B0F0"/>
          </a:solidFill>
          <a:ln w="2032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3" name="Oval 9">
            <a:extLst>
              <a:ext uri="{FF2B5EF4-FFF2-40B4-BE49-F238E27FC236}">
                <a16:creationId xmlns:a16="http://schemas.microsoft.com/office/drawing/2014/main" id="{672C0B55-587B-8686-42A8-CCBF9959476E}"/>
              </a:ext>
            </a:extLst>
          </p:cNvPr>
          <p:cNvSpPr/>
          <p:nvPr/>
        </p:nvSpPr>
        <p:spPr>
          <a:xfrm>
            <a:off x="9937446" y="3632909"/>
            <a:ext cx="180000" cy="18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20320"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5" name="Oval 9">
            <a:extLst>
              <a:ext uri="{FF2B5EF4-FFF2-40B4-BE49-F238E27FC236}">
                <a16:creationId xmlns:a16="http://schemas.microsoft.com/office/drawing/2014/main" id="{B970863B-79F5-7546-7B3C-CBE8AD5DEE89}"/>
              </a:ext>
            </a:extLst>
          </p:cNvPr>
          <p:cNvSpPr/>
          <p:nvPr/>
        </p:nvSpPr>
        <p:spPr>
          <a:xfrm>
            <a:off x="10732778" y="3632909"/>
            <a:ext cx="180000" cy="18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20320"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7" name="Oval 9">
            <a:extLst>
              <a:ext uri="{FF2B5EF4-FFF2-40B4-BE49-F238E27FC236}">
                <a16:creationId xmlns:a16="http://schemas.microsoft.com/office/drawing/2014/main" id="{FB04B15B-A5A8-C711-21AC-60E2D99DC200}"/>
              </a:ext>
            </a:extLst>
          </p:cNvPr>
          <p:cNvSpPr/>
          <p:nvPr/>
        </p:nvSpPr>
        <p:spPr>
          <a:xfrm>
            <a:off x="11635381" y="3632909"/>
            <a:ext cx="180000" cy="18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20320"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2E337598-6944-B36C-0EA5-A94A9EE652E9}"/>
              </a:ext>
            </a:extLst>
          </p:cNvPr>
          <p:cNvCxnSpPr>
            <a:stCxn id="33" idx="3"/>
            <a:endCxn id="35" idx="7"/>
          </p:cNvCxnSpPr>
          <p:nvPr/>
        </p:nvCxnSpPr>
        <p:spPr>
          <a:xfrm flipH="1">
            <a:off x="9384873" y="1634968"/>
            <a:ext cx="289166" cy="349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8A188EDE-F1C0-DBF8-19D3-4D3CC02CDC18}"/>
              </a:ext>
            </a:extLst>
          </p:cNvPr>
          <p:cNvCxnSpPr>
            <a:stCxn id="35" idx="3"/>
            <a:endCxn id="42" idx="7"/>
          </p:cNvCxnSpPr>
          <p:nvPr/>
        </p:nvCxnSpPr>
        <p:spPr>
          <a:xfrm flipH="1">
            <a:off x="8784991" y="2111896"/>
            <a:ext cx="472602" cy="577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B08ECA3A-97B2-BF25-E10C-115B67DF805B}"/>
              </a:ext>
            </a:extLst>
          </p:cNvPr>
          <p:cNvCxnSpPr>
            <a:stCxn id="42" idx="3"/>
            <a:endCxn id="44" idx="7"/>
          </p:cNvCxnSpPr>
          <p:nvPr/>
        </p:nvCxnSpPr>
        <p:spPr>
          <a:xfrm flipH="1">
            <a:off x="8345153" y="2816201"/>
            <a:ext cx="312558" cy="362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C589D2D1-4B63-8C34-625D-6AFFDB648B07}"/>
              </a:ext>
            </a:extLst>
          </p:cNvPr>
          <p:cNvCxnSpPr>
            <a:stCxn id="44" idx="3"/>
            <a:endCxn id="50" idx="7"/>
          </p:cNvCxnSpPr>
          <p:nvPr/>
        </p:nvCxnSpPr>
        <p:spPr>
          <a:xfrm flipH="1">
            <a:off x="7917855" y="3306062"/>
            <a:ext cx="300018" cy="357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55DD17CE-25EE-5B35-CC94-28A85C1DC684}"/>
              </a:ext>
            </a:extLst>
          </p:cNvPr>
          <p:cNvCxnSpPr>
            <a:stCxn id="33" idx="5"/>
            <a:endCxn id="37" idx="1"/>
          </p:cNvCxnSpPr>
          <p:nvPr/>
        </p:nvCxnSpPr>
        <p:spPr>
          <a:xfrm>
            <a:off x="9801319" y="1634968"/>
            <a:ext cx="329351" cy="349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de flecha 83">
            <a:extLst>
              <a:ext uri="{FF2B5EF4-FFF2-40B4-BE49-F238E27FC236}">
                <a16:creationId xmlns:a16="http://schemas.microsoft.com/office/drawing/2014/main" id="{236DF776-B7C8-7903-153E-F684C0A497A1}"/>
              </a:ext>
            </a:extLst>
          </p:cNvPr>
          <p:cNvCxnSpPr>
            <a:stCxn id="37" idx="5"/>
            <a:endCxn id="57" idx="1"/>
          </p:cNvCxnSpPr>
          <p:nvPr/>
        </p:nvCxnSpPr>
        <p:spPr>
          <a:xfrm>
            <a:off x="10257950" y="2111896"/>
            <a:ext cx="501454" cy="560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de flecha 85">
            <a:extLst>
              <a:ext uri="{FF2B5EF4-FFF2-40B4-BE49-F238E27FC236}">
                <a16:creationId xmlns:a16="http://schemas.microsoft.com/office/drawing/2014/main" id="{4CC08E46-EFA9-1064-89BB-1ED1F8ECB24B}"/>
              </a:ext>
            </a:extLst>
          </p:cNvPr>
          <p:cNvCxnSpPr>
            <a:stCxn id="57" idx="5"/>
            <a:endCxn id="61" idx="1"/>
          </p:cNvCxnSpPr>
          <p:nvPr/>
        </p:nvCxnSpPr>
        <p:spPr>
          <a:xfrm>
            <a:off x="10886684" y="2799202"/>
            <a:ext cx="331017" cy="364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E8B9F075-34AC-EEB9-0DBF-C7F04C44D68E}"/>
              </a:ext>
            </a:extLst>
          </p:cNvPr>
          <p:cNvCxnSpPr>
            <a:stCxn id="61" idx="5"/>
            <a:endCxn id="67" idx="1"/>
          </p:cNvCxnSpPr>
          <p:nvPr/>
        </p:nvCxnSpPr>
        <p:spPr>
          <a:xfrm>
            <a:off x="11344981" y="3291218"/>
            <a:ext cx="316760" cy="3680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98964CF0-1413-C3EC-5091-4B4BD4481381}"/>
              </a:ext>
            </a:extLst>
          </p:cNvPr>
          <p:cNvCxnSpPr>
            <a:stCxn id="42" idx="5"/>
            <a:endCxn id="46" idx="1"/>
          </p:cNvCxnSpPr>
          <p:nvPr/>
        </p:nvCxnSpPr>
        <p:spPr>
          <a:xfrm>
            <a:off x="8784991" y="2816201"/>
            <a:ext cx="265308" cy="362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8E5971F1-CAEB-5F77-EF0C-B78CCDABC971}"/>
              </a:ext>
            </a:extLst>
          </p:cNvPr>
          <p:cNvCxnSpPr>
            <a:stCxn id="46" idx="5"/>
            <a:endCxn id="55" idx="1"/>
          </p:cNvCxnSpPr>
          <p:nvPr/>
        </p:nvCxnSpPr>
        <p:spPr>
          <a:xfrm>
            <a:off x="9177579" y="3306062"/>
            <a:ext cx="255355" cy="352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cto de flecha 98">
            <a:extLst>
              <a:ext uri="{FF2B5EF4-FFF2-40B4-BE49-F238E27FC236}">
                <a16:creationId xmlns:a16="http://schemas.microsoft.com/office/drawing/2014/main" id="{120B10B4-3894-A5F0-E35E-F0DD5D5FF57D}"/>
              </a:ext>
            </a:extLst>
          </p:cNvPr>
          <p:cNvCxnSpPr>
            <a:stCxn id="44" idx="5"/>
            <a:endCxn id="53" idx="1"/>
          </p:cNvCxnSpPr>
          <p:nvPr/>
        </p:nvCxnSpPr>
        <p:spPr>
          <a:xfrm>
            <a:off x="8345153" y="3306062"/>
            <a:ext cx="312558" cy="355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de flecha 100">
            <a:extLst>
              <a:ext uri="{FF2B5EF4-FFF2-40B4-BE49-F238E27FC236}">
                <a16:creationId xmlns:a16="http://schemas.microsoft.com/office/drawing/2014/main" id="{54FB5162-DC44-0629-8457-47299BC5AEB5}"/>
              </a:ext>
            </a:extLst>
          </p:cNvPr>
          <p:cNvCxnSpPr>
            <a:stCxn id="46" idx="3"/>
            <a:endCxn id="53" idx="7"/>
          </p:cNvCxnSpPr>
          <p:nvPr/>
        </p:nvCxnSpPr>
        <p:spPr>
          <a:xfrm flipH="1">
            <a:off x="8784991" y="3306062"/>
            <a:ext cx="265308" cy="355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cto de flecha 102">
            <a:extLst>
              <a:ext uri="{FF2B5EF4-FFF2-40B4-BE49-F238E27FC236}">
                <a16:creationId xmlns:a16="http://schemas.microsoft.com/office/drawing/2014/main" id="{92E72030-6233-2DA4-A129-ECDF4B6917A9}"/>
              </a:ext>
            </a:extLst>
          </p:cNvPr>
          <p:cNvCxnSpPr>
            <a:stCxn id="57" idx="3"/>
            <a:endCxn id="59" idx="7"/>
          </p:cNvCxnSpPr>
          <p:nvPr/>
        </p:nvCxnSpPr>
        <p:spPr>
          <a:xfrm flipH="1">
            <a:off x="10467736" y="2799202"/>
            <a:ext cx="291668" cy="379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cto de flecha 106">
            <a:extLst>
              <a:ext uri="{FF2B5EF4-FFF2-40B4-BE49-F238E27FC236}">
                <a16:creationId xmlns:a16="http://schemas.microsoft.com/office/drawing/2014/main" id="{7FAC6C9A-1649-40E2-D1B2-71E4E4903EAC}"/>
              </a:ext>
            </a:extLst>
          </p:cNvPr>
          <p:cNvCxnSpPr>
            <a:cxnSpLocks/>
            <a:stCxn id="61" idx="3"/>
            <a:endCxn id="65" idx="7"/>
          </p:cNvCxnSpPr>
          <p:nvPr/>
        </p:nvCxnSpPr>
        <p:spPr>
          <a:xfrm flipH="1">
            <a:off x="10886418" y="3291218"/>
            <a:ext cx="331283" cy="3680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de flecha 108">
            <a:extLst>
              <a:ext uri="{FF2B5EF4-FFF2-40B4-BE49-F238E27FC236}">
                <a16:creationId xmlns:a16="http://schemas.microsoft.com/office/drawing/2014/main" id="{B2AE1320-96E5-A7E4-4A96-561CA5108538}"/>
              </a:ext>
            </a:extLst>
          </p:cNvPr>
          <p:cNvCxnSpPr>
            <a:stCxn id="59" idx="5"/>
            <a:endCxn id="65" idx="1"/>
          </p:cNvCxnSpPr>
          <p:nvPr/>
        </p:nvCxnSpPr>
        <p:spPr>
          <a:xfrm>
            <a:off x="10467736" y="3306062"/>
            <a:ext cx="291402" cy="353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21D601E0-7EBD-908D-F2AB-A393347A3C73}"/>
              </a:ext>
            </a:extLst>
          </p:cNvPr>
          <p:cNvCxnSpPr>
            <a:stCxn id="59" idx="3"/>
            <a:endCxn id="63" idx="7"/>
          </p:cNvCxnSpPr>
          <p:nvPr/>
        </p:nvCxnSpPr>
        <p:spPr>
          <a:xfrm flipH="1">
            <a:off x="10091086" y="3306062"/>
            <a:ext cx="249370" cy="353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recto de flecha 120">
            <a:extLst>
              <a:ext uri="{FF2B5EF4-FFF2-40B4-BE49-F238E27FC236}">
                <a16:creationId xmlns:a16="http://schemas.microsoft.com/office/drawing/2014/main" id="{1A196388-46F6-CE99-5CE0-3ECACB77D75A}"/>
              </a:ext>
            </a:extLst>
          </p:cNvPr>
          <p:cNvCxnSpPr>
            <a:stCxn id="53" idx="4"/>
          </p:cNvCxnSpPr>
          <p:nvPr/>
        </p:nvCxnSpPr>
        <p:spPr>
          <a:xfrm>
            <a:off x="8721351" y="3815527"/>
            <a:ext cx="482588" cy="552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de flecha 122">
            <a:extLst>
              <a:ext uri="{FF2B5EF4-FFF2-40B4-BE49-F238E27FC236}">
                <a16:creationId xmlns:a16="http://schemas.microsoft.com/office/drawing/2014/main" id="{70FE5291-5403-EC38-962B-EB38AE73BEDB}"/>
              </a:ext>
            </a:extLst>
          </p:cNvPr>
          <p:cNvCxnSpPr>
            <a:stCxn id="65" idx="4"/>
          </p:cNvCxnSpPr>
          <p:nvPr/>
        </p:nvCxnSpPr>
        <p:spPr>
          <a:xfrm flipH="1">
            <a:off x="10467736" y="3812909"/>
            <a:ext cx="355042" cy="554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recto de flecha 124">
            <a:extLst>
              <a:ext uri="{FF2B5EF4-FFF2-40B4-BE49-F238E27FC236}">
                <a16:creationId xmlns:a16="http://schemas.microsoft.com/office/drawing/2014/main" id="{AD1CF77A-B7A3-1E36-A281-8E77CE886257}"/>
              </a:ext>
            </a:extLst>
          </p:cNvPr>
          <p:cNvCxnSpPr>
            <a:cxnSpLocks/>
            <a:stCxn id="55" idx="4"/>
          </p:cNvCxnSpPr>
          <p:nvPr/>
        </p:nvCxnSpPr>
        <p:spPr>
          <a:xfrm>
            <a:off x="9496574" y="3811831"/>
            <a:ext cx="289166" cy="496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ector recto de flecha 126">
            <a:extLst>
              <a:ext uri="{FF2B5EF4-FFF2-40B4-BE49-F238E27FC236}">
                <a16:creationId xmlns:a16="http://schemas.microsoft.com/office/drawing/2014/main" id="{D2958792-E9CC-1989-271A-8EB5EDFC4E4B}"/>
              </a:ext>
            </a:extLst>
          </p:cNvPr>
          <p:cNvCxnSpPr>
            <a:stCxn id="63" idx="4"/>
          </p:cNvCxnSpPr>
          <p:nvPr/>
        </p:nvCxnSpPr>
        <p:spPr>
          <a:xfrm flipH="1">
            <a:off x="9827679" y="3812909"/>
            <a:ext cx="199767" cy="495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0" name="Imagen 129">
            <a:extLst>
              <a:ext uri="{FF2B5EF4-FFF2-40B4-BE49-F238E27FC236}">
                <a16:creationId xmlns:a16="http://schemas.microsoft.com/office/drawing/2014/main" id="{9107B011-A0C1-6137-A0BA-84274E64BE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416030" y="4798832"/>
            <a:ext cx="1078379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01168" y="164592"/>
            <a:ext cx="347472" cy="347472"/>
          </a:xfrm>
          <a:prstGeom prst="round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92024"/>
            <a:ext cx="34747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dirty="0">
                <a:solidFill>
                  <a:srgbClr val="102D44"/>
                </a:solidFill>
                <a:latin typeface="Aptos Display"/>
              </a:rPr>
              <a:t>¿</a:t>
            </a:r>
            <a:r>
              <a:rPr sz="2300" b="1" dirty="0" err="1">
                <a:solidFill>
                  <a:srgbClr val="102D44"/>
                </a:solidFill>
                <a:latin typeface="Aptos Display"/>
              </a:rPr>
              <a:t>Qué</a:t>
            </a:r>
            <a:r>
              <a:rPr sz="2300" b="1" dirty="0">
                <a:solidFill>
                  <a:srgbClr val="102D44"/>
                </a:solidFill>
                <a:latin typeface="Aptos Display"/>
              </a:rPr>
              <a:t> </a:t>
            </a:r>
            <a:r>
              <a:rPr sz="2300" b="1" dirty="0" err="1">
                <a:solidFill>
                  <a:srgbClr val="102D44"/>
                </a:solidFill>
                <a:latin typeface="Aptos Display"/>
              </a:rPr>
              <a:t>significa</a:t>
            </a:r>
            <a:r>
              <a:rPr sz="2300" b="1" dirty="0">
                <a:solidFill>
                  <a:srgbClr val="102D44"/>
                </a:solidFill>
                <a:latin typeface="Aptos Display"/>
              </a:rPr>
              <a:t> </a:t>
            </a:r>
            <a:r>
              <a:rPr sz="2300" b="1" dirty="0" err="1">
                <a:solidFill>
                  <a:srgbClr val="102D44"/>
                </a:solidFill>
                <a:latin typeface="Aptos Display"/>
              </a:rPr>
              <a:t>predecir</a:t>
            </a:r>
            <a:r>
              <a:rPr sz="2300" b="1" dirty="0">
                <a:solidFill>
                  <a:srgbClr val="102D44"/>
                </a:solidFill>
                <a:latin typeface="Aptos Display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12648"/>
            <a:ext cx="1069848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0" dirty="0" err="1">
                <a:solidFill>
                  <a:srgbClr val="5D717E"/>
                </a:solidFill>
                <a:latin typeface="Aptos"/>
              </a:rPr>
              <a:t>Comparar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lo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que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ocurrió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con lo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que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el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modelo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estimó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1417320"/>
            <a:ext cx="68122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40280" y="1627632"/>
            <a:ext cx="4297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02D44"/>
                </a:solidFill>
                <a:latin typeface="Aptos"/>
              </a:rPr>
              <a:t>Real vs. Predicho · conjunto de prueba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3160" y="4572000"/>
            <a:ext cx="5669280" cy="0"/>
          </a:xfrm>
          <a:prstGeom prst="line">
            <a:avLst/>
          </a:prstGeom>
          <a:ln>
            <a:solidFill>
              <a:srgbClr val="DC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423160" y="2986430"/>
            <a:ext cx="298383" cy="303124"/>
          </a:xfrm>
          <a:prstGeom prst="line">
            <a:avLst/>
          </a:prstGeom>
          <a:ln w="25400">
            <a:solidFill>
              <a:srgbClr val="18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721543" y="2916478"/>
            <a:ext cx="298383" cy="69952"/>
          </a:xfrm>
          <a:prstGeom prst="line">
            <a:avLst/>
          </a:prstGeom>
          <a:ln w="25400">
            <a:solidFill>
              <a:srgbClr val="18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19926" y="2916478"/>
            <a:ext cx="298383" cy="233172"/>
          </a:xfrm>
          <a:prstGeom prst="line">
            <a:avLst/>
          </a:prstGeom>
          <a:ln w="25400">
            <a:solidFill>
              <a:srgbClr val="18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318309" y="2659989"/>
            <a:ext cx="298383" cy="489661"/>
          </a:xfrm>
          <a:prstGeom prst="line">
            <a:avLst/>
          </a:prstGeom>
          <a:ln w="25400">
            <a:solidFill>
              <a:srgbClr val="18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16692" y="2659989"/>
            <a:ext cx="298383" cy="1305763"/>
          </a:xfrm>
          <a:prstGeom prst="line">
            <a:avLst/>
          </a:prstGeom>
          <a:ln w="25400">
            <a:solidFill>
              <a:srgbClr val="18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915075" y="3662629"/>
            <a:ext cx="298383" cy="303123"/>
          </a:xfrm>
          <a:prstGeom prst="line">
            <a:avLst/>
          </a:prstGeom>
          <a:ln w="25400">
            <a:solidFill>
              <a:srgbClr val="18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13458" y="3662629"/>
            <a:ext cx="298384" cy="139903"/>
          </a:xfrm>
          <a:prstGeom prst="line">
            <a:avLst/>
          </a:prstGeom>
          <a:ln w="25400">
            <a:solidFill>
              <a:srgbClr val="18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511842" y="3382822"/>
            <a:ext cx="298383" cy="419710"/>
          </a:xfrm>
          <a:prstGeom prst="line">
            <a:avLst/>
          </a:prstGeom>
          <a:ln w="25400">
            <a:solidFill>
              <a:srgbClr val="18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810225" y="3382822"/>
            <a:ext cx="298383" cy="23318"/>
          </a:xfrm>
          <a:prstGeom prst="line">
            <a:avLst/>
          </a:prstGeom>
          <a:ln w="25400">
            <a:solidFill>
              <a:srgbClr val="18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08608" y="3406140"/>
            <a:ext cx="298383" cy="46634"/>
          </a:xfrm>
          <a:prstGeom prst="line">
            <a:avLst/>
          </a:prstGeom>
          <a:ln w="25400">
            <a:solidFill>
              <a:srgbClr val="18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406991" y="2893161"/>
            <a:ext cx="298383" cy="559613"/>
          </a:xfrm>
          <a:prstGeom prst="line">
            <a:avLst/>
          </a:prstGeom>
          <a:ln w="25400">
            <a:solidFill>
              <a:srgbClr val="18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05374" y="2893161"/>
            <a:ext cx="298383" cy="512979"/>
          </a:xfrm>
          <a:prstGeom prst="line">
            <a:avLst/>
          </a:prstGeom>
          <a:ln w="25400">
            <a:solidFill>
              <a:srgbClr val="18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003757" y="3336188"/>
            <a:ext cx="298384" cy="69952"/>
          </a:xfrm>
          <a:prstGeom prst="line">
            <a:avLst/>
          </a:prstGeom>
          <a:ln w="25400">
            <a:solidFill>
              <a:srgbClr val="18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302141" y="3336188"/>
            <a:ext cx="298383" cy="303124"/>
          </a:xfrm>
          <a:prstGeom prst="line">
            <a:avLst/>
          </a:prstGeom>
          <a:ln w="25400">
            <a:solidFill>
              <a:srgbClr val="18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00524" y="2776575"/>
            <a:ext cx="298383" cy="862737"/>
          </a:xfrm>
          <a:prstGeom prst="line">
            <a:avLst/>
          </a:prstGeom>
          <a:ln w="25400">
            <a:solidFill>
              <a:srgbClr val="18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98907" y="2776575"/>
            <a:ext cx="298383" cy="652882"/>
          </a:xfrm>
          <a:prstGeom prst="line">
            <a:avLst/>
          </a:prstGeom>
          <a:ln w="25400">
            <a:solidFill>
              <a:srgbClr val="18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197290" y="2986430"/>
            <a:ext cx="298383" cy="443027"/>
          </a:xfrm>
          <a:prstGeom prst="line">
            <a:avLst/>
          </a:prstGeom>
          <a:ln w="25400">
            <a:solidFill>
              <a:srgbClr val="18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95673" y="2986430"/>
            <a:ext cx="298383" cy="23317"/>
          </a:xfrm>
          <a:prstGeom prst="line">
            <a:avLst/>
          </a:prstGeom>
          <a:ln w="25400">
            <a:solidFill>
              <a:srgbClr val="18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794056" y="3009747"/>
            <a:ext cx="298384" cy="886054"/>
          </a:xfrm>
          <a:prstGeom prst="line">
            <a:avLst/>
          </a:prstGeom>
          <a:ln w="25400">
            <a:solidFill>
              <a:srgbClr val="18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391156" y="3257550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689539" y="2954426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987922" y="2884474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286305" y="3117646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84688" y="2627985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883071" y="3933748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181454" y="3630625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479838" y="3770528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778221" y="3350818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076604" y="3374136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374987" y="3420770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673370" y="2861157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971753" y="3374136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270137" y="3304184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568520" y="3607308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866903" y="2744571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165286" y="3397453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463669" y="2954426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762052" y="2977743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060436" y="3863797"/>
            <a:ext cx="64008" cy="64008"/>
          </a:xfrm>
          <a:prstGeom prst="ellipse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" name="Connector 50"/>
          <p:cNvCxnSpPr/>
          <p:nvPr/>
        </p:nvCxnSpPr>
        <p:spPr>
          <a:xfrm flipV="1">
            <a:off x="2423160" y="3033064"/>
            <a:ext cx="298383" cy="466344"/>
          </a:xfrm>
          <a:prstGeom prst="line">
            <a:avLst/>
          </a:prstGeom>
          <a:ln w="25400">
            <a:solidFill>
              <a:srgbClr val="10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21543" y="2869844"/>
            <a:ext cx="298383" cy="163220"/>
          </a:xfrm>
          <a:prstGeom prst="line">
            <a:avLst/>
          </a:prstGeom>
          <a:ln w="25400">
            <a:solidFill>
              <a:srgbClr val="10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019926" y="2869844"/>
            <a:ext cx="298383" cy="419710"/>
          </a:xfrm>
          <a:prstGeom prst="line">
            <a:avLst/>
          </a:prstGeom>
          <a:ln w="25400">
            <a:solidFill>
              <a:srgbClr val="10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8309" y="2846527"/>
            <a:ext cx="298383" cy="443027"/>
          </a:xfrm>
          <a:prstGeom prst="line">
            <a:avLst/>
          </a:prstGeom>
          <a:ln w="25400">
            <a:solidFill>
              <a:srgbClr val="10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616692" y="2846527"/>
            <a:ext cx="298383" cy="1189177"/>
          </a:xfrm>
          <a:prstGeom prst="line">
            <a:avLst/>
          </a:prstGeom>
          <a:ln w="25400">
            <a:solidFill>
              <a:srgbClr val="10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915075" y="3732580"/>
            <a:ext cx="298383" cy="303124"/>
          </a:xfrm>
          <a:prstGeom prst="line">
            <a:avLst/>
          </a:prstGeom>
          <a:ln w="25400">
            <a:solidFill>
              <a:srgbClr val="10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213458" y="3732580"/>
            <a:ext cx="298384" cy="186538"/>
          </a:xfrm>
          <a:prstGeom prst="line">
            <a:avLst/>
          </a:prstGeom>
          <a:ln w="25400">
            <a:solidFill>
              <a:srgbClr val="10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511842" y="3359505"/>
            <a:ext cx="298383" cy="559613"/>
          </a:xfrm>
          <a:prstGeom prst="line">
            <a:avLst/>
          </a:prstGeom>
          <a:ln w="25400">
            <a:solidFill>
              <a:srgbClr val="10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810225" y="3359505"/>
            <a:ext cx="298383" cy="93269"/>
          </a:xfrm>
          <a:prstGeom prst="line">
            <a:avLst/>
          </a:prstGeom>
          <a:ln w="25400">
            <a:solidFill>
              <a:srgbClr val="10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108608" y="3452774"/>
            <a:ext cx="298383" cy="23317"/>
          </a:xfrm>
          <a:prstGeom prst="line">
            <a:avLst/>
          </a:prstGeom>
          <a:ln w="25400">
            <a:solidFill>
              <a:srgbClr val="10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406991" y="3079699"/>
            <a:ext cx="298383" cy="396392"/>
          </a:xfrm>
          <a:prstGeom prst="line">
            <a:avLst/>
          </a:prstGeom>
          <a:ln w="25400">
            <a:solidFill>
              <a:srgbClr val="10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705374" y="3079699"/>
            <a:ext cx="298383" cy="303123"/>
          </a:xfrm>
          <a:prstGeom prst="line">
            <a:avLst/>
          </a:prstGeom>
          <a:ln w="25400">
            <a:solidFill>
              <a:srgbClr val="10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003757" y="3382822"/>
            <a:ext cx="298384" cy="46635"/>
          </a:xfrm>
          <a:prstGeom prst="line">
            <a:avLst/>
          </a:prstGeom>
          <a:ln w="25400">
            <a:solidFill>
              <a:srgbClr val="10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302141" y="3429457"/>
            <a:ext cx="298383" cy="279806"/>
          </a:xfrm>
          <a:prstGeom prst="line">
            <a:avLst/>
          </a:prstGeom>
          <a:ln w="25400">
            <a:solidFill>
              <a:srgbClr val="10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600524" y="2986430"/>
            <a:ext cx="298383" cy="722833"/>
          </a:xfrm>
          <a:prstGeom prst="line">
            <a:avLst/>
          </a:prstGeom>
          <a:ln w="25400">
            <a:solidFill>
              <a:srgbClr val="10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898907" y="2986430"/>
            <a:ext cx="298383" cy="536296"/>
          </a:xfrm>
          <a:prstGeom prst="line">
            <a:avLst/>
          </a:prstGeom>
          <a:ln w="25400">
            <a:solidFill>
              <a:srgbClr val="10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7197290" y="3056382"/>
            <a:ext cx="298383" cy="466344"/>
          </a:xfrm>
          <a:prstGeom prst="line">
            <a:avLst/>
          </a:prstGeom>
          <a:ln w="25400">
            <a:solidFill>
              <a:srgbClr val="10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495673" y="3056382"/>
            <a:ext cx="298383" cy="46634"/>
          </a:xfrm>
          <a:prstGeom prst="line">
            <a:avLst/>
          </a:prstGeom>
          <a:ln w="25400">
            <a:solidFill>
              <a:srgbClr val="10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794056" y="3103016"/>
            <a:ext cx="298384" cy="909371"/>
          </a:xfrm>
          <a:prstGeom prst="line">
            <a:avLst/>
          </a:prstGeom>
          <a:ln w="25400">
            <a:solidFill>
              <a:srgbClr val="10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2391156" y="3467404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689539" y="3001060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987922" y="2837840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3286305" y="3257550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3584688" y="2814523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3883071" y="4003700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4181454" y="3700576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4479838" y="3887114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4778221" y="3327501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5076604" y="3420770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5374987" y="3444087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5673370" y="3047695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5971753" y="3350818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6270137" y="3397453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6568520" y="3677259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6866903" y="2954426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7165286" y="3490722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7463669" y="3024378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7762052" y="3071012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8060436" y="3980383"/>
            <a:ext cx="64008" cy="64008"/>
          </a:xfrm>
          <a:prstGeom prst="ellipse">
            <a:avLst/>
          </a:prstGeom>
          <a:solidFill>
            <a:srgbClr val="102D44"/>
          </a:solidFill>
          <a:ln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9006840" y="1417320"/>
            <a:ext cx="26974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9006840" y="1417320"/>
            <a:ext cx="64008" cy="4251960"/>
          </a:xfrm>
          <a:prstGeom prst="round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171432" y="1554480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5D717E"/>
                </a:solidFill>
                <a:latin typeface="Aptos"/>
              </a:rPr>
              <a:t>OBSERVACIÓN 21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71432" y="1929384"/>
            <a:ext cx="2423160" cy="3630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102D44"/>
                </a:solidFill>
                <a:latin typeface="Aptos"/>
              </a:rPr>
              <a:t>REAL
396,95 kW
PREDICHO
421,38 kW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11917" y="5149751"/>
            <a:ext cx="4572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000" b="1" dirty="0">
                <a:solidFill>
                  <a:srgbClr val="5D717E"/>
                </a:solidFill>
                <a:latin typeface="Aptos"/>
              </a:rPr>
              <a:t>R²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97480" y="4956048"/>
            <a:ext cx="9144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02D44"/>
                </a:solidFill>
                <a:latin typeface="Aptos"/>
              </a:rPr>
              <a:t>0,911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62650" y="5105706"/>
            <a:ext cx="920056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000" b="1">
                <a:solidFill>
                  <a:srgbClr val="5D717E"/>
                </a:solidFill>
                <a:latin typeface="Aptos"/>
              </a:rPr>
              <a:t>MAE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43400" y="4956048"/>
            <a:ext cx="12344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02D44"/>
                </a:solidFill>
                <a:latin typeface="Aptos"/>
              </a:rPr>
              <a:t>19,406 kW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02141" y="5117747"/>
            <a:ext cx="1092467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000" b="1" dirty="0">
                <a:solidFill>
                  <a:srgbClr val="5D717E"/>
                </a:solidFill>
                <a:latin typeface="Aptos"/>
              </a:rPr>
              <a:t>RMSE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00800" y="4956048"/>
            <a:ext cx="13258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02D44"/>
                </a:solidFill>
                <a:latin typeface="Aptos"/>
              </a:rPr>
              <a:t>23,353 kW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1F30"/>
          </a:solidFill>
          <a:ln>
            <a:solidFill>
              <a:srgbClr val="08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28600" y="6547104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INGENIERÍA PGF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72400" y="6547104"/>
            <a:ext cx="4160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Paul Gálvez (Ingeniero Electrónico - USM)</a:t>
            </a:r>
          </a:p>
        </p:txBody>
      </p:sp>
      <p:pic>
        <p:nvPicPr>
          <p:cNvPr id="104" name="Imagen 103">
            <a:extLst>
              <a:ext uri="{FF2B5EF4-FFF2-40B4-BE49-F238E27FC236}">
                <a16:creationId xmlns:a16="http://schemas.microsoft.com/office/drawing/2014/main" id="{792CFDCE-E4C0-112B-B64C-5FE640EF9D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416030" y="4798832"/>
            <a:ext cx="1078379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01168" y="164592"/>
            <a:ext cx="347472" cy="347472"/>
          </a:xfrm>
          <a:prstGeom prst="round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92024"/>
            <a:ext cx="34747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>
                <a:solidFill>
                  <a:srgbClr val="102D44"/>
                </a:solidFill>
                <a:latin typeface="Aptos Display"/>
              </a:rPr>
              <a:t>El problema de la caja negra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12648"/>
            <a:ext cx="1069848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0">
                <a:solidFill>
                  <a:srgbClr val="5D717E"/>
                </a:solidFill>
                <a:latin typeface="Aptos"/>
              </a:rPr>
              <a:t>Una buena predicción no siempre es suficiente.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508760"/>
            <a:ext cx="4846320" cy="32004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2D44"/>
                </a:solidFill>
                <a:latin typeface="Aptos"/>
              </a:defRPr>
            </a:pPr>
            <a:r>
              <a:t>✓  El modelo entrega un número, pero no explica por qué.</a:t>
            </a:r>
          </a:p>
          <a:p>
            <a:pPr>
              <a:spcAft>
                <a:spcPts val="1000"/>
              </a:spcAft>
              <a:defRPr sz="1700">
                <a:solidFill>
                  <a:srgbClr val="102D44"/>
                </a:solidFill>
                <a:latin typeface="Aptos"/>
              </a:defRPr>
            </a:pPr>
            <a:r>
              <a:t>✓  Sin explicación, la confianza disminuye.</a:t>
            </a:r>
          </a:p>
          <a:p>
            <a:pPr>
              <a:spcAft>
                <a:spcPts val="1000"/>
              </a:spcAft>
              <a:defRPr sz="1700">
                <a:solidFill>
                  <a:srgbClr val="102D44"/>
                </a:solidFill>
                <a:latin typeface="Aptos"/>
              </a:defRPr>
            </a:pPr>
            <a:r>
              <a:t>✓  Las decisiones críticas requieren justificación técnica.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874519"/>
            <a:ext cx="2057400" cy="1965960"/>
          </a:xfrm>
          <a:prstGeom prst="roundRect">
            <a:avLst/>
          </a:prstGeom>
          <a:solidFill>
            <a:srgbClr val="081F30"/>
          </a:solidFill>
          <a:ln>
            <a:solidFill>
              <a:srgbClr val="08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2450592"/>
            <a:ext cx="2057400" cy="6858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¿?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251960"/>
            <a:ext cx="1828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5D717E"/>
                </a:solidFill>
                <a:latin typeface="Aptos"/>
              </a:rPr>
              <a:t>ENTRADA
Variables de operación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4251960"/>
            <a:ext cx="1737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5D717E"/>
                </a:solidFill>
                <a:latin typeface="Aptos"/>
              </a:rPr>
              <a:t>SALIDA
Predicción (kW)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498079" y="3794760"/>
            <a:ext cx="713233" cy="365760"/>
          </a:xfrm>
          <a:prstGeom prst="line">
            <a:avLst/>
          </a:prstGeom>
          <a:ln w="20320">
            <a:solidFill>
              <a:srgbClr val="5D71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326880" y="3794760"/>
            <a:ext cx="640080" cy="365760"/>
          </a:xfrm>
          <a:prstGeom prst="line">
            <a:avLst/>
          </a:prstGeom>
          <a:ln w="20320">
            <a:solidFill>
              <a:srgbClr val="5D71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18120" y="5166360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02D44"/>
                </a:solidFill>
                <a:latin typeface="Aptos"/>
              </a:rPr>
              <a:t>¿POR QUÉ?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1F30"/>
          </a:solidFill>
          <a:ln>
            <a:solidFill>
              <a:srgbClr val="08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8600" y="6547104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INGENIERÍA PGF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547104"/>
            <a:ext cx="4160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Paul Gálvez (Ingeniero Electrónico - USM)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2AE2A903-C6D9-C50C-19B8-FEF53CD388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416030" y="4798832"/>
            <a:ext cx="1078379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01168" y="164592"/>
            <a:ext cx="347472" cy="347472"/>
          </a:xfrm>
          <a:prstGeom prst="round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92024"/>
            <a:ext cx="34747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>
                <a:solidFill>
                  <a:srgbClr val="102D44"/>
                </a:solidFill>
                <a:latin typeface="Aptos Display"/>
              </a:rPr>
              <a:t>¿Qué es XAI?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12648"/>
            <a:ext cx="1069848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0" dirty="0" err="1">
                <a:solidFill>
                  <a:srgbClr val="5D717E"/>
                </a:solidFill>
                <a:latin typeface="Aptos"/>
              </a:rPr>
              <a:t>Inteligencia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Artificial Explicable.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554480"/>
            <a:ext cx="6064734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240280" y="1554480"/>
            <a:ext cx="64008" cy="914400"/>
          </a:xfrm>
          <a:prstGeom prst="roundRect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04872" y="1691639"/>
            <a:ext cx="5532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5D717E"/>
                </a:solidFill>
                <a:latin typeface="Aptos"/>
              </a:rPr>
              <a:t>CONJUNTO DE TÉCNICAS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2066543"/>
            <a:ext cx="5900142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dirty="0" err="1">
                <a:solidFill>
                  <a:srgbClr val="102D44"/>
                </a:solidFill>
                <a:latin typeface="Aptos"/>
              </a:rPr>
              <a:t>Permite</a:t>
            </a:r>
            <a:r>
              <a:rPr sz="1700" b="0" dirty="0">
                <a:solidFill>
                  <a:srgbClr val="102D44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102D44"/>
                </a:solidFill>
                <a:latin typeface="Aptos"/>
              </a:rPr>
              <a:t>entender</a:t>
            </a:r>
            <a:r>
              <a:rPr sz="1700" b="0" dirty="0">
                <a:solidFill>
                  <a:srgbClr val="102D44"/>
                </a:solidFill>
                <a:latin typeface="Aptos"/>
              </a:rPr>
              <a:t> el </a:t>
            </a:r>
            <a:r>
              <a:rPr sz="1700" b="0" dirty="0" err="1">
                <a:solidFill>
                  <a:srgbClr val="102D44"/>
                </a:solidFill>
                <a:latin typeface="Aptos"/>
              </a:rPr>
              <a:t>comportamiento</a:t>
            </a:r>
            <a:r>
              <a:rPr sz="1700" b="0" dirty="0">
                <a:solidFill>
                  <a:srgbClr val="102D44"/>
                </a:solidFill>
                <a:latin typeface="Aptos"/>
              </a:rPr>
              <a:t> de </a:t>
            </a:r>
            <a:r>
              <a:rPr sz="1700" b="0" dirty="0" err="1">
                <a:solidFill>
                  <a:srgbClr val="102D44"/>
                </a:solidFill>
                <a:latin typeface="Aptos"/>
              </a:rPr>
              <a:t>modelos</a:t>
            </a:r>
            <a:r>
              <a:rPr sz="1700" b="0" dirty="0">
                <a:solidFill>
                  <a:srgbClr val="102D44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102D44"/>
                </a:solidFill>
                <a:latin typeface="Aptos"/>
              </a:rPr>
              <a:t>complejos</a:t>
            </a:r>
            <a:r>
              <a:rPr sz="1700" b="0" dirty="0">
                <a:solidFill>
                  <a:srgbClr val="102D44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2743200"/>
            <a:ext cx="6064734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240280" y="2743200"/>
            <a:ext cx="64008" cy="914400"/>
          </a:xfrm>
          <a:prstGeom prst="round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04872" y="2880360"/>
            <a:ext cx="5532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5D717E"/>
                </a:solidFill>
                <a:latin typeface="Aptos"/>
              </a:rPr>
              <a:t>INTERPRETABILIDAD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3255264"/>
            <a:ext cx="5532120" cy="2926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102D44"/>
                </a:solidFill>
                <a:latin typeface="Aptos"/>
              </a:rPr>
              <a:t>Convierte la “caja negra” en una evidencia interpretable.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0280" y="3931920"/>
            <a:ext cx="6064734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240280" y="3931920"/>
            <a:ext cx="64008" cy="914400"/>
          </a:xfrm>
          <a:prstGeom prst="roundRect">
            <a:avLst/>
          </a:prstGeom>
          <a:solidFill>
            <a:srgbClr val="366EB4"/>
          </a:solidFill>
          <a:ln>
            <a:solidFill>
              <a:srgbClr val="3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04872" y="4069080"/>
            <a:ext cx="5532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5D717E"/>
                </a:solidFill>
                <a:latin typeface="Aptos"/>
              </a:rPr>
              <a:t>CONFIANZA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04872" y="4443983"/>
            <a:ext cx="5532120" cy="2926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102D44"/>
                </a:solidFill>
                <a:latin typeface="Aptos"/>
              </a:rPr>
              <a:t>Permite auditoría, confianza y mejores decisiones.</a:t>
            </a:r>
          </a:p>
        </p:txBody>
      </p:sp>
      <p:sp>
        <p:nvSpPr>
          <p:cNvPr id="21" name="Oval 20"/>
          <p:cNvSpPr/>
          <p:nvPr/>
        </p:nvSpPr>
        <p:spPr>
          <a:xfrm>
            <a:off x="9235440" y="1920240"/>
            <a:ext cx="1737360" cy="1737360"/>
          </a:xfrm>
          <a:prstGeom prst="ellipse">
            <a:avLst/>
          </a:prstGeom>
          <a:solidFill>
            <a:srgbClr val="103146"/>
          </a:solidFill>
          <a:ln w="20320">
            <a:solidFill>
              <a:srgbClr val="ABD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2165289"/>
            <a:ext cx="173736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4000" b="1" dirty="0">
                <a:solidFill>
                  <a:srgbClr val="ABD337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977639"/>
            <a:ext cx="26060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102D44"/>
                </a:solidFill>
                <a:latin typeface="Aptos"/>
              </a:rPr>
              <a:t>EXPLICAR
PARA DECIDIR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1F30"/>
          </a:solidFill>
          <a:ln>
            <a:solidFill>
              <a:srgbClr val="08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8600" y="6547104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INGENIERÍA PGF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547104"/>
            <a:ext cx="4160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Paul Gálvez (Ingeniero Electrónico - USM)</a:t>
            </a:r>
          </a:p>
        </p:txBody>
      </p:sp>
      <p:pic>
        <p:nvPicPr>
          <p:cNvPr id="28" name="Gráfico 27" descr="Cerebro en la cabeza con relleno sólido">
            <a:extLst>
              <a:ext uri="{FF2B5EF4-FFF2-40B4-BE49-F238E27FC236}">
                <a16:creationId xmlns:a16="http://schemas.microsoft.com/office/drawing/2014/main" id="{5DCB28B4-AAC6-D617-2B05-E7D2166388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69780" y="2715768"/>
            <a:ext cx="914400" cy="914400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D5AE59D-1FE9-926E-D6B4-27959EE0F28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416030" y="4798832"/>
            <a:ext cx="1078379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01168" y="164592"/>
            <a:ext cx="347472" cy="347472"/>
          </a:xfrm>
          <a:prstGeom prst="round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92024"/>
            <a:ext cx="34747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>
                <a:solidFill>
                  <a:srgbClr val="102D44"/>
                </a:solidFill>
                <a:latin typeface="Aptos Display"/>
              </a:rPr>
              <a:t>¿Qué es SHAP?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12648"/>
            <a:ext cx="1069848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0" dirty="0">
                <a:solidFill>
                  <a:srgbClr val="5D717E"/>
                </a:solidFill>
                <a:latin typeface="Aptos"/>
              </a:rPr>
              <a:t>Shapley Additive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exPlanations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417320"/>
            <a:ext cx="5577840" cy="275152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02D44"/>
                </a:solidFill>
                <a:latin typeface="Aptos"/>
              </a:defRPr>
            </a:pPr>
            <a:r>
              <a:rPr dirty="0"/>
              <a:t>✓  </a:t>
            </a:r>
            <a:r>
              <a:rPr dirty="0" err="1"/>
              <a:t>Basado</a:t>
            </a:r>
            <a:r>
              <a:rPr dirty="0"/>
              <a:t> en </a:t>
            </a:r>
            <a:r>
              <a:rPr dirty="0" err="1"/>
              <a:t>teoría</a:t>
            </a:r>
            <a:r>
              <a:rPr dirty="0"/>
              <a:t> de </a:t>
            </a:r>
            <a:r>
              <a:rPr dirty="0" err="1"/>
              <a:t>juegos</a:t>
            </a:r>
            <a:r>
              <a:rPr dirty="0"/>
              <a:t> (Shapley Values).</a:t>
            </a:r>
            <a:endParaRPr lang="es-ES" dirty="0"/>
          </a:p>
          <a:p>
            <a:pPr>
              <a:spcAft>
                <a:spcPts val="1000"/>
              </a:spcAft>
              <a:defRPr sz="1550">
                <a:solidFill>
                  <a:srgbClr val="102D44"/>
                </a:solidFill>
                <a:latin typeface="Aptos"/>
              </a:defRPr>
            </a:pPr>
            <a:endParaRPr dirty="0"/>
          </a:p>
          <a:p>
            <a:pPr>
              <a:spcAft>
                <a:spcPts val="1000"/>
              </a:spcAft>
              <a:defRPr sz="1550">
                <a:solidFill>
                  <a:srgbClr val="102D44"/>
                </a:solidFill>
                <a:latin typeface="Aptos"/>
              </a:defRPr>
            </a:pPr>
            <a:r>
              <a:rPr dirty="0"/>
              <a:t>✓  </a:t>
            </a:r>
            <a:r>
              <a:rPr dirty="0" err="1"/>
              <a:t>Asigna</a:t>
            </a:r>
            <a:r>
              <a:rPr dirty="0"/>
              <a:t> a </a:t>
            </a:r>
            <a:r>
              <a:rPr dirty="0" err="1"/>
              <a:t>cada</a:t>
            </a:r>
            <a:r>
              <a:rPr dirty="0"/>
              <a:t> variable </a:t>
            </a:r>
            <a:r>
              <a:rPr dirty="0" err="1"/>
              <a:t>cuánto</a:t>
            </a:r>
            <a:r>
              <a:rPr dirty="0"/>
              <a:t> </a:t>
            </a:r>
            <a:r>
              <a:rPr dirty="0" err="1"/>
              <a:t>contribuye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predicción</a:t>
            </a:r>
            <a:r>
              <a:rPr dirty="0"/>
              <a:t>.</a:t>
            </a:r>
            <a:endParaRPr lang="es-ES" dirty="0"/>
          </a:p>
          <a:p>
            <a:pPr>
              <a:spcAft>
                <a:spcPts val="1000"/>
              </a:spcAft>
              <a:defRPr sz="1550">
                <a:solidFill>
                  <a:srgbClr val="102D44"/>
                </a:solidFill>
                <a:latin typeface="Aptos"/>
              </a:defRPr>
            </a:pPr>
            <a:endParaRPr dirty="0"/>
          </a:p>
          <a:p>
            <a:pPr>
              <a:spcAft>
                <a:spcPts val="1000"/>
              </a:spcAft>
              <a:defRPr sz="1550">
                <a:solidFill>
                  <a:srgbClr val="102D44"/>
                </a:solidFill>
                <a:latin typeface="Aptos"/>
              </a:defRPr>
            </a:pPr>
            <a:r>
              <a:rPr dirty="0"/>
              <a:t>✓  Los </a:t>
            </a:r>
            <a:r>
              <a:rPr dirty="0" err="1"/>
              <a:t>aportes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ser </a:t>
            </a:r>
            <a:r>
              <a:rPr dirty="0" err="1"/>
              <a:t>positivos</a:t>
            </a:r>
            <a:r>
              <a:rPr dirty="0"/>
              <a:t> (</a:t>
            </a:r>
            <a:r>
              <a:rPr dirty="0" err="1"/>
              <a:t>aumentan</a:t>
            </a:r>
            <a:r>
              <a:rPr dirty="0"/>
              <a:t>) o </a:t>
            </a:r>
            <a:r>
              <a:rPr dirty="0" err="1"/>
              <a:t>negativos</a:t>
            </a:r>
            <a:r>
              <a:rPr dirty="0"/>
              <a:t> (</a:t>
            </a:r>
            <a:r>
              <a:rPr dirty="0" err="1"/>
              <a:t>disminuyen</a:t>
            </a:r>
            <a:r>
              <a:rPr dirty="0"/>
              <a:t>).</a:t>
            </a:r>
            <a:endParaRPr lang="es-ES" dirty="0"/>
          </a:p>
          <a:p>
            <a:pPr>
              <a:spcAft>
                <a:spcPts val="1000"/>
              </a:spcAft>
              <a:defRPr sz="1550">
                <a:solidFill>
                  <a:srgbClr val="102D44"/>
                </a:solidFill>
                <a:latin typeface="Aptos"/>
              </a:defRPr>
            </a:pPr>
            <a:endParaRPr dirty="0"/>
          </a:p>
          <a:p>
            <a:pPr>
              <a:spcAft>
                <a:spcPts val="1000"/>
              </a:spcAft>
              <a:defRPr sz="1550">
                <a:solidFill>
                  <a:srgbClr val="102D44"/>
                </a:solidFill>
                <a:latin typeface="Aptos"/>
              </a:defRPr>
            </a:pPr>
            <a:r>
              <a:rPr dirty="0"/>
              <a:t>✓  La </a:t>
            </a:r>
            <a:r>
              <a:rPr dirty="0" err="1"/>
              <a:t>suma</a:t>
            </a:r>
            <a:r>
              <a:rPr dirty="0"/>
              <a:t> de </a:t>
            </a:r>
            <a:r>
              <a:rPr dirty="0" err="1"/>
              <a:t>aportes</a:t>
            </a:r>
            <a:r>
              <a:rPr dirty="0"/>
              <a:t> + valor base = </a:t>
            </a:r>
            <a:r>
              <a:rPr dirty="0" err="1"/>
              <a:t>predicción</a:t>
            </a:r>
            <a:r>
              <a:rPr dirty="0"/>
              <a:t> final.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11887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5D717E"/>
                </a:solidFill>
                <a:latin typeface="Aptos"/>
              </a:rPr>
              <a:t>BASE
(valor base)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737360"/>
            <a:ext cx="12801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5D717E"/>
                </a:solidFill>
                <a:latin typeface="Aptos"/>
              </a:rPr>
              <a:t>PREDICCIÓN
final (kW)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743200"/>
            <a:ext cx="2788920" cy="228600"/>
          </a:xfrm>
          <a:prstGeom prst="roundRect">
            <a:avLst/>
          </a:prstGeom>
          <a:solidFill>
            <a:srgbClr val="DCE5E9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823960" y="2615184"/>
            <a:ext cx="1051560" cy="484632"/>
          </a:xfrm>
          <a:prstGeom prst="roundRect">
            <a:avLst/>
          </a:prstGeom>
          <a:solidFill>
            <a:srgbClr val="E2483E"/>
          </a:solidFill>
          <a:ln>
            <a:solidFill>
              <a:srgbClr val="E2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57232" y="2615184"/>
            <a:ext cx="777240" cy="484632"/>
          </a:xfrm>
          <a:prstGeom prst="roundRect">
            <a:avLst/>
          </a:prstGeom>
          <a:solidFill>
            <a:srgbClr val="366EB4"/>
          </a:solidFill>
          <a:ln>
            <a:solidFill>
              <a:srgbClr val="3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62288" y="1993392"/>
            <a:ext cx="274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E2483E"/>
                </a:solidFill>
                <a:latin typeface="Aptos"/>
              </a:rPr>
              <a:t>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5560" y="1993392"/>
            <a:ext cx="274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366EB4"/>
                </a:solidFill>
                <a:latin typeface="Aptos"/>
              </a:rPr>
              <a:t>+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35440" y="3611880"/>
            <a:ext cx="1051560" cy="0"/>
          </a:xfrm>
          <a:prstGeom prst="line">
            <a:avLst/>
          </a:prstGeom>
          <a:ln w="22860">
            <a:solidFill>
              <a:srgbClr val="5D71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0" y="3977639"/>
            <a:ext cx="29260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102D44"/>
                </a:solidFill>
                <a:latin typeface="Aptos"/>
              </a:rPr>
              <a:t>BASE + APORTES = PREDICCIÓN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1F30"/>
          </a:solidFill>
          <a:ln>
            <a:solidFill>
              <a:srgbClr val="08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8600" y="6547104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INGENIERÍA PGF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47104"/>
            <a:ext cx="4160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Paul Gálvez (Ingeniero Electrónico - USM)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B19E7903-6621-38E2-82D5-3FEF13B545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416030" y="4798832"/>
            <a:ext cx="1078379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01168" y="164592"/>
            <a:ext cx="347472" cy="347472"/>
          </a:xfrm>
          <a:prstGeom prst="round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92024"/>
            <a:ext cx="34747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>
                <a:solidFill>
                  <a:srgbClr val="102D44"/>
                </a:solidFill>
                <a:latin typeface="Aptos Display"/>
              </a:rPr>
              <a:t>SHAP global vs. SHAP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12648"/>
            <a:ext cx="1069848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0" dirty="0">
                <a:solidFill>
                  <a:srgbClr val="5D717E"/>
                </a:solidFill>
                <a:latin typeface="Aptos"/>
              </a:rPr>
              <a:t>Dos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miradas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complementarias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1417320"/>
            <a:ext cx="3977639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3977639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31720" y="1664208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79B12D"/>
                </a:solidFill>
                <a:latin typeface="Aptos"/>
              </a:rPr>
              <a:t>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993392"/>
            <a:ext cx="3291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02D44"/>
                </a:solidFill>
                <a:latin typeface="Aptos"/>
              </a:rPr>
              <a:t>¿Qué variables importan
más en general?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788920"/>
            <a:ext cx="12344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102D44"/>
                </a:solidFill>
                <a:latin typeface="Aptos"/>
              </a:rPr>
              <a:t>IT load kW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2807208"/>
            <a:ext cx="1563624" cy="155448"/>
          </a:xfrm>
          <a:prstGeom prst="roundRect">
            <a:avLst/>
          </a:prstGeom>
          <a:solidFill>
            <a:srgbClr val="E2483E"/>
          </a:solidFill>
          <a:ln>
            <a:solidFill>
              <a:srgbClr val="E2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31720" y="3218687"/>
            <a:ext cx="12344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102D44"/>
                </a:solidFill>
                <a:latin typeface="Aptos"/>
              </a:rPr>
              <a:t>HVAC kW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3236975"/>
            <a:ext cx="1283817" cy="155448"/>
          </a:xfrm>
          <a:prstGeom prst="roundRect">
            <a:avLst/>
          </a:prstGeom>
          <a:solidFill>
            <a:srgbClr val="E2483E"/>
          </a:solidFill>
          <a:ln>
            <a:solidFill>
              <a:srgbClr val="E2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31720" y="3648455"/>
            <a:ext cx="12344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102D44"/>
                </a:solidFill>
                <a:latin typeface="Aptos"/>
              </a:rPr>
              <a:t>Hour sin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3666743"/>
            <a:ext cx="954633" cy="155448"/>
          </a:xfrm>
          <a:prstGeom prst="roundRect">
            <a:avLst/>
          </a:prstGeom>
          <a:solidFill>
            <a:srgbClr val="366EB4"/>
          </a:solidFill>
          <a:ln>
            <a:solidFill>
              <a:srgbClr val="3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3"/>
            <a:ext cx="12344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102D44"/>
                </a:solidFill>
                <a:latin typeface="Aptos"/>
              </a:rPr>
              <a:t>Temperature 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096511"/>
            <a:ext cx="707745" cy="155448"/>
          </a:xfrm>
          <a:prstGeom prst="roundRect">
            <a:avLst/>
          </a:prstGeom>
          <a:solidFill>
            <a:srgbClr val="366EB4"/>
          </a:solidFill>
          <a:ln>
            <a:solidFill>
              <a:srgbClr val="3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31720" y="4507991"/>
            <a:ext cx="12344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102D44"/>
                </a:solidFill>
                <a:latin typeface="Aptos"/>
              </a:rPr>
              <a:t>IT load lag1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4526279"/>
            <a:ext cx="559612" cy="155448"/>
          </a:xfrm>
          <a:prstGeom prst="roundRect">
            <a:avLst/>
          </a:prstGeom>
          <a:solidFill>
            <a:srgbClr val="E2483E"/>
          </a:solidFill>
          <a:ln>
            <a:solidFill>
              <a:srgbClr val="E2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1664208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366EB4"/>
                </a:solidFill>
                <a:latin typeface="Aptos"/>
              </a:rPr>
              <a:t>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1993392"/>
            <a:ext cx="3291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02D44"/>
                </a:solidFill>
                <a:latin typeface="Aptos"/>
              </a:rPr>
              <a:t>¿Por qué el modelo predijo
este valor específico?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2880360"/>
            <a:ext cx="2743200" cy="164592"/>
          </a:xfrm>
          <a:prstGeom prst="roundRect">
            <a:avLst/>
          </a:prstGeom>
          <a:solidFill>
            <a:srgbClr val="DCE5E9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543800" y="2816352"/>
            <a:ext cx="1097280" cy="292608"/>
          </a:xfrm>
          <a:prstGeom prst="roundRect">
            <a:avLst/>
          </a:prstGeom>
          <a:solidFill>
            <a:srgbClr val="E2483E"/>
          </a:solidFill>
          <a:ln>
            <a:solidFill>
              <a:srgbClr val="E2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641080" y="2816352"/>
            <a:ext cx="658368" cy="292608"/>
          </a:xfrm>
          <a:prstGeom prst="roundRect">
            <a:avLst/>
          </a:prstGeom>
          <a:solidFill>
            <a:srgbClr val="366EB4"/>
          </a:solidFill>
          <a:ln>
            <a:solidFill>
              <a:srgbClr val="3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86600" y="3429000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5D717E"/>
                </a:solidFill>
                <a:latin typeface="Aptos"/>
              </a:rPr>
              <a:t>Observación 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160520"/>
            <a:ext cx="31089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102D44"/>
                </a:solidFill>
                <a:latin typeface="Aptos"/>
              </a:rPr>
              <a:t>GLOBAL = comportamiento del modelo
LOCAL = explicación de una predicción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1F30"/>
          </a:solidFill>
          <a:ln>
            <a:solidFill>
              <a:srgbClr val="08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8600" y="6547104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INGENIERÍA PGF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547104"/>
            <a:ext cx="4160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Paul Gálvez (Ingeniero Electrónico - USM)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01C0C5E1-F479-4C94-0D21-4C6DA7FE5C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416030" y="4798832"/>
            <a:ext cx="1078379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01168" y="164592"/>
            <a:ext cx="347472" cy="347472"/>
          </a:xfrm>
          <a:prstGeom prst="round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92024"/>
            <a:ext cx="34747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>
                <a:solidFill>
                  <a:srgbClr val="102D44"/>
                </a:solidFill>
                <a:latin typeface="Aptos Display"/>
              </a:rPr>
              <a:t>La Observación 21 explicada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12648"/>
            <a:ext cx="1069848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0" dirty="0">
                <a:solidFill>
                  <a:srgbClr val="5D717E"/>
                </a:solidFill>
                <a:latin typeface="Aptos"/>
              </a:rPr>
              <a:t>¿Por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qué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el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modelo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predijo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421,38 kW?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371600"/>
            <a:ext cx="2926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02D44"/>
                </a:solidFill>
                <a:latin typeface="Aptos"/>
              </a:rPr>
              <a:t>Contribución SHAP (kW)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828800"/>
            <a:ext cx="16002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80" b="0">
                <a:solidFill>
                  <a:srgbClr val="102D44"/>
                </a:solidFill>
                <a:latin typeface="Aptos"/>
              </a:rPr>
              <a:t>IT load kW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837943"/>
            <a:ext cx="3931920" cy="173736"/>
          </a:xfrm>
          <a:prstGeom prst="roundRect">
            <a:avLst/>
          </a:prstGeom>
          <a:solidFill>
            <a:srgbClr val="DCE5E9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94759" y="1833372"/>
            <a:ext cx="1965959" cy="205740"/>
          </a:xfrm>
          <a:prstGeom prst="roundRect">
            <a:avLst/>
          </a:prstGeom>
          <a:solidFill>
            <a:srgbClr val="E2483E"/>
          </a:solidFill>
          <a:ln>
            <a:solidFill>
              <a:srgbClr val="E2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45552" y="1828800"/>
            <a:ext cx="6400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1">
                <a:solidFill>
                  <a:srgbClr val="E2483E"/>
                </a:solidFill>
                <a:latin typeface="Aptos"/>
              </a:rPr>
              <a:t>-46.09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221992"/>
            <a:ext cx="16002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80" b="0">
                <a:solidFill>
                  <a:srgbClr val="102D44"/>
                </a:solidFill>
                <a:latin typeface="Aptos"/>
              </a:rPr>
              <a:t>HVAC kW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2231136"/>
            <a:ext cx="3931920" cy="173736"/>
          </a:xfrm>
          <a:prstGeom prst="roundRect">
            <a:avLst/>
          </a:prstGeom>
          <a:solidFill>
            <a:srgbClr val="DCE5E9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97018" y="2226564"/>
            <a:ext cx="663702" cy="182880"/>
          </a:xfrm>
          <a:prstGeom prst="roundRect">
            <a:avLst/>
          </a:prstGeom>
          <a:solidFill>
            <a:srgbClr val="E2483E"/>
          </a:solidFill>
          <a:ln>
            <a:solidFill>
              <a:srgbClr val="E2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45552" y="2221992"/>
            <a:ext cx="6400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1">
                <a:solidFill>
                  <a:srgbClr val="E2483E"/>
                </a:solidFill>
                <a:latin typeface="Aptos"/>
              </a:rPr>
              <a:t>-8.71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615184"/>
            <a:ext cx="16002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80" b="0">
                <a:solidFill>
                  <a:srgbClr val="102D44"/>
                </a:solidFill>
                <a:latin typeface="Aptos"/>
              </a:rPr>
              <a:t>Hour cos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2624328"/>
            <a:ext cx="3931920" cy="173736"/>
          </a:xfrm>
          <a:prstGeom prst="roundRect">
            <a:avLst/>
          </a:prstGeom>
          <a:solidFill>
            <a:srgbClr val="DCE5E9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682234" y="2619756"/>
            <a:ext cx="78486" cy="182880"/>
          </a:xfrm>
          <a:prstGeom prst="roundRect">
            <a:avLst/>
          </a:prstGeom>
          <a:solidFill>
            <a:srgbClr val="E2483E"/>
          </a:solidFill>
          <a:ln>
            <a:solidFill>
              <a:srgbClr val="E2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45552" y="2615184"/>
            <a:ext cx="6400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1">
                <a:solidFill>
                  <a:srgbClr val="E2483E"/>
                </a:solidFill>
                <a:latin typeface="Aptos"/>
              </a:rPr>
              <a:t>-1.03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3008376"/>
            <a:ext cx="16002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80" b="0">
                <a:solidFill>
                  <a:srgbClr val="102D44"/>
                </a:solidFill>
                <a:latin typeface="Aptos"/>
              </a:rPr>
              <a:t>IT load kW lag1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94760" y="3017520"/>
            <a:ext cx="3931920" cy="173736"/>
          </a:xfrm>
          <a:prstGeom prst="roundRect">
            <a:avLst/>
          </a:prstGeom>
          <a:solidFill>
            <a:srgbClr val="DCE5E9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664707" y="3012948"/>
            <a:ext cx="96012" cy="182880"/>
          </a:xfrm>
          <a:prstGeom prst="roundRect">
            <a:avLst/>
          </a:prstGeom>
          <a:solidFill>
            <a:srgbClr val="E2483E"/>
          </a:solidFill>
          <a:ln>
            <a:solidFill>
              <a:srgbClr val="E2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45552" y="3008376"/>
            <a:ext cx="6400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1">
                <a:solidFill>
                  <a:srgbClr val="E2483E"/>
                </a:solidFill>
                <a:latin typeface="Aptos"/>
              </a:rPr>
              <a:t>-1.26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3401568"/>
            <a:ext cx="16002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80" b="0">
                <a:solidFill>
                  <a:srgbClr val="102D44"/>
                </a:solidFill>
                <a:latin typeface="Aptos"/>
              </a:rPr>
              <a:t>Hour sin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94760" y="3410712"/>
            <a:ext cx="3931920" cy="173736"/>
          </a:xfrm>
          <a:prstGeom prst="roundRect">
            <a:avLst/>
          </a:prstGeom>
          <a:solidFill>
            <a:srgbClr val="DCE5E9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760720" y="3406140"/>
            <a:ext cx="86867" cy="182880"/>
          </a:xfrm>
          <a:prstGeom prst="roundRect">
            <a:avLst/>
          </a:prstGeom>
          <a:solidFill>
            <a:srgbClr val="366EB4"/>
          </a:solidFill>
          <a:ln>
            <a:solidFill>
              <a:srgbClr val="3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45552" y="3401568"/>
            <a:ext cx="6400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1">
                <a:solidFill>
                  <a:srgbClr val="366EB4"/>
                </a:solidFill>
                <a:latin typeface="Aptos"/>
              </a:rPr>
              <a:t>+1.14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3794760"/>
            <a:ext cx="16002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80" b="0">
                <a:solidFill>
                  <a:srgbClr val="102D44"/>
                </a:solidFill>
                <a:latin typeface="Aptos"/>
              </a:rPr>
              <a:t>Weekday sin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94760" y="3803904"/>
            <a:ext cx="3931920" cy="173736"/>
          </a:xfrm>
          <a:prstGeom prst="roundRect">
            <a:avLst/>
          </a:prstGeom>
          <a:solidFill>
            <a:srgbClr val="DCE5E9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760720" y="3799332"/>
            <a:ext cx="28194" cy="182880"/>
          </a:xfrm>
          <a:prstGeom prst="roundRect">
            <a:avLst/>
          </a:prstGeom>
          <a:solidFill>
            <a:srgbClr val="366EB4"/>
          </a:solidFill>
          <a:ln>
            <a:solidFill>
              <a:srgbClr val="3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45552" y="3794760"/>
            <a:ext cx="6400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1">
                <a:solidFill>
                  <a:srgbClr val="366EB4"/>
                </a:solidFill>
                <a:latin typeface="Aptos"/>
              </a:rPr>
              <a:t>+0.37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4187952"/>
            <a:ext cx="16002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80" b="0">
                <a:solidFill>
                  <a:srgbClr val="102D44"/>
                </a:solidFill>
                <a:latin typeface="Aptos"/>
              </a:rPr>
              <a:t>IT load kW roll3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94760" y="4197096"/>
            <a:ext cx="3931920" cy="173736"/>
          </a:xfrm>
          <a:prstGeom prst="roundRect">
            <a:avLst/>
          </a:prstGeom>
          <a:solidFill>
            <a:srgbClr val="DCE5E9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711951" y="4192524"/>
            <a:ext cx="48768" cy="182880"/>
          </a:xfrm>
          <a:prstGeom prst="roundRect">
            <a:avLst/>
          </a:prstGeom>
          <a:solidFill>
            <a:srgbClr val="E2483E"/>
          </a:solidFill>
          <a:ln>
            <a:solidFill>
              <a:srgbClr val="E2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45552" y="4187952"/>
            <a:ext cx="6400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1">
                <a:solidFill>
                  <a:srgbClr val="E2483E"/>
                </a:solidFill>
                <a:latin typeface="Aptos"/>
              </a:rPr>
              <a:t>-0.64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48840" y="4581144"/>
            <a:ext cx="16002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80" b="0">
                <a:solidFill>
                  <a:srgbClr val="102D44"/>
                </a:solidFill>
                <a:latin typeface="Aptos"/>
              </a:rPr>
              <a:t>Temperature 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94760" y="4590288"/>
            <a:ext cx="3931920" cy="173736"/>
          </a:xfrm>
          <a:prstGeom prst="roundRect">
            <a:avLst/>
          </a:prstGeom>
          <a:solidFill>
            <a:srgbClr val="DCE5E9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760720" y="4585716"/>
            <a:ext cx="31241" cy="182880"/>
          </a:xfrm>
          <a:prstGeom prst="roundRect">
            <a:avLst/>
          </a:prstGeom>
          <a:solidFill>
            <a:srgbClr val="366EB4"/>
          </a:solidFill>
          <a:ln>
            <a:solidFill>
              <a:srgbClr val="3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45552" y="4581144"/>
            <a:ext cx="6400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1">
                <a:solidFill>
                  <a:srgbClr val="366EB4"/>
                </a:solidFill>
                <a:latin typeface="Aptos"/>
              </a:rPr>
              <a:t>+0.41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48840" y="4974336"/>
            <a:ext cx="16002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80" b="0">
                <a:solidFill>
                  <a:srgbClr val="102D44"/>
                </a:solidFill>
                <a:latin typeface="Aptos"/>
              </a:rPr>
              <a:t>Total consumption kW lag1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794760" y="4983479"/>
            <a:ext cx="3931920" cy="173736"/>
          </a:xfrm>
          <a:prstGeom prst="roundRect">
            <a:avLst/>
          </a:prstGeom>
          <a:solidFill>
            <a:srgbClr val="DCE5E9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734050" y="4978907"/>
            <a:ext cx="26669" cy="182880"/>
          </a:xfrm>
          <a:prstGeom prst="roundRect">
            <a:avLst/>
          </a:prstGeom>
          <a:solidFill>
            <a:srgbClr val="E2483E"/>
          </a:solidFill>
          <a:ln>
            <a:solidFill>
              <a:srgbClr val="E2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45552" y="4974336"/>
            <a:ext cx="6400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1">
                <a:solidFill>
                  <a:srgbClr val="E2483E"/>
                </a:solidFill>
                <a:latin typeface="Aptos"/>
              </a:rPr>
              <a:t>-0.35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48840" y="5367527"/>
            <a:ext cx="16002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80" b="0">
                <a:solidFill>
                  <a:srgbClr val="102D44"/>
                </a:solidFill>
                <a:latin typeface="Aptos"/>
              </a:rPr>
              <a:t>Weekday cos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94760" y="5376671"/>
            <a:ext cx="3931920" cy="173736"/>
          </a:xfrm>
          <a:prstGeom prst="roundRect">
            <a:avLst/>
          </a:prstGeom>
          <a:solidFill>
            <a:srgbClr val="DCE5E9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760720" y="5372099"/>
            <a:ext cx="18288" cy="182880"/>
          </a:xfrm>
          <a:prstGeom prst="roundRect">
            <a:avLst/>
          </a:prstGeom>
          <a:solidFill>
            <a:srgbClr val="366EB4"/>
          </a:solidFill>
          <a:ln>
            <a:solidFill>
              <a:srgbClr val="3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45552" y="5367527"/>
            <a:ext cx="6400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1">
                <a:solidFill>
                  <a:srgbClr val="366EB4"/>
                </a:solidFill>
                <a:latin typeface="Aptos"/>
              </a:rPr>
              <a:t>+0.24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87369" y="5806440"/>
            <a:ext cx="4981595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587369" y="5862505"/>
            <a:ext cx="4981595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dirty="0">
                <a:solidFill>
                  <a:srgbClr val="102D44"/>
                </a:solidFill>
                <a:latin typeface="Aptos"/>
              </a:rPr>
              <a:t>Suma de </a:t>
            </a:r>
            <a:r>
              <a:rPr sz="2000" b="1" dirty="0" err="1">
                <a:solidFill>
                  <a:srgbClr val="102D44"/>
                </a:solidFill>
                <a:latin typeface="Aptos"/>
              </a:rPr>
              <a:t>aportes</a:t>
            </a:r>
            <a:r>
              <a:rPr sz="2000" b="1" dirty="0">
                <a:solidFill>
                  <a:srgbClr val="102D44"/>
                </a:solidFill>
                <a:latin typeface="Aptos"/>
              </a:rPr>
              <a:t> + valor base = 421,38 kW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1F30"/>
          </a:solidFill>
          <a:ln>
            <a:solidFill>
              <a:srgbClr val="08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28600" y="6547104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INGENIERÍA PGF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6547104"/>
            <a:ext cx="4160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Paul Gálvez (Ingeniero Electrónico - USM)</a:t>
            </a:r>
          </a:p>
        </p:txBody>
      </p:sp>
      <p:pic>
        <p:nvPicPr>
          <p:cNvPr id="56" name="Imagen 55">
            <a:extLst>
              <a:ext uri="{FF2B5EF4-FFF2-40B4-BE49-F238E27FC236}">
                <a16:creationId xmlns:a16="http://schemas.microsoft.com/office/drawing/2014/main" id="{B2FDFDF3-5FD2-B10B-D3BA-CEFCD5744C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416030" y="4798832"/>
            <a:ext cx="1078379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01168" y="164592"/>
            <a:ext cx="347472" cy="347472"/>
          </a:xfrm>
          <a:prstGeom prst="round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92024"/>
            <a:ext cx="34747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>
                <a:solidFill>
                  <a:srgbClr val="102D44"/>
                </a:solidFill>
                <a:latin typeface="Aptos Display"/>
              </a:rPr>
              <a:t>De explicación a escenario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12648"/>
            <a:ext cx="1069848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0" dirty="0">
                <a:solidFill>
                  <a:srgbClr val="5D717E"/>
                </a:solidFill>
                <a:latin typeface="Aptos"/>
              </a:rPr>
              <a:t>La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explicación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guía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la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exploración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2240280" y="2148840"/>
            <a:ext cx="777240" cy="77724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03120" y="3154680"/>
            <a:ext cx="1755812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188297"/>
                </a:solidFill>
                <a:latin typeface="Aptos"/>
              </a:rPr>
              <a:t>PREDICCIÓN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79" y="3520440"/>
            <a:ext cx="2061171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0">
                <a:solidFill>
                  <a:srgbClr val="102D44"/>
                </a:solidFill>
                <a:latin typeface="Aptos"/>
              </a:rPr>
              <a:t>Modelo estima
el consumo</a:t>
            </a:r>
          </a:p>
        </p:txBody>
      </p:sp>
      <p:sp>
        <p:nvSpPr>
          <p:cNvPr id="14" name="Oval 13"/>
          <p:cNvSpPr/>
          <p:nvPr/>
        </p:nvSpPr>
        <p:spPr>
          <a:xfrm>
            <a:off x="4480560" y="2148840"/>
            <a:ext cx="777240" cy="77724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3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400" y="3154680"/>
            <a:ext cx="1755812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366EB4"/>
                </a:solidFill>
                <a:latin typeface="Aptos"/>
              </a:rPr>
              <a:t>EXPLICACIÓN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3520440"/>
            <a:ext cx="2061171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0">
                <a:solidFill>
                  <a:srgbClr val="102D44"/>
                </a:solidFill>
                <a:latin typeface="Aptos"/>
              </a:rPr>
              <a:t>SHAP muestra
qué lo impulsa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148840"/>
            <a:ext cx="777240" cy="77724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3154680"/>
            <a:ext cx="1755812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79B12D"/>
                </a:solidFill>
                <a:latin typeface="Aptos"/>
              </a:rPr>
              <a:t>ESCENARIO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39" y="3520440"/>
            <a:ext cx="2061171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0">
                <a:solidFill>
                  <a:srgbClr val="102D44"/>
                </a:solidFill>
                <a:latin typeface="Aptos"/>
              </a:rPr>
              <a:t>Probamos
alternativas</a:t>
            </a:r>
          </a:p>
        </p:txBody>
      </p:sp>
      <p:sp>
        <p:nvSpPr>
          <p:cNvPr id="24" name="Oval 23"/>
          <p:cNvSpPr/>
          <p:nvPr/>
        </p:nvSpPr>
        <p:spPr>
          <a:xfrm>
            <a:off x="8961120" y="2148840"/>
            <a:ext cx="777240" cy="77724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0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23960" y="3154680"/>
            <a:ext cx="1755812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102D44"/>
                </a:solidFill>
                <a:latin typeface="Aptos"/>
              </a:rPr>
              <a:t>DECISIÓN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19" y="3520440"/>
            <a:ext cx="2061171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0">
                <a:solidFill>
                  <a:srgbClr val="102D44"/>
                </a:solidFill>
                <a:latin typeface="Aptos"/>
              </a:rPr>
              <a:t>Elegimos la
mejor opción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31720" y="4892040"/>
            <a:ext cx="8229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000" dirty="0"/>
          </a:p>
        </p:txBody>
      </p:sp>
      <p:sp>
        <p:nvSpPr>
          <p:cNvPr id="29" name="TextBox 28"/>
          <p:cNvSpPr txBox="1"/>
          <p:nvPr/>
        </p:nvSpPr>
        <p:spPr>
          <a:xfrm>
            <a:off x="2606040" y="4935949"/>
            <a:ext cx="7680960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dirty="0">
                <a:solidFill>
                  <a:srgbClr val="102D44"/>
                </a:solidFill>
                <a:latin typeface="Aptos"/>
              </a:rPr>
              <a:t>La explicabilidad </a:t>
            </a:r>
            <a:r>
              <a:rPr sz="2000" b="1" dirty="0" err="1">
                <a:solidFill>
                  <a:srgbClr val="102D44"/>
                </a:solidFill>
                <a:latin typeface="Aptos"/>
              </a:rPr>
              <a:t>permite</a:t>
            </a:r>
            <a:r>
              <a:rPr sz="2000" b="1" dirty="0">
                <a:solidFill>
                  <a:srgbClr val="102D44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02D44"/>
                </a:solidFill>
                <a:latin typeface="Aptos"/>
              </a:rPr>
              <a:t>probar</a:t>
            </a:r>
            <a:r>
              <a:rPr sz="2000" b="1" dirty="0">
                <a:solidFill>
                  <a:srgbClr val="102D44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02D44"/>
                </a:solidFill>
                <a:latin typeface="Aptos"/>
              </a:rPr>
              <a:t>escenarios</a:t>
            </a:r>
            <a:r>
              <a:rPr sz="2000" b="1" dirty="0">
                <a:solidFill>
                  <a:srgbClr val="102D44"/>
                </a:solidFill>
                <a:latin typeface="Aptos"/>
              </a:rPr>
              <a:t> con mayor confianza y </a:t>
            </a:r>
            <a:r>
              <a:rPr sz="2000" b="1" dirty="0" err="1">
                <a:solidFill>
                  <a:srgbClr val="102D44"/>
                </a:solidFill>
                <a:latin typeface="Aptos"/>
              </a:rPr>
              <a:t>foco</a:t>
            </a:r>
            <a:r>
              <a:rPr sz="2000" b="1" dirty="0">
                <a:solidFill>
                  <a:srgbClr val="102D44"/>
                </a:solidFill>
                <a:latin typeface="Aptos"/>
              </a:rPr>
              <a:t> en lo </a:t>
            </a:r>
            <a:r>
              <a:rPr sz="2000" b="1" dirty="0" err="1">
                <a:solidFill>
                  <a:srgbClr val="102D44"/>
                </a:solidFill>
                <a:latin typeface="Aptos"/>
              </a:rPr>
              <a:t>que</a:t>
            </a:r>
            <a:r>
              <a:rPr sz="2000" b="1" dirty="0">
                <a:solidFill>
                  <a:srgbClr val="102D44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02D44"/>
                </a:solidFill>
                <a:latin typeface="Aptos"/>
              </a:rPr>
              <a:t>realmente</a:t>
            </a:r>
            <a:r>
              <a:rPr sz="2000" b="1" dirty="0">
                <a:solidFill>
                  <a:srgbClr val="102D44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02D44"/>
                </a:solidFill>
                <a:latin typeface="Aptos"/>
              </a:rPr>
              <a:t>importa</a:t>
            </a:r>
            <a:r>
              <a:rPr sz="2000" b="1" dirty="0">
                <a:solidFill>
                  <a:srgbClr val="102D44"/>
                </a:solidFill>
                <a:latin typeface="Aptos"/>
              </a:rPr>
              <a:t>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1F30"/>
          </a:solidFill>
          <a:ln>
            <a:solidFill>
              <a:srgbClr val="08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8600" y="6547104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INGENIERÍA PGF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547104"/>
            <a:ext cx="4160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Paul Gálvez (Ingeniero Electrónico - USM)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16D96B80-A37A-6233-4952-367261E2571E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017520" y="2537460"/>
            <a:ext cx="14630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EEEF16B8-3D06-C8FC-3605-133896D9F143}"/>
              </a:ext>
            </a:extLst>
          </p:cNvPr>
          <p:cNvCxnSpPr>
            <a:stCxn id="14" idx="6"/>
            <a:endCxn id="19" idx="2"/>
          </p:cNvCxnSpPr>
          <p:nvPr/>
        </p:nvCxnSpPr>
        <p:spPr>
          <a:xfrm>
            <a:off x="5257800" y="2537460"/>
            <a:ext cx="14630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801BD28F-E6BD-C8A7-0F72-9D2F4E636978}"/>
              </a:ext>
            </a:extLst>
          </p:cNvPr>
          <p:cNvCxnSpPr>
            <a:stCxn id="19" idx="6"/>
            <a:endCxn id="24" idx="2"/>
          </p:cNvCxnSpPr>
          <p:nvPr/>
        </p:nvCxnSpPr>
        <p:spPr>
          <a:xfrm>
            <a:off x="7498080" y="2537460"/>
            <a:ext cx="14630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Gráfico 39" descr="Futuro con relleno sólido">
            <a:extLst>
              <a:ext uri="{FF2B5EF4-FFF2-40B4-BE49-F238E27FC236}">
                <a16:creationId xmlns:a16="http://schemas.microsoft.com/office/drawing/2014/main" id="{95063108-7FCF-2F0E-1B64-F5891A363C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71700" y="2075688"/>
            <a:ext cx="914400" cy="914400"/>
          </a:xfrm>
          <a:prstGeom prst="rect">
            <a:avLst/>
          </a:prstGeom>
        </p:spPr>
      </p:pic>
      <p:pic>
        <p:nvPicPr>
          <p:cNvPr id="42" name="Gráfico 41" descr="Maestro con relleno sólido">
            <a:extLst>
              <a:ext uri="{FF2B5EF4-FFF2-40B4-BE49-F238E27FC236}">
                <a16:creationId xmlns:a16="http://schemas.microsoft.com/office/drawing/2014/main" id="{23D167EC-2336-99EB-243D-A06178589D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3400" y="2114551"/>
            <a:ext cx="914400" cy="914400"/>
          </a:xfrm>
          <a:prstGeom prst="rect">
            <a:avLst/>
          </a:prstGeom>
        </p:spPr>
      </p:pic>
      <p:pic>
        <p:nvPicPr>
          <p:cNvPr id="44" name="Gráfico 43" descr="Configuración con relleno sólido">
            <a:extLst>
              <a:ext uri="{FF2B5EF4-FFF2-40B4-BE49-F238E27FC236}">
                <a16:creationId xmlns:a16="http://schemas.microsoft.com/office/drawing/2014/main" id="{CCFE243D-64C4-C99F-D7D9-64D9411DC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2260" y="2114551"/>
            <a:ext cx="914400" cy="914400"/>
          </a:xfrm>
          <a:prstGeom prst="rect">
            <a:avLst/>
          </a:prstGeom>
        </p:spPr>
      </p:pic>
      <p:pic>
        <p:nvPicPr>
          <p:cNvPr id="46" name="Gráfico 45" descr="Tabla de decisiones con relleno sólido">
            <a:extLst>
              <a:ext uri="{FF2B5EF4-FFF2-40B4-BE49-F238E27FC236}">
                <a16:creationId xmlns:a16="http://schemas.microsoft.com/office/drawing/2014/main" id="{60E2705E-BA6F-0C59-1A97-3A1CE976C5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2540" y="2099349"/>
            <a:ext cx="914400" cy="914400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97B79C68-0C75-DA08-11B4-11A6A98804B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416030" y="4798832"/>
            <a:ext cx="1078379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n 35">
            <a:extLst>
              <a:ext uri="{FF2B5EF4-FFF2-40B4-BE49-F238E27FC236}">
                <a16:creationId xmlns:a16="http://schemas.microsoft.com/office/drawing/2014/main" id="{751CEAE3-6FB4-551B-9E5A-970B8E96C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177" y="1251043"/>
            <a:ext cx="1440000" cy="1440000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9F6BA19E-3EDC-DE50-9750-19DF85A8D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698" y="1267284"/>
            <a:ext cx="1440000" cy="1440000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2A055337-127D-C3C3-3B4B-1E98D0D69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3219" y="1316916"/>
            <a:ext cx="1440000" cy="1440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01168" y="164592"/>
            <a:ext cx="347472" cy="347472"/>
          </a:xfrm>
          <a:prstGeom prst="round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92024"/>
            <a:ext cx="34747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>
                <a:solidFill>
                  <a:srgbClr val="102D44"/>
                </a:solidFill>
                <a:latin typeface="Aptos Display"/>
              </a:rPr>
              <a:t>ML + XAI + Ingeniería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12648"/>
            <a:ext cx="1069848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0" dirty="0" err="1">
                <a:solidFill>
                  <a:srgbClr val="5D717E"/>
                </a:solidFill>
                <a:latin typeface="Aptos"/>
              </a:rPr>
              <a:t>Predicción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útil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solo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cuando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es interpretable y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accionable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2377440" y="2597557"/>
            <a:ext cx="1051560" cy="105156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95728" y="2707285"/>
            <a:ext cx="1014983" cy="94183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188297"/>
                </a:solidFill>
                <a:latin typeface="Aptos"/>
              </a:rPr>
              <a:t>ML</a:t>
            </a:r>
          </a:p>
        </p:txBody>
      </p:sp>
      <p:sp>
        <p:nvSpPr>
          <p:cNvPr id="11" name="Oval 10"/>
          <p:cNvSpPr/>
          <p:nvPr/>
        </p:nvSpPr>
        <p:spPr>
          <a:xfrm>
            <a:off x="5074920" y="2597557"/>
            <a:ext cx="1051560" cy="105156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3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93207" y="2707285"/>
            <a:ext cx="1014983" cy="94183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366EB4"/>
                </a:solidFill>
                <a:latin typeface="Aptos"/>
              </a:rPr>
              <a:t>XAI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2597557"/>
            <a:ext cx="1051560" cy="105156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2707285"/>
            <a:ext cx="1014983" cy="94183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79B12D"/>
                </a:solidFill>
                <a:latin typeface="Aptos"/>
              </a:rPr>
              <a:t>DEC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877717"/>
            <a:ext cx="1508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188297"/>
                </a:solidFill>
                <a:latin typeface="Aptos"/>
              </a:rPr>
              <a:t>PREDICE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877717"/>
            <a:ext cx="1508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366EB4"/>
                </a:solidFill>
                <a:latin typeface="Aptos"/>
              </a:rPr>
              <a:t>EXPLICA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877717"/>
            <a:ext cx="16916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79B12D"/>
                </a:solidFill>
                <a:latin typeface="Aptos"/>
              </a:rPr>
              <a:t>MEJORA EL
DESEMPEÑO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4572000"/>
            <a:ext cx="6995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0" y="4773168"/>
            <a:ext cx="6537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102D44"/>
                </a:solidFill>
                <a:latin typeface="Aptos"/>
              </a:rPr>
              <a:t>No se trata solo de predecir bien, sino de comprender y actuar mejor.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1F30"/>
          </a:solidFill>
          <a:ln>
            <a:solidFill>
              <a:srgbClr val="08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8600" y="6547104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INGENIERÍA PGF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547104"/>
            <a:ext cx="4160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Paul Gálvez (Ingeniero Electrónico - USM)</a:t>
            </a:r>
          </a:p>
        </p:txBody>
      </p:sp>
      <p:sp>
        <p:nvSpPr>
          <p:cNvPr id="37" name="Signo más 36">
            <a:extLst>
              <a:ext uri="{FF2B5EF4-FFF2-40B4-BE49-F238E27FC236}">
                <a16:creationId xmlns:a16="http://schemas.microsoft.com/office/drawing/2014/main" id="{4C60380B-D34A-5ECA-8A90-E7AC0154ECD8}"/>
              </a:ext>
            </a:extLst>
          </p:cNvPr>
          <p:cNvSpPr/>
          <p:nvPr/>
        </p:nvSpPr>
        <p:spPr>
          <a:xfrm>
            <a:off x="3892048" y="2861809"/>
            <a:ext cx="720000" cy="720000"/>
          </a:xfrm>
          <a:prstGeom prst="math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8" name="Es igual a 37">
            <a:extLst>
              <a:ext uri="{FF2B5EF4-FFF2-40B4-BE49-F238E27FC236}">
                <a16:creationId xmlns:a16="http://schemas.microsoft.com/office/drawing/2014/main" id="{E9D87FC6-A5CC-F0A7-82C3-C567CCBA3D52}"/>
              </a:ext>
            </a:extLst>
          </p:cNvPr>
          <p:cNvSpPr/>
          <p:nvPr/>
        </p:nvSpPr>
        <p:spPr>
          <a:xfrm>
            <a:off x="6589440" y="2861809"/>
            <a:ext cx="720000" cy="720000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CFD0BC09-4448-07D1-3D62-A5E57F408B5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416030" y="4798832"/>
            <a:ext cx="1078379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01168" y="164592"/>
            <a:ext cx="347472" cy="347472"/>
          </a:xfrm>
          <a:prstGeom prst="round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92024"/>
            <a:ext cx="34747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>
                <a:solidFill>
                  <a:srgbClr val="102D44"/>
                </a:solidFill>
                <a:latin typeface="Aptos Display"/>
              </a:rPr>
              <a:t>¿Dónde estamos en Chile?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12648"/>
            <a:ext cx="1069848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0" dirty="0" err="1">
                <a:solidFill>
                  <a:srgbClr val="5D717E"/>
                </a:solidFill>
                <a:latin typeface="Aptos"/>
              </a:rPr>
              <a:t>Investigación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activa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,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adopción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incipiente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508760"/>
            <a:ext cx="612648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48840" y="1508760"/>
            <a:ext cx="64008" cy="1097280"/>
          </a:xfrm>
          <a:prstGeom prst="roundRect">
            <a:avLst/>
          </a:prstGeom>
          <a:solidFill>
            <a:srgbClr val="188297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13432" y="1645919"/>
            <a:ext cx="58521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5D717E"/>
                </a:solidFill>
                <a:latin typeface="Aptos"/>
              </a:rPr>
              <a:t>INVESTIGACIÓN / ACADÉMICO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2020824"/>
            <a:ext cx="5852160" cy="8586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dirty="0" err="1">
                <a:solidFill>
                  <a:srgbClr val="102D44"/>
                </a:solidFill>
                <a:latin typeface="Aptos"/>
              </a:rPr>
              <a:t>Universidades</a:t>
            </a:r>
            <a:r>
              <a:rPr sz="1700" b="0" dirty="0">
                <a:solidFill>
                  <a:srgbClr val="102D44"/>
                </a:solidFill>
                <a:latin typeface="Aptos"/>
              </a:rPr>
              <a:t> </a:t>
            </a:r>
            <a:r>
              <a:rPr lang="es-ES" sz="1700" b="0" dirty="0">
                <a:solidFill>
                  <a:srgbClr val="102D44"/>
                </a:solidFill>
                <a:latin typeface="Aptos"/>
              </a:rPr>
              <a:t>(USM, </a:t>
            </a:r>
            <a:r>
              <a:rPr lang="es-ES" sz="1700" b="0" dirty="0" err="1">
                <a:solidFill>
                  <a:srgbClr val="102D44"/>
                </a:solidFill>
                <a:latin typeface="Aptos"/>
              </a:rPr>
              <a:t>UdeC</a:t>
            </a:r>
            <a:r>
              <a:rPr lang="es-ES" sz="1700" b="0" dirty="0">
                <a:solidFill>
                  <a:srgbClr val="102D44"/>
                </a:solidFill>
                <a:latin typeface="Aptos"/>
              </a:rPr>
              <a:t> Usach) </a:t>
            </a:r>
            <a:r>
              <a:rPr sz="1700" b="0" dirty="0" err="1">
                <a:solidFill>
                  <a:srgbClr val="102D44"/>
                </a:solidFill>
                <a:latin typeface="Aptos"/>
              </a:rPr>
              <a:t>trabajan</a:t>
            </a:r>
            <a:r>
              <a:rPr sz="1700" b="0" dirty="0">
                <a:solidFill>
                  <a:srgbClr val="102D44"/>
                </a:solidFill>
                <a:latin typeface="Aptos"/>
              </a:rPr>
              <a:t> en </a:t>
            </a:r>
            <a:r>
              <a:rPr sz="1700" b="0" dirty="0" err="1">
                <a:solidFill>
                  <a:srgbClr val="102D44"/>
                </a:solidFill>
                <a:latin typeface="Aptos"/>
              </a:rPr>
              <a:t>modelamiento</a:t>
            </a:r>
            <a:r>
              <a:rPr sz="1700" b="0" dirty="0">
                <a:solidFill>
                  <a:srgbClr val="102D44"/>
                </a:solidFill>
                <a:latin typeface="Aptos"/>
              </a:rPr>
              <a:t> del SEN</a:t>
            </a:r>
            <a:r>
              <a:rPr lang="es-ES" sz="1700" b="0" dirty="0">
                <a:solidFill>
                  <a:srgbClr val="102D44"/>
                </a:solidFill>
                <a:latin typeface="Aptos"/>
              </a:rPr>
              <a:t> (antes SIC – SING)</a:t>
            </a:r>
            <a:r>
              <a:rPr sz="1700" b="0" dirty="0">
                <a:solidFill>
                  <a:srgbClr val="102D44"/>
                </a:solidFill>
                <a:latin typeface="Aptos"/>
              </a:rPr>
              <a:t>, </a:t>
            </a:r>
            <a:r>
              <a:rPr sz="1700" b="0" dirty="0" err="1">
                <a:solidFill>
                  <a:srgbClr val="102D44"/>
                </a:solidFill>
                <a:latin typeface="Aptos"/>
              </a:rPr>
              <a:t>predicción</a:t>
            </a:r>
            <a:r>
              <a:rPr sz="1700" b="0" dirty="0">
                <a:solidFill>
                  <a:srgbClr val="102D44"/>
                </a:solidFill>
                <a:latin typeface="Aptos"/>
              </a:rPr>
              <a:t> de </a:t>
            </a:r>
            <a:r>
              <a:rPr sz="1700" b="0" dirty="0" err="1">
                <a:solidFill>
                  <a:srgbClr val="102D44"/>
                </a:solidFill>
                <a:latin typeface="Aptos"/>
              </a:rPr>
              <a:t>procesos</a:t>
            </a:r>
            <a:r>
              <a:rPr sz="1700" b="0" dirty="0">
                <a:solidFill>
                  <a:srgbClr val="102D44"/>
                </a:solidFill>
                <a:latin typeface="Aptos"/>
              </a:rPr>
              <a:t>, </a:t>
            </a:r>
            <a:r>
              <a:rPr sz="1700" b="0" dirty="0" err="1">
                <a:solidFill>
                  <a:srgbClr val="102D44"/>
                </a:solidFill>
                <a:latin typeface="Aptos"/>
              </a:rPr>
              <a:t>integración</a:t>
            </a:r>
            <a:r>
              <a:rPr sz="1700" b="0" dirty="0">
                <a:solidFill>
                  <a:srgbClr val="102D44"/>
                </a:solidFill>
                <a:latin typeface="Aptos"/>
              </a:rPr>
              <a:t> de </a:t>
            </a:r>
            <a:r>
              <a:rPr sz="1700" b="0" dirty="0" err="1">
                <a:solidFill>
                  <a:srgbClr val="102D44"/>
                </a:solidFill>
                <a:latin typeface="Aptos"/>
              </a:rPr>
              <a:t>renovables</a:t>
            </a:r>
            <a:r>
              <a:rPr sz="1700" b="0" dirty="0">
                <a:solidFill>
                  <a:srgbClr val="102D44"/>
                </a:solidFill>
                <a:latin typeface="Aptos"/>
              </a:rPr>
              <a:t> y </a:t>
            </a:r>
            <a:r>
              <a:rPr sz="1700" b="0" dirty="0" err="1">
                <a:solidFill>
                  <a:srgbClr val="102D44"/>
                </a:solidFill>
                <a:latin typeface="Aptos"/>
              </a:rPr>
              <a:t>eficiencia</a:t>
            </a:r>
            <a:r>
              <a:rPr sz="1700" b="0" dirty="0">
                <a:solidFill>
                  <a:srgbClr val="102D44"/>
                </a:solidFill>
                <a:latin typeface="Aptos"/>
              </a:rPr>
              <a:t> industrial.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3894509"/>
            <a:ext cx="6126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148840" y="3894509"/>
            <a:ext cx="64008" cy="1097280"/>
          </a:xfrm>
          <a:prstGeom prst="round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13432" y="4031669"/>
            <a:ext cx="58521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5D717E"/>
                </a:solidFill>
                <a:latin typeface="Aptos"/>
              </a:rPr>
              <a:t>INDUSTRIA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3432" y="4406573"/>
            <a:ext cx="5852160" cy="4754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102D44"/>
                </a:solidFill>
                <a:latin typeface="Aptos"/>
              </a:rPr>
              <a:t>Empresas eléctricas incorporan IA y analítica de datos, pero el uso formal de XAI/SHAP aún es limitado.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2149" y="612648"/>
            <a:ext cx="3050771" cy="5432384"/>
          </a:xfrm>
          <a:prstGeom prst="roundRect">
            <a:avLst>
              <a:gd name="adj" fmla="val 8324"/>
            </a:avLst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02917" y="331185"/>
            <a:ext cx="1009234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dirty="0">
                <a:solidFill>
                  <a:srgbClr val="102D44"/>
                </a:solidFill>
                <a:latin typeface="Aptos"/>
              </a:rPr>
              <a:t>CHILE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1885" y="5407397"/>
            <a:ext cx="2170264" cy="6509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50" b="1" dirty="0" err="1">
                <a:solidFill>
                  <a:srgbClr val="102D44"/>
                </a:solidFill>
                <a:latin typeface="Aptos"/>
              </a:rPr>
              <a:t>Vacío</a:t>
            </a:r>
            <a:r>
              <a:rPr sz="1250" b="1" dirty="0">
                <a:solidFill>
                  <a:srgbClr val="102D44"/>
                </a:solidFill>
                <a:latin typeface="Aptos"/>
              </a:rPr>
              <a:t> de </a:t>
            </a:r>
            <a:r>
              <a:rPr sz="1250" b="1" dirty="0" err="1">
                <a:solidFill>
                  <a:srgbClr val="102D44"/>
                </a:solidFill>
                <a:latin typeface="Aptos"/>
              </a:rPr>
              <a:t>integración</a:t>
            </a:r>
            <a:r>
              <a:rPr sz="1250" b="1" dirty="0">
                <a:solidFill>
                  <a:srgbClr val="102D44"/>
                </a:solidFill>
                <a:latin typeface="Aptos"/>
              </a:rPr>
              <a:t>
entre </a:t>
            </a:r>
            <a:r>
              <a:rPr sz="1250" b="1" dirty="0" err="1">
                <a:solidFill>
                  <a:srgbClr val="102D44"/>
                </a:solidFill>
                <a:latin typeface="Aptos"/>
              </a:rPr>
              <a:t>ciencia</a:t>
            </a:r>
            <a:r>
              <a:rPr sz="1250" b="1" dirty="0">
                <a:solidFill>
                  <a:srgbClr val="102D44"/>
                </a:solidFill>
                <a:latin typeface="Aptos"/>
              </a:rPr>
              <a:t> de datos y
</a:t>
            </a:r>
            <a:r>
              <a:rPr sz="1250" b="1" dirty="0" err="1">
                <a:solidFill>
                  <a:srgbClr val="102D44"/>
                </a:solidFill>
                <a:latin typeface="Aptos"/>
              </a:rPr>
              <a:t>decisiones</a:t>
            </a:r>
            <a:r>
              <a:rPr sz="1250" b="1" dirty="0">
                <a:solidFill>
                  <a:srgbClr val="102D44"/>
                </a:solidFill>
                <a:latin typeface="Aptos"/>
              </a:rPr>
              <a:t> de </a:t>
            </a:r>
            <a:r>
              <a:rPr sz="1250" b="1" dirty="0" err="1">
                <a:solidFill>
                  <a:srgbClr val="102D44"/>
                </a:solidFill>
                <a:latin typeface="Aptos"/>
              </a:rPr>
              <a:t>ingeniería</a:t>
            </a:r>
            <a:r>
              <a:rPr sz="1250" b="1" dirty="0">
                <a:solidFill>
                  <a:srgbClr val="102D44"/>
                </a:solidFill>
                <a:latin typeface="Aptos"/>
              </a:rPr>
              <a:t>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1F30"/>
          </a:solidFill>
          <a:ln>
            <a:solidFill>
              <a:srgbClr val="08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8600" y="6547104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INGENIERÍA PGF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547104"/>
            <a:ext cx="4160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Paul Gálvez (Ingeniero Electrónico - USM)</a:t>
            </a: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879EF65E-3248-C238-4AB7-9910B14BB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008" y="927288"/>
            <a:ext cx="2520000" cy="5040000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08C621E1-4960-2E23-B714-D9A543329E9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416030" y="4798832"/>
            <a:ext cx="1078379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01168" y="164592"/>
            <a:ext cx="347472" cy="347472"/>
          </a:xfrm>
          <a:prstGeom prst="round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92024"/>
            <a:ext cx="34747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>
                <a:solidFill>
                  <a:srgbClr val="102D44"/>
                </a:solidFill>
                <a:latin typeface="Aptos Display"/>
              </a:rPr>
              <a:t>¿Por qué es un nicho de investigación?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12648"/>
            <a:ext cx="1069848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0" dirty="0" err="1">
                <a:solidFill>
                  <a:srgbClr val="5D717E"/>
                </a:solidFill>
                <a:latin typeface="Aptos"/>
              </a:rPr>
              <a:t>Vacío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+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impacto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+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necesidad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463040"/>
            <a:ext cx="7955279" cy="356713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000"/>
              </a:spcAft>
              <a:defRPr sz="1520">
                <a:solidFill>
                  <a:srgbClr val="102D44"/>
                </a:solidFill>
                <a:latin typeface="Aptos"/>
              </a:defRPr>
            </a:pPr>
            <a:r>
              <a:rPr dirty="0"/>
              <a:t>✓  Los </a:t>
            </a:r>
            <a:r>
              <a:rPr dirty="0" err="1"/>
              <a:t>modelos</a:t>
            </a:r>
            <a:r>
              <a:rPr dirty="0"/>
              <a:t> de “</a:t>
            </a:r>
            <a:r>
              <a:rPr dirty="0" err="1"/>
              <a:t>caja</a:t>
            </a:r>
            <a:r>
              <a:rPr dirty="0"/>
              <a:t> </a:t>
            </a:r>
            <a:r>
              <a:rPr dirty="0" err="1"/>
              <a:t>negra</a:t>
            </a:r>
            <a:r>
              <a:rPr dirty="0"/>
              <a:t>” </a:t>
            </a:r>
            <a:r>
              <a:rPr dirty="0" err="1"/>
              <a:t>generan</a:t>
            </a:r>
            <a:r>
              <a:rPr dirty="0"/>
              <a:t> </a:t>
            </a:r>
            <a:r>
              <a:rPr dirty="0" err="1"/>
              <a:t>desconfianza</a:t>
            </a:r>
            <a:r>
              <a:rPr dirty="0"/>
              <a:t> en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críticas</a:t>
            </a:r>
            <a:r>
              <a:rPr dirty="0"/>
              <a:t>.</a:t>
            </a:r>
            <a:endParaRPr lang="es-ES" dirty="0"/>
          </a:p>
          <a:p>
            <a:pPr>
              <a:spcAft>
                <a:spcPts val="1000"/>
              </a:spcAft>
              <a:defRPr sz="1520">
                <a:solidFill>
                  <a:srgbClr val="102D44"/>
                </a:solidFill>
                <a:latin typeface="Aptos"/>
              </a:defRPr>
            </a:pPr>
            <a:endParaRPr lang="es-ES" dirty="0"/>
          </a:p>
          <a:p>
            <a:pPr>
              <a:spcAft>
                <a:spcPts val="1000"/>
              </a:spcAft>
              <a:defRPr sz="1520">
                <a:solidFill>
                  <a:srgbClr val="102D44"/>
                </a:solidFill>
                <a:latin typeface="Aptos"/>
              </a:defRPr>
            </a:pPr>
            <a:endParaRPr dirty="0"/>
          </a:p>
          <a:p>
            <a:pPr>
              <a:spcAft>
                <a:spcPts val="1000"/>
              </a:spcAft>
              <a:defRPr sz="1520">
                <a:solidFill>
                  <a:srgbClr val="102D44"/>
                </a:solidFill>
                <a:latin typeface="Aptos"/>
              </a:defRPr>
            </a:pPr>
            <a:r>
              <a:rPr dirty="0"/>
              <a:t>✓  </a:t>
            </a:r>
            <a:r>
              <a:rPr dirty="0" err="1"/>
              <a:t>Existe</a:t>
            </a:r>
            <a:r>
              <a:rPr dirty="0"/>
              <a:t> </a:t>
            </a:r>
            <a:r>
              <a:rPr dirty="0" err="1"/>
              <a:t>poca</a:t>
            </a:r>
            <a:r>
              <a:rPr dirty="0"/>
              <a:t> </a:t>
            </a:r>
            <a:r>
              <a:rPr dirty="0" err="1"/>
              <a:t>literatura</a:t>
            </a:r>
            <a:r>
              <a:rPr dirty="0"/>
              <a:t> y </a:t>
            </a:r>
            <a:r>
              <a:rPr dirty="0" err="1"/>
              <a:t>aplicaciones</a:t>
            </a:r>
            <a:r>
              <a:rPr dirty="0"/>
              <a:t> </a:t>
            </a:r>
            <a:r>
              <a:rPr dirty="0" err="1"/>
              <a:t>industriales</a:t>
            </a:r>
            <a:r>
              <a:rPr dirty="0"/>
              <a:t> con XAI en </a:t>
            </a:r>
            <a:r>
              <a:rPr dirty="0" err="1"/>
              <a:t>gestión</a:t>
            </a:r>
            <a:r>
              <a:rPr dirty="0"/>
              <a:t> </a:t>
            </a:r>
            <a:r>
              <a:rPr dirty="0" err="1"/>
              <a:t>energética</a:t>
            </a:r>
            <a:r>
              <a:rPr dirty="0"/>
              <a:t> en Chile.</a:t>
            </a:r>
            <a:endParaRPr lang="es-ES" dirty="0"/>
          </a:p>
          <a:p>
            <a:pPr>
              <a:spcAft>
                <a:spcPts val="1000"/>
              </a:spcAft>
              <a:defRPr sz="1520">
                <a:solidFill>
                  <a:srgbClr val="102D44"/>
                </a:solidFill>
                <a:latin typeface="Aptos"/>
              </a:defRPr>
            </a:pPr>
            <a:endParaRPr lang="es-ES" dirty="0"/>
          </a:p>
          <a:p>
            <a:pPr>
              <a:spcAft>
                <a:spcPts val="1000"/>
              </a:spcAft>
              <a:defRPr sz="1520">
                <a:solidFill>
                  <a:srgbClr val="102D44"/>
                </a:solidFill>
                <a:latin typeface="Aptos"/>
              </a:defRPr>
            </a:pPr>
            <a:endParaRPr dirty="0"/>
          </a:p>
          <a:p>
            <a:pPr>
              <a:spcAft>
                <a:spcPts val="1000"/>
              </a:spcAft>
              <a:defRPr sz="1520">
                <a:solidFill>
                  <a:srgbClr val="102D44"/>
                </a:solidFill>
                <a:latin typeface="Aptos"/>
              </a:defRPr>
            </a:pPr>
            <a:r>
              <a:rPr dirty="0"/>
              <a:t>✓  </a:t>
            </a:r>
            <a:r>
              <a:rPr dirty="0" err="1"/>
              <a:t>Combina</a:t>
            </a:r>
            <a:r>
              <a:rPr dirty="0"/>
              <a:t> </a:t>
            </a:r>
            <a:r>
              <a:rPr dirty="0" err="1"/>
              <a:t>ingeniería</a:t>
            </a:r>
            <a:r>
              <a:rPr dirty="0"/>
              <a:t>, </a:t>
            </a:r>
            <a:r>
              <a:rPr dirty="0" err="1"/>
              <a:t>ciencia</a:t>
            </a:r>
            <a:r>
              <a:rPr dirty="0"/>
              <a:t> de datos y </a:t>
            </a:r>
            <a:r>
              <a:rPr dirty="0" err="1"/>
              <a:t>decisiones</a:t>
            </a:r>
            <a:r>
              <a:rPr dirty="0"/>
              <a:t> en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energéticos</a:t>
            </a:r>
            <a:r>
              <a:rPr dirty="0"/>
              <a:t> </a:t>
            </a:r>
            <a:r>
              <a:rPr dirty="0" err="1"/>
              <a:t>complejos</a:t>
            </a:r>
            <a:r>
              <a:rPr dirty="0"/>
              <a:t>.</a:t>
            </a:r>
            <a:endParaRPr lang="es-ES" dirty="0"/>
          </a:p>
          <a:p>
            <a:pPr>
              <a:spcAft>
                <a:spcPts val="1000"/>
              </a:spcAft>
              <a:defRPr sz="1520">
                <a:solidFill>
                  <a:srgbClr val="102D44"/>
                </a:solidFill>
                <a:latin typeface="Aptos"/>
              </a:defRPr>
            </a:pPr>
            <a:endParaRPr lang="es-ES" dirty="0"/>
          </a:p>
          <a:p>
            <a:pPr>
              <a:spcAft>
                <a:spcPts val="1000"/>
              </a:spcAft>
              <a:defRPr sz="1520">
                <a:solidFill>
                  <a:srgbClr val="102D44"/>
                </a:solidFill>
                <a:latin typeface="Aptos"/>
              </a:defRPr>
            </a:pPr>
            <a:endParaRPr dirty="0"/>
          </a:p>
          <a:p>
            <a:pPr>
              <a:spcAft>
                <a:spcPts val="1000"/>
              </a:spcAft>
              <a:defRPr sz="1520">
                <a:solidFill>
                  <a:srgbClr val="102D44"/>
                </a:solidFill>
                <a:latin typeface="Aptos"/>
              </a:defRPr>
            </a:pPr>
            <a:r>
              <a:rPr dirty="0"/>
              <a:t>✓  </a:t>
            </a:r>
            <a:r>
              <a:rPr dirty="0" err="1"/>
              <a:t>Alineado</a:t>
            </a:r>
            <a:r>
              <a:rPr dirty="0"/>
              <a:t> con </a:t>
            </a:r>
            <a:r>
              <a:rPr dirty="0" err="1"/>
              <a:t>eficiencia</a:t>
            </a:r>
            <a:r>
              <a:rPr dirty="0"/>
              <a:t>, </a:t>
            </a:r>
            <a:r>
              <a:rPr dirty="0" err="1"/>
              <a:t>sostenibilidad</a:t>
            </a:r>
            <a:r>
              <a:rPr dirty="0"/>
              <a:t> y </a:t>
            </a:r>
            <a:r>
              <a:rPr dirty="0" err="1"/>
              <a:t>operación</a:t>
            </a:r>
            <a:r>
              <a:rPr dirty="0"/>
              <a:t> </a:t>
            </a:r>
            <a:r>
              <a:rPr dirty="0" err="1"/>
              <a:t>segura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92776" y="5682996"/>
            <a:ext cx="1828800" cy="502920"/>
          </a:xfrm>
          <a:prstGeom prst="round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92776" y="5820156"/>
            <a:ext cx="1828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OPORTUNIDAD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1F30"/>
          </a:solidFill>
          <a:ln>
            <a:solidFill>
              <a:srgbClr val="08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" y="6547104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INGENIERÍA PGF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47104"/>
            <a:ext cx="4160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Paul Gálvez (Ingeniero Electrónico - USM)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013C22F5-9164-21A3-41AB-5C034DA94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7439" y="833339"/>
            <a:ext cx="1410939" cy="940626"/>
          </a:xfrm>
          <a:prstGeom prst="rect">
            <a:avLst/>
          </a:prstGeom>
        </p:spPr>
      </p:pic>
      <p:pic>
        <p:nvPicPr>
          <p:cNvPr id="20" name="Gráfico 19" descr="Signo de interrogación con relleno sólido">
            <a:extLst>
              <a:ext uri="{FF2B5EF4-FFF2-40B4-BE49-F238E27FC236}">
                <a16:creationId xmlns:a16="http://schemas.microsoft.com/office/drawing/2014/main" id="{433741F2-A230-23D4-3BB4-4C4266F9DF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1087" y="945687"/>
            <a:ext cx="720000" cy="7200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9FFA7AD-F3A0-33E8-D0AC-1624B4E10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8379" y="2053008"/>
            <a:ext cx="386308" cy="1440000"/>
          </a:xfrm>
          <a:prstGeom prst="rect">
            <a:avLst/>
          </a:prstGeom>
        </p:spPr>
      </p:pic>
      <p:pic>
        <p:nvPicPr>
          <p:cNvPr id="24" name="Gráfico 23" descr="Torre eléctrica con relleno sólido">
            <a:extLst>
              <a:ext uri="{FF2B5EF4-FFF2-40B4-BE49-F238E27FC236}">
                <a16:creationId xmlns:a16="http://schemas.microsoft.com/office/drawing/2014/main" id="{485E4AE9-AB79-421E-38CB-A2AE624910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92508" y="2245046"/>
            <a:ext cx="720000" cy="720000"/>
          </a:xfrm>
          <a:prstGeom prst="rect">
            <a:avLst/>
          </a:prstGeom>
        </p:spPr>
      </p:pic>
      <p:pic>
        <p:nvPicPr>
          <p:cNvPr id="26" name="Gráfico 25" descr="Lupa con relleno sólido">
            <a:extLst>
              <a:ext uri="{FF2B5EF4-FFF2-40B4-BE49-F238E27FC236}">
                <a16:creationId xmlns:a16="http://schemas.microsoft.com/office/drawing/2014/main" id="{CEDC5091-5929-5A74-0382-5B14DEB88B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06200" y="2613996"/>
            <a:ext cx="360000" cy="360000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C21C6FE0-AA37-E1D4-7C92-5F0A8D8848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1087" y="3752649"/>
            <a:ext cx="1624576" cy="1208456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B8C77985-C0EA-51A5-1253-13490C9F7CF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4681" t="1398" r="23280" b="4492"/>
          <a:stretch>
            <a:fillRect/>
          </a:stretch>
        </p:blipFill>
        <p:spPr>
          <a:xfrm>
            <a:off x="7519584" y="4719245"/>
            <a:ext cx="1225043" cy="1440000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9D0E9327-6F4E-C6BF-988D-4EA23F3360F3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35000"/>
          </a:blip>
          <a:stretch>
            <a:fillRect/>
          </a:stretch>
        </p:blipFill>
        <p:spPr>
          <a:xfrm>
            <a:off x="416030" y="4798832"/>
            <a:ext cx="1078379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n 44">
            <a:extLst>
              <a:ext uri="{FF2B5EF4-FFF2-40B4-BE49-F238E27FC236}">
                <a16:creationId xmlns:a16="http://schemas.microsoft.com/office/drawing/2014/main" id="{C3F3F4AB-B282-F985-9CC7-BF9FA3C00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809" y="1245960"/>
            <a:ext cx="720000" cy="720000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ECA55E6C-B5D8-E964-481F-EB9C9291E6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450" t="16498" r="15748" b="13501"/>
          <a:stretch>
            <a:fillRect/>
          </a:stretch>
        </p:blipFill>
        <p:spPr>
          <a:xfrm>
            <a:off x="4045150" y="1263239"/>
            <a:ext cx="687101" cy="720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01168" y="164592"/>
            <a:ext cx="347472" cy="347472"/>
          </a:xfrm>
          <a:prstGeom prst="round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92024"/>
            <a:ext cx="34747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>
                <a:solidFill>
                  <a:srgbClr val="102D44"/>
                </a:solidFill>
                <a:latin typeface="Aptos Display"/>
              </a:rPr>
              <a:t>Síntesis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12648"/>
            <a:ext cx="1069848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0" dirty="0">
                <a:solidFill>
                  <a:srgbClr val="5D717E"/>
                </a:solidFill>
                <a:latin typeface="Aptos"/>
              </a:rPr>
              <a:t>El valor de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unir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ML, XAI y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contexto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5D717E"/>
                </a:solidFill>
                <a:latin typeface="Aptos"/>
              </a:rPr>
              <a:t>operacional</a:t>
            </a:r>
            <a:r>
              <a:rPr sz="2000" b="0" dirty="0">
                <a:solidFill>
                  <a:srgbClr val="5D717E"/>
                </a:solidFill>
                <a:latin typeface="Aptos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2057400" y="1965960"/>
            <a:ext cx="868680" cy="86868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57400" y="2185416"/>
            <a:ext cx="868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dirty="0">
                <a:solidFill>
                  <a:srgbClr val="188297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7" y="3063240"/>
            <a:ext cx="11887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188297"/>
                </a:solidFill>
                <a:latin typeface="Aptos"/>
              </a:rPr>
              <a:t>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6231" y="3611880"/>
            <a:ext cx="1261872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>
                <a:solidFill>
                  <a:srgbClr val="102D44"/>
                </a:solidFill>
                <a:latin typeface="Aptos"/>
              </a:rPr>
              <a:t>Lo que ocurre</a:t>
            </a:r>
          </a:p>
        </p:txBody>
      </p:sp>
      <p:sp>
        <p:nvSpPr>
          <p:cNvPr id="14" name="Oval 13"/>
          <p:cNvSpPr/>
          <p:nvPr/>
        </p:nvSpPr>
        <p:spPr>
          <a:xfrm>
            <a:off x="3931920" y="1965960"/>
            <a:ext cx="868680" cy="86868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3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1920" y="2185416"/>
            <a:ext cx="868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366EB4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3063240"/>
            <a:ext cx="11887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66EB4"/>
                </a:solidFill>
                <a:latin typeface="Aptos"/>
              </a:rPr>
              <a:t>MACHINE
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611880"/>
            <a:ext cx="1261872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>
                <a:solidFill>
                  <a:srgbClr val="102D44"/>
                </a:solidFill>
                <a:latin typeface="Aptos"/>
              </a:rPr>
              <a:t>Lo que
espera</a:t>
            </a:r>
          </a:p>
        </p:txBody>
      </p:sp>
      <p:sp>
        <p:nvSpPr>
          <p:cNvPr id="19" name="Oval 18"/>
          <p:cNvSpPr/>
          <p:nvPr/>
        </p:nvSpPr>
        <p:spPr>
          <a:xfrm>
            <a:off x="5806440" y="1965960"/>
            <a:ext cx="868680" cy="86868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06440" y="2185416"/>
            <a:ext cx="868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79B12D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848" y="3063240"/>
            <a:ext cx="11887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79B12D"/>
                </a:solidFill>
                <a:latin typeface="Aptos"/>
              </a:rPr>
              <a:t>XAI / SHAP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5272" y="3611880"/>
            <a:ext cx="1261872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>
                <a:solidFill>
                  <a:srgbClr val="102D44"/>
                </a:solidFill>
                <a:latin typeface="Aptos"/>
              </a:rPr>
              <a:t>Por qué
ocurre</a:t>
            </a:r>
          </a:p>
        </p:txBody>
      </p:sp>
      <p:sp>
        <p:nvSpPr>
          <p:cNvPr id="24" name="Oval 23"/>
          <p:cNvSpPr/>
          <p:nvPr/>
        </p:nvSpPr>
        <p:spPr>
          <a:xfrm>
            <a:off x="7680959" y="1965960"/>
            <a:ext cx="868680" cy="86868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80959" y="2185416"/>
            <a:ext cx="868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188297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7" y="3063240"/>
            <a:ext cx="11887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188297"/>
                </a:solidFill>
                <a:latin typeface="Aptos"/>
              </a:rPr>
              <a:t>ESCENARIOS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1" y="3611880"/>
            <a:ext cx="1261872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>
                <a:solidFill>
                  <a:srgbClr val="102D44"/>
                </a:solidFill>
                <a:latin typeface="Aptos"/>
              </a:rPr>
              <a:t>Qué pasaría
si…</a:t>
            </a:r>
          </a:p>
        </p:txBody>
      </p:sp>
      <p:sp>
        <p:nvSpPr>
          <p:cNvPr id="29" name="Oval 28"/>
          <p:cNvSpPr/>
          <p:nvPr/>
        </p:nvSpPr>
        <p:spPr>
          <a:xfrm>
            <a:off x="9555480" y="1965960"/>
            <a:ext cx="868680" cy="86868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55480" y="2185416"/>
            <a:ext cx="868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79B12D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0888" y="3063240"/>
            <a:ext cx="11887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79B12D"/>
                </a:solidFill>
                <a:latin typeface="Aptos"/>
              </a:rPr>
              <a:t>DECISIÓN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4311" y="3611880"/>
            <a:ext cx="1261872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>
                <a:solidFill>
                  <a:srgbClr val="102D44"/>
                </a:solidFill>
                <a:latin typeface="Aptos"/>
              </a:rPr>
              <a:t>Qué hacer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23160" y="4983480"/>
            <a:ext cx="8046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88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593570" y="5051202"/>
            <a:ext cx="7713935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dirty="0" err="1">
                <a:solidFill>
                  <a:srgbClr val="102D44"/>
                </a:solidFill>
                <a:latin typeface="Aptos"/>
              </a:rPr>
              <a:t>Convertimos</a:t>
            </a:r>
            <a:r>
              <a:rPr sz="2000" b="1" dirty="0">
                <a:solidFill>
                  <a:srgbClr val="102D44"/>
                </a:solidFill>
                <a:latin typeface="Aptos"/>
              </a:rPr>
              <a:t> los datos en </a:t>
            </a:r>
            <a:r>
              <a:rPr sz="2000" b="1" dirty="0" err="1">
                <a:solidFill>
                  <a:srgbClr val="102D44"/>
                </a:solidFill>
                <a:latin typeface="Aptos"/>
              </a:rPr>
              <a:t>decisiones</a:t>
            </a:r>
            <a:r>
              <a:rPr sz="2000" b="1" dirty="0">
                <a:solidFill>
                  <a:srgbClr val="102D44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02D44"/>
                </a:solidFill>
                <a:latin typeface="Aptos"/>
              </a:rPr>
              <a:t>técnicas</a:t>
            </a:r>
            <a:r>
              <a:rPr sz="2000" b="1" dirty="0">
                <a:solidFill>
                  <a:srgbClr val="102D44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02D44"/>
                </a:solidFill>
                <a:latin typeface="Aptos"/>
              </a:rPr>
              <a:t>informadas</a:t>
            </a:r>
            <a:r>
              <a:rPr sz="2000" b="1" dirty="0">
                <a:solidFill>
                  <a:srgbClr val="102D44"/>
                </a:solidFill>
                <a:latin typeface="Aptos"/>
              </a:rPr>
              <a:t>, </a:t>
            </a:r>
            <a:r>
              <a:rPr sz="2000" b="1" dirty="0" err="1">
                <a:solidFill>
                  <a:srgbClr val="102D44"/>
                </a:solidFill>
                <a:latin typeface="Aptos"/>
              </a:rPr>
              <a:t>transparentes</a:t>
            </a:r>
            <a:r>
              <a:rPr sz="2000" b="1" dirty="0">
                <a:solidFill>
                  <a:srgbClr val="102D44"/>
                </a:solidFill>
                <a:latin typeface="Aptos"/>
              </a:rPr>
              <a:t> y </a:t>
            </a:r>
            <a:r>
              <a:rPr sz="2000" b="1" dirty="0" err="1">
                <a:solidFill>
                  <a:srgbClr val="102D44"/>
                </a:solidFill>
                <a:latin typeface="Aptos"/>
              </a:rPr>
              <a:t>sustentables</a:t>
            </a:r>
            <a:r>
              <a:rPr sz="2000" b="1" dirty="0">
                <a:solidFill>
                  <a:srgbClr val="102D44"/>
                </a:solidFill>
                <a:latin typeface="Aptos"/>
              </a:rPr>
              <a:t>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81F30"/>
          </a:solidFill>
          <a:ln>
            <a:solidFill>
              <a:srgbClr val="08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8600" y="6547104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INGENIERÍA PGF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47104"/>
            <a:ext cx="4160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Paul Gálvez (Ingeniero Electrónico - USM)</a:t>
            </a:r>
          </a:p>
        </p:txBody>
      </p:sp>
      <p:pic>
        <p:nvPicPr>
          <p:cNvPr id="39" name="Gráfico 38" descr="Estadísticas con relleno sólido">
            <a:extLst>
              <a:ext uri="{FF2B5EF4-FFF2-40B4-BE49-F238E27FC236}">
                <a16:creationId xmlns:a16="http://schemas.microsoft.com/office/drawing/2014/main" id="{2302ABB3-0D6E-55B9-9BE0-289A82276C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0727" y="1205641"/>
            <a:ext cx="720000" cy="720000"/>
          </a:xfrm>
          <a:prstGeom prst="rect">
            <a:avLst/>
          </a:prstGeom>
        </p:spPr>
      </p:pic>
      <p:pic>
        <p:nvPicPr>
          <p:cNvPr id="41" name="Gráfico 40" descr="Ábaco contorno">
            <a:extLst>
              <a:ext uri="{FF2B5EF4-FFF2-40B4-BE49-F238E27FC236}">
                <a16:creationId xmlns:a16="http://schemas.microsoft.com/office/drawing/2014/main" id="{320E96C7-2880-8B8C-F200-D05352D643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1198" y="1202050"/>
            <a:ext cx="720000" cy="720000"/>
          </a:xfrm>
          <a:prstGeom prst="rect">
            <a:avLst/>
          </a:prstGeom>
        </p:spPr>
      </p:pic>
      <p:pic>
        <p:nvPicPr>
          <p:cNvPr id="43" name="Gráfico 42" descr="Tabla de decisiones contorno">
            <a:extLst>
              <a:ext uri="{FF2B5EF4-FFF2-40B4-BE49-F238E27FC236}">
                <a16:creationId xmlns:a16="http://schemas.microsoft.com/office/drawing/2014/main" id="{6E89E25C-F5AE-F333-B2FB-6B1DBEF27E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5247" y="1189131"/>
            <a:ext cx="720000" cy="720000"/>
          </a:xfrm>
          <a:prstGeom prst="rect">
            <a:avLst/>
          </a:prstGeom>
        </p:spPr>
      </p:pic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C387D178-34F9-63E2-15CB-9DD56E6F521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2926080" y="2400300"/>
            <a:ext cx="10058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8762D622-C144-98B6-453E-E5D35A5C0985}"/>
              </a:ext>
            </a:extLst>
          </p:cNvPr>
          <p:cNvCxnSpPr>
            <a:stCxn id="14" idx="6"/>
            <a:endCxn id="19" idx="2"/>
          </p:cNvCxnSpPr>
          <p:nvPr/>
        </p:nvCxnSpPr>
        <p:spPr>
          <a:xfrm>
            <a:off x="4800600" y="2400300"/>
            <a:ext cx="10058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1A4BC15A-F9D8-C19B-966F-39FB6265F429}"/>
              </a:ext>
            </a:extLst>
          </p:cNvPr>
          <p:cNvCxnSpPr>
            <a:cxnSpLocks/>
            <a:stCxn id="19" idx="6"/>
            <a:endCxn id="24" idx="2"/>
          </p:cNvCxnSpPr>
          <p:nvPr/>
        </p:nvCxnSpPr>
        <p:spPr>
          <a:xfrm>
            <a:off x="6675120" y="2400300"/>
            <a:ext cx="10058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1A7060AA-9D0A-80E5-F894-0F2872571375}"/>
              </a:ext>
            </a:extLst>
          </p:cNvPr>
          <p:cNvCxnSpPr>
            <a:stCxn id="24" idx="6"/>
            <a:endCxn id="29" idx="2"/>
          </p:cNvCxnSpPr>
          <p:nvPr/>
        </p:nvCxnSpPr>
        <p:spPr>
          <a:xfrm>
            <a:off x="8549639" y="2400300"/>
            <a:ext cx="10058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Imagen 59">
            <a:extLst>
              <a:ext uri="{FF2B5EF4-FFF2-40B4-BE49-F238E27FC236}">
                <a16:creationId xmlns:a16="http://schemas.microsoft.com/office/drawing/2014/main" id="{89F9573D-0E8C-1AA3-ED82-AB73B3B942C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35000"/>
          </a:blip>
          <a:stretch>
            <a:fillRect/>
          </a:stretch>
        </p:blipFill>
        <p:spPr>
          <a:xfrm>
            <a:off x="416030" y="4798832"/>
            <a:ext cx="1078379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30"/>
          </a:solidFill>
          <a:ln>
            <a:solidFill>
              <a:srgbClr val="08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9B12D"/>
          </a:solidFill>
          <a:ln>
            <a:solidFill>
              <a:srgbClr val="79B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5852160" cy="1737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INGENIERÍA
ENERGÉTICA
APLICADA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64709"/>
            <a:ext cx="53949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ABD337"/>
                </a:solidFill>
                <a:latin typeface="Aptos"/>
              </a:rPr>
              <a:t>Datos · Explicación · Decisión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96229"/>
            <a:ext cx="53035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Machine Learning + XAI + SHAP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79" y="3736309"/>
            <a:ext cx="6618559" cy="597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dirty="0">
                <a:solidFill>
                  <a:srgbClr val="FFFFFF"/>
                </a:solidFill>
                <a:latin typeface="Aptos"/>
              </a:rPr>
              <a:t>De la </a:t>
            </a:r>
            <a:r>
              <a:rPr sz="1700" b="0" dirty="0" err="1">
                <a:solidFill>
                  <a:srgbClr val="FFFFFF"/>
                </a:solidFill>
                <a:latin typeface="Aptos"/>
              </a:rPr>
              <a:t>predicción</a:t>
            </a:r>
            <a:r>
              <a:rPr sz="1700" b="0" dirty="0">
                <a:solidFill>
                  <a:srgbClr val="FFFFFF"/>
                </a:solidFill>
                <a:latin typeface="Aptos"/>
              </a:rPr>
              <a:t> a </a:t>
            </a:r>
            <a:r>
              <a:rPr sz="1700" b="0" dirty="0" err="1">
                <a:solidFill>
                  <a:srgbClr val="FFFFFF"/>
                </a:solidFill>
                <a:latin typeface="Aptos"/>
              </a:rPr>
              <a:t>una</a:t>
            </a:r>
            <a:r>
              <a:rPr sz="17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FFFFFF"/>
                </a:solidFill>
                <a:latin typeface="Aptos"/>
              </a:rPr>
              <a:t>decisión</a:t>
            </a:r>
            <a:r>
              <a:rPr sz="1700" b="0" dirty="0">
                <a:solidFill>
                  <a:srgbClr val="FFFFFF"/>
                </a:solidFill>
                <a:latin typeface="Aptos"/>
              </a:rPr>
              <a:t>
</a:t>
            </a:r>
            <a:r>
              <a:rPr sz="1700" b="0" dirty="0" err="1">
                <a:solidFill>
                  <a:srgbClr val="FFFFFF"/>
                </a:solidFill>
                <a:latin typeface="Aptos"/>
              </a:rPr>
              <a:t>que</a:t>
            </a:r>
            <a:r>
              <a:rPr sz="17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FFFFFF"/>
                </a:solidFill>
                <a:latin typeface="Aptos"/>
              </a:rPr>
              <a:t>puede</a:t>
            </a:r>
            <a:r>
              <a:rPr sz="1700" b="0" dirty="0">
                <a:solidFill>
                  <a:srgbClr val="FFFFFF"/>
                </a:solidFill>
                <a:latin typeface="Aptos"/>
              </a:rPr>
              <a:t> ser </a:t>
            </a:r>
            <a:r>
              <a:rPr sz="1700" b="0" dirty="0" err="1">
                <a:solidFill>
                  <a:srgbClr val="FFFFFF"/>
                </a:solidFill>
                <a:latin typeface="Aptos"/>
              </a:rPr>
              <a:t>comprendida</a:t>
            </a:r>
            <a:r>
              <a:rPr sz="1700" b="0" dirty="0">
                <a:solidFill>
                  <a:srgbClr val="FFFFFF"/>
                </a:solidFill>
                <a:latin typeface="Aptos"/>
              </a:rPr>
              <a:t> y </a:t>
            </a:r>
            <a:r>
              <a:rPr sz="1700" b="0" dirty="0" err="1">
                <a:solidFill>
                  <a:srgbClr val="FFFFFF"/>
                </a:solidFill>
                <a:latin typeface="Aptos"/>
              </a:rPr>
              <a:t>defendida</a:t>
            </a:r>
            <a:r>
              <a:rPr sz="1700" b="0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36792"/>
            <a:ext cx="12191695" cy="521207"/>
          </a:xfrm>
          <a:prstGeom prst="rect">
            <a:avLst/>
          </a:prstGeom>
          <a:solidFill>
            <a:srgbClr val="103146"/>
          </a:solidFill>
          <a:ln>
            <a:solidFill>
              <a:srgbClr val="103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473952"/>
            <a:ext cx="21945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PAUL GÁLVEZ · USM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6473952"/>
            <a:ext cx="46634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Ingeniería PGF · Desarrollo e Innovación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CDCF1F3-2C66-8C70-EEA3-64AF42D63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81" y="4551725"/>
            <a:ext cx="1437839" cy="14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1096</Words>
  <Application>Microsoft Office PowerPoint</Application>
  <PresentationFormat>Panorámica</PresentationFormat>
  <Paragraphs>234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 Galvez</cp:lastModifiedBy>
  <cp:revision>30</cp:revision>
  <dcterms:created xsi:type="dcterms:W3CDTF">2013-01-27T09:14:16Z</dcterms:created>
  <dcterms:modified xsi:type="dcterms:W3CDTF">2026-08-30T22:42:12Z</dcterms:modified>
  <cp:category/>
</cp:coreProperties>
</file>