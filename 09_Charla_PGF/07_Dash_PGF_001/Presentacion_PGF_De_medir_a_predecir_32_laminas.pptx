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19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58368" y="502920"/>
            <a:ext cx="4114800" cy="2286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000" b="1">
                <a:solidFill>
                  <a:srgbClr val="EF8919"/>
                </a:solidFill>
                <a:latin typeface="Aptos Display"/>
              </a:rPr>
              <a:t>SEMINARIO · INGENIERÍA + DATOS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1325880"/>
            <a:ext cx="5943600" cy="5943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4000" b="1">
                <a:solidFill>
                  <a:srgbClr val="F8FAFB"/>
                </a:solidFill>
                <a:latin typeface="Aptos Display"/>
              </a:rPr>
              <a:t>De medir 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1920240"/>
            <a:ext cx="6217920" cy="65836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4600" b="1">
                <a:solidFill>
                  <a:srgbClr val="EF8919"/>
                </a:solidFill>
                <a:latin typeface="Aptos Display"/>
              </a:rPr>
              <a:t>predecir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94944" y="2852928"/>
            <a:ext cx="5669280" cy="74980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800" b="0">
                <a:solidFill>
                  <a:srgbClr val="D6E3E8"/>
                </a:solidFill>
                <a:latin typeface="Aptos Display"/>
              </a:rPr>
              <a:t>Evolución de la gestión del desempeño energético con Machine Learning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94944" y="5504688"/>
            <a:ext cx="6400800" cy="25603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100" b="1">
                <a:solidFill>
                  <a:srgbClr val="D6E3E8"/>
                </a:solidFill>
                <a:latin typeface="Aptos Display"/>
              </a:rPr>
              <a:t>ISO 50001 · Analítica de datos · Inteligencia Artificial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94944" y="5870448"/>
            <a:ext cx="5943600" cy="2286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000" b="0">
                <a:solidFill>
                  <a:srgbClr val="708590"/>
                </a:solidFill>
                <a:latin typeface="Aptos Display"/>
              </a:rPr>
              <a:t>Paul Gálvez · Universidad Técnica Federico Santa María</a:t>
            </a:r>
          </a:p>
        </p:txBody>
      </p:sp>
      <p:sp>
        <p:nvSpPr>
          <p:cNvPr id="8" name="Rectangle 7"/>
          <p:cNvSpPr/>
          <p:nvPr/>
        </p:nvSpPr>
        <p:spPr>
          <a:xfrm>
            <a:off x="8732520" y="1143000"/>
            <a:ext cx="1325880" cy="1325880"/>
          </a:xfrm>
          <a:prstGeom prst="rect">
            <a:avLst/>
          </a:prstGeom>
          <a:solidFill>
            <a:srgbClr val="EF89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869680" y="1618488"/>
            <a:ext cx="1051560" cy="2286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000" b="1">
                <a:solidFill>
                  <a:srgbClr val="F8FAFB"/>
                </a:solidFill>
                <a:latin typeface="Aptos Display"/>
              </a:rPr>
              <a:t>ENERGÍA</a:t>
            </a:r>
          </a:p>
        </p:txBody>
      </p:sp>
      <p:sp>
        <p:nvSpPr>
          <p:cNvPr id="10" name="Rectangle 9"/>
          <p:cNvSpPr/>
          <p:nvPr/>
        </p:nvSpPr>
        <p:spPr>
          <a:xfrm>
            <a:off x="6629400" y="4343400"/>
            <a:ext cx="658368" cy="658368"/>
          </a:xfrm>
          <a:prstGeom prst="rect">
            <a:avLst/>
          </a:prstGeom>
          <a:solidFill>
            <a:srgbClr val="2CAA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800" y="5074920"/>
            <a:ext cx="1143000" cy="20116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800" b="1">
                <a:solidFill>
                  <a:srgbClr val="F8FAFB"/>
                </a:solidFill>
                <a:latin typeface="Aptos Display"/>
              </a:rPr>
              <a:t>DATOS</a:t>
            </a:r>
          </a:p>
        </p:txBody>
      </p:sp>
      <p:cxnSp>
        <p:nvCxnSpPr>
          <p:cNvPr id="12" name="Connector 11"/>
          <p:cNvCxnSpPr/>
          <p:nvPr/>
        </p:nvCxnSpPr>
        <p:spPr>
          <a:xfrm flipH="1">
            <a:off x="6949440" y="1828800"/>
            <a:ext cx="2423160" cy="2834640"/>
          </a:xfrm>
          <a:prstGeom prst="line">
            <a:avLst/>
          </a:prstGeom>
          <a:ln w="16510">
            <a:solidFill>
              <a:srgbClr val="41657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ectangle 12"/>
          <p:cNvSpPr/>
          <p:nvPr/>
        </p:nvSpPr>
        <p:spPr>
          <a:xfrm>
            <a:off x="8229600" y="4892040"/>
            <a:ext cx="658368" cy="658368"/>
          </a:xfrm>
          <a:prstGeom prst="rect">
            <a:avLst/>
          </a:prstGeom>
          <a:solidFill>
            <a:srgbClr val="185B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001000" y="5623559"/>
            <a:ext cx="1143000" cy="20116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800" b="1">
                <a:solidFill>
                  <a:srgbClr val="F8FAFB"/>
                </a:solidFill>
                <a:latin typeface="Aptos Display"/>
              </a:rPr>
              <a:t>ML</a:t>
            </a:r>
          </a:p>
        </p:txBody>
      </p:sp>
      <p:cxnSp>
        <p:nvCxnSpPr>
          <p:cNvPr id="15" name="Connector 14"/>
          <p:cNvCxnSpPr/>
          <p:nvPr/>
        </p:nvCxnSpPr>
        <p:spPr>
          <a:xfrm flipH="1">
            <a:off x="8549640" y="1828800"/>
            <a:ext cx="822960" cy="3383279"/>
          </a:xfrm>
          <a:prstGeom prst="line">
            <a:avLst/>
          </a:prstGeom>
          <a:ln w="16510">
            <a:solidFill>
              <a:srgbClr val="41657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ectangle 15"/>
          <p:cNvSpPr/>
          <p:nvPr/>
        </p:nvSpPr>
        <p:spPr>
          <a:xfrm>
            <a:off x="9738360" y="4251960"/>
            <a:ext cx="658368" cy="658368"/>
          </a:xfrm>
          <a:prstGeom prst="rect">
            <a:avLst/>
          </a:prstGeom>
          <a:solidFill>
            <a:srgbClr val="459D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509760" y="4983480"/>
            <a:ext cx="1143000" cy="20116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800" b="1">
                <a:solidFill>
                  <a:srgbClr val="F8FAFB"/>
                </a:solidFill>
                <a:latin typeface="Aptos Display"/>
              </a:rPr>
              <a:t>XAI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9372600" y="1828800"/>
            <a:ext cx="685800" cy="2743200"/>
          </a:xfrm>
          <a:prstGeom prst="line">
            <a:avLst/>
          </a:prstGeom>
          <a:ln w="16510">
            <a:solidFill>
              <a:srgbClr val="41657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Rectangle 18"/>
          <p:cNvSpPr/>
          <p:nvPr/>
        </p:nvSpPr>
        <p:spPr>
          <a:xfrm>
            <a:off x="10378440" y="2606040"/>
            <a:ext cx="658368" cy="658368"/>
          </a:xfrm>
          <a:prstGeom prst="rect">
            <a:avLst/>
          </a:prstGeom>
          <a:solidFill>
            <a:srgbClr val="F8FA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149840" y="3337560"/>
            <a:ext cx="1143000" cy="20116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800" b="1">
                <a:solidFill>
                  <a:srgbClr val="F8FAFB"/>
                </a:solidFill>
                <a:latin typeface="Aptos Display"/>
              </a:rPr>
              <a:t>DECISIÓN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9372600" y="1828800"/>
            <a:ext cx="1325880" cy="1097280"/>
          </a:xfrm>
          <a:prstGeom prst="line">
            <a:avLst/>
          </a:prstGeom>
          <a:ln w="16510">
            <a:solidFill>
              <a:srgbClr val="41657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19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411480" cy="2286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000" b="1">
                <a:solidFill>
                  <a:srgbClr val="EF8919"/>
                </a:solidFill>
                <a:latin typeface="Aptos Display"/>
              </a:rPr>
              <a:t>02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78992" y="256032"/>
            <a:ext cx="10515600" cy="5029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2500" b="1">
                <a:solidFill>
                  <a:srgbClr val="F8FAFB"/>
                </a:solidFill>
                <a:latin typeface="Aptos Display"/>
              </a:rPr>
              <a:t>¿Estamos midiendo energía o realmente gestionándola?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914400"/>
            <a:ext cx="10789920" cy="34747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200" b="0">
                <a:solidFill>
                  <a:srgbClr val="D6E3E8"/>
                </a:solidFill>
                <a:latin typeface="Aptos Display"/>
              </a:rPr>
              <a:t>DEL DATO A LA DECISIÓN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6492240"/>
            <a:ext cx="2011680" cy="16459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800" b="1">
                <a:solidFill>
                  <a:srgbClr val="91A6B0"/>
                </a:solidFill>
                <a:latin typeface="Aptos Display"/>
              </a:rPr>
              <a:t>PAUL GÁLVEZ · USM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0" y="6492240"/>
            <a:ext cx="594360" cy="16459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r"/>
            <a:r>
              <a:rPr sz="800" b="1">
                <a:solidFill>
                  <a:srgbClr val="91A6B0"/>
                </a:solidFill>
                <a:latin typeface="Aptos Display"/>
              </a:rPr>
              <a:t>02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" y="2194560"/>
            <a:ext cx="2286000" cy="5029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3100" b="1">
                <a:solidFill>
                  <a:srgbClr val="F8FAFB"/>
                </a:solidFill>
                <a:latin typeface="Aptos Display"/>
              </a:rPr>
              <a:t>MEDIR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154680" y="2176272"/>
            <a:ext cx="594360" cy="5029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3100" b="1">
                <a:solidFill>
                  <a:srgbClr val="EF8919"/>
                </a:solidFill>
                <a:latin typeface="Aptos Display"/>
              </a:rPr>
              <a:t>≠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794760" y="2194560"/>
            <a:ext cx="2926080" cy="5029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3100" b="1">
                <a:solidFill>
                  <a:srgbClr val="F8FAFB"/>
                </a:solidFill>
                <a:latin typeface="Aptos Display"/>
              </a:rPr>
              <a:t>GESTIONAR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737360" y="3703320"/>
            <a:ext cx="8778240" cy="4114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2000" b="0">
                <a:solidFill>
                  <a:srgbClr val="D6E3E8"/>
                </a:solidFill>
                <a:latin typeface="Aptos Display"/>
              </a:rPr>
              <a:t>Gestionar implica comprender el desempeño y actuar sobre él.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411480" cy="2286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000" b="1">
                <a:solidFill>
                  <a:srgbClr val="EF8919"/>
                </a:solidFill>
                <a:latin typeface="Aptos Display"/>
              </a:rPr>
              <a:t>03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78992" y="256032"/>
            <a:ext cx="10515600" cy="5029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2500" b="1">
                <a:solidFill>
                  <a:srgbClr val="081927"/>
                </a:solidFill>
                <a:latin typeface="Aptos Display"/>
              </a:rPr>
              <a:t>El recorrido de la charla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914400"/>
            <a:ext cx="10789920" cy="34747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200" b="0">
                <a:solidFill>
                  <a:srgbClr val="708590"/>
                </a:solidFill>
                <a:latin typeface="Aptos Display"/>
              </a:rPr>
              <a:t>Una misma pregunta evoluciona desde la medición hasta la decisión.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6492240"/>
            <a:ext cx="2011680" cy="16459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800" b="1">
                <a:solidFill>
                  <a:srgbClr val="708590"/>
                </a:solidFill>
                <a:latin typeface="Aptos Display"/>
              </a:rPr>
              <a:t>PAUL GÁLVEZ · USM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0" y="6492240"/>
            <a:ext cx="594360" cy="16459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r"/>
            <a:r>
              <a:rPr sz="800" b="1">
                <a:solidFill>
                  <a:srgbClr val="708590"/>
                </a:solidFill>
                <a:latin typeface="Aptos Display"/>
              </a:rPr>
              <a:t>03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2423160"/>
            <a:ext cx="731520" cy="731520"/>
          </a:xfrm>
          <a:prstGeom prst="rect">
            <a:avLst/>
          </a:prstGeom>
          <a:solidFill>
            <a:srgbClr val="EF89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2615184"/>
            <a:ext cx="731520" cy="1828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900" b="1">
                <a:solidFill>
                  <a:srgbClr val="F8FAFB"/>
                </a:solidFill>
                <a:latin typeface="Aptos Display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28600" y="3310128"/>
            <a:ext cx="1417320" cy="2286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900" b="1">
                <a:solidFill>
                  <a:srgbClr val="081927"/>
                </a:solidFill>
                <a:latin typeface="Aptos Display"/>
              </a:rPr>
              <a:t>MEDIR</a:t>
            </a:r>
          </a:p>
        </p:txBody>
      </p:sp>
      <p:sp>
        <p:nvSpPr>
          <p:cNvPr id="10" name="Rectangle 9"/>
          <p:cNvSpPr/>
          <p:nvPr/>
        </p:nvSpPr>
        <p:spPr>
          <a:xfrm>
            <a:off x="2212848" y="2423160"/>
            <a:ext cx="731520" cy="731520"/>
          </a:xfrm>
          <a:prstGeom prst="rect">
            <a:avLst/>
          </a:prstGeom>
          <a:solidFill>
            <a:srgbClr val="2CAA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212848" y="2615184"/>
            <a:ext cx="731520" cy="1828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900" b="1">
                <a:solidFill>
                  <a:srgbClr val="F8FAFB"/>
                </a:solidFill>
                <a:latin typeface="Aptos Display"/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892807" y="3310128"/>
            <a:ext cx="1417320" cy="2286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900" b="1">
                <a:solidFill>
                  <a:srgbClr val="081927"/>
                </a:solidFill>
                <a:latin typeface="Aptos Display"/>
              </a:rPr>
              <a:t>ENTENDER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877056" y="2423160"/>
            <a:ext cx="731520" cy="731520"/>
          </a:xfrm>
          <a:prstGeom prst="rect">
            <a:avLst/>
          </a:prstGeom>
          <a:solidFill>
            <a:srgbClr val="2CAA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877056" y="2615184"/>
            <a:ext cx="731520" cy="1828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900" b="1">
                <a:solidFill>
                  <a:srgbClr val="F8FAFB"/>
                </a:solidFill>
                <a:latin typeface="Aptos Display"/>
              </a:rPr>
              <a:t>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557016" y="3310128"/>
            <a:ext cx="1417320" cy="2286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900" b="1">
                <a:solidFill>
                  <a:srgbClr val="081927"/>
                </a:solidFill>
                <a:latin typeface="Aptos Display"/>
              </a:rPr>
              <a:t>COMPARAR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541264" y="2423160"/>
            <a:ext cx="731520" cy="731520"/>
          </a:xfrm>
          <a:prstGeom prst="rect">
            <a:avLst/>
          </a:prstGeom>
          <a:solidFill>
            <a:srgbClr val="2CAA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541264" y="2615184"/>
            <a:ext cx="731520" cy="1828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900" b="1">
                <a:solidFill>
                  <a:srgbClr val="F8FAFB"/>
                </a:solidFill>
                <a:latin typeface="Aptos Display"/>
              </a:rPr>
              <a:t>4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221224" y="3310128"/>
            <a:ext cx="1417320" cy="2286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900" b="1">
                <a:solidFill>
                  <a:srgbClr val="081927"/>
                </a:solidFill>
                <a:latin typeface="Aptos Display"/>
              </a:rPr>
              <a:t>PREDECIR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205472" y="2423160"/>
            <a:ext cx="731520" cy="731520"/>
          </a:xfrm>
          <a:prstGeom prst="rect">
            <a:avLst/>
          </a:prstGeom>
          <a:solidFill>
            <a:srgbClr val="2CAA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205472" y="2615184"/>
            <a:ext cx="731520" cy="1828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900" b="1">
                <a:solidFill>
                  <a:srgbClr val="F8FAFB"/>
                </a:solidFill>
                <a:latin typeface="Aptos Display"/>
              </a:rPr>
              <a:t>5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885432" y="3310128"/>
            <a:ext cx="1417320" cy="2286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900" b="1">
                <a:solidFill>
                  <a:srgbClr val="081927"/>
                </a:solidFill>
                <a:latin typeface="Aptos Display"/>
              </a:rPr>
              <a:t>EXPLICAR</a:t>
            </a:r>
          </a:p>
        </p:txBody>
      </p:sp>
      <p:sp>
        <p:nvSpPr>
          <p:cNvPr id="22" name="Rectangle 21"/>
          <p:cNvSpPr/>
          <p:nvPr/>
        </p:nvSpPr>
        <p:spPr>
          <a:xfrm>
            <a:off x="8869680" y="2423160"/>
            <a:ext cx="731520" cy="731520"/>
          </a:xfrm>
          <a:prstGeom prst="rect">
            <a:avLst/>
          </a:prstGeom>
          <a:solidFill>
            <a:srgbClr val="2CAA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869680" y="2615184"/>
            <a:ext cx="731520" cy="1828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900" b="1">
                <a:solidFill>
                  <a:srgbClr val="F8FAFB"/>
                </a:solidFill>
                <a:latin typeface="Aptos Display"/>
              </a:rPr>
              <a:t>6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549640" y="3310128"/>
            <a:ext cx="1417320" cy="2286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900" b="1">
                <a:solidFill>
                  <a:srgbClr val="081927"/>
                </a:solidFill>
                <a:latin typeface="Aptos Display"/>
              </a:rPr>
              <a:t>EXPLORAR</a:t>
            </a:r>
          </a:p>
        </p:txBody>
      </p:sp>
      <p:sp>
        <p:nvSpPr>
          <p:cNvPr id="25" name="Rectangle 24"/>
          <p:cNvSpPr/>
          <p:nvPr/>
        </p:nvSpPr>
        <p:spPr>
          <a:xfrm>
            <a:off x="10533888" y="2423160"/>
            <a:ext cx="731520" cy="731520"/>
          </a:xfrm>
          <a:prstGeom prst="rect">
            <a:avLst/>
          </a:prstGeom>
          <a:solidFill>
            <a:srgbClr val="EF89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0533888" y="2615184"/>
            <a:ext cx="731520" cy="1828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900" b="1">
                <a:solidFill>
                  <a:srgbClr val="F8FAFB"/>
                </a:solidFill>
                <a:latin typeface="Aptos Display"/>
              </a:rPr>
              <a:t>7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213848" y="3310128"/>
            <a:ext cx="1417320" cy="2286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900" b="1">
                <a:solidFill>
                  <a:srgbClr val="081927"/>
                </a:solidFill>
                <a:latin typeface="Aptos Display"/>
              </a:rPr>
              <a:t>DECIDIR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267712" y="2596896"/>
            <a:ext cx="411480" cy="2286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700" b="1">
                <a:solidFill>
                  <a:srgbClr val="708590"/>
                </a:solidFill>
                <a:latin typeface="Aptos Display"/>
              </a:rPr>
              <a:t>→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931920" y="2596896"/>
            <a:ext cx="411480" cy="2286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700" b="1">
                <a:solidFill>
                  <a:srgbClr val="708590"/>
                </a:solidFill>
                <a:latin typeface="Aptos Display"/>
              </a:rPr>
              <a:t>→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596128" y="2596896"/>
            <a:ext cx="411480" cy="2286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700" b="1">
                <a:solidFill>
                  <a:srgbClr val="708590"/>
                </a:solidFill>
                <a:latin typeface="Aptos Display"/>
              </a:rPr>
              <a:t>→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260336" y="2596896"/>
            <a:ext cx="411480" cy="2286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700" b="1">
                <a:solidFill>
                  <a:srgbClr val="708590"/>
                </a:solidFill>
                <a:latin typeface="Aptos Display"/>
              </a:rPr>
              <a:t>→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924544" y="2596896"/>
            <a:ext cx="411480" cy="2286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700" b="1">
                <a:solidFill>
                  <a:srgbClr val="708590"/>
                </a:solidFill>
                <a:latin typeface="Aptos Display"/>
              </a:rPr>
              <a:t>→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0588752" y="2596896"/>
            <a:ext cx="411480" cy="2286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700" b="1">
                <a:solidFill>
                  <a:srgbClr val="708590"/>
                </a:solidFill>
                <a:latin typeface="Aptos Display"/>
              </a:rPr>
              <a:t>→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411480" cy="2286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000" b="1">
                <a:solidFill>
                  <a:srgbClr val="EF8919"/>
                </a:solidFill>
                <a:latin typeface="Aptos Display"/>
              </a:rPr>
              <a:t>04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78992" y="256032"/>
            <a:ext cx="10515600" cy="5029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2500" b="1">
                <a:solidFill>
                  <a:srgbClr val="081927"/>
                </a:solidFill>
                <a:latin typeface="Aptos Display"/>
              </a:rPr>
              <a:t>La energía no existe aislada del proceso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914400"/>
            <a:ext cx="10789920" cy="34747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200" b="0">
                <a:solidFill>
                  <a:srgbClr val="708590"/>
                </a:solidFill>
                <a:latin typeface="Aptos Display"/>
              </a:rPr>
              <a:t>El desempeño energético se interpreta en contexto operacional.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6492240"/>
            <a:ext cx="2011680" cy="16459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800" b="1">
                <a:solidFill>
                  <a:srgbClr val="708590"/>
                </a:solidFill>
                <a:latin typeface="Aptos Display"/>
              </a:rPr>
              <a:t>PAUL GÁLVEZ · USM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0" y="6492240"/>
            <a:ext cx="594360" cy="16459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r"/>
            <a:r>
              <a:rPr sz="800" b="1">
                <a:solidFill>
                  <a:srgbClr val="708590"/>
                </a:solidFill>
                <a:latin typeface="Aptos Display"/>
              </a:rPr>
              <a:t>04</a:t>
            </a:r>
          </a:p>
        </p:txBody>
      </p:sp>
      <p:sp>
        <p:nvSpPr>
          <p:cNvPr id="7" name="Rectangle 6"/>
          <p:cNvSpPr/>
          <p:nvPr/>
        </p:nvSpPr>
        <p:spPr>
          <a:xfrm>
            <a:off x="868680" y="2286000"/>
            <a:ext cx="841248" cy="841248"/>
          </a:xfrm>
          <a:prstGeom prst="rect">
            <a:avLst/>
          </a:prstGeom>
          <a:solidFill>
            <a:srgbClr val="EF89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21207" y="3364992"/>
            <a:ext cx="1554480" cy="25603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000" b="1">
                <a:solidFill>
                  <a:srgbClr val="081927"/>
                </a:solidFill>
                <a:latin typeface="Aptos Display"/>
              </a:rPr>
              <a:t>ENERGÍA</a:t>
            </a:r>
          </a:p>
        </p:txBody>
      </p:sp>
      <p:sp>
        <p:nvSpPr>
          <p:cNvPr id="9" name="Rectangle 8"/>
          <p:cNvSpPr/>
          <p:nvPr/>
        </p:nvSpPr>
        <p:spPr>
          <a:xfrm>
            <a:off x="3081528" y="2286000"/>
            <a:ext cx="841248" cy="841248"/>
          </a:xfrm>
          <a:prstGeom prst="rect">
            <a:avLst/>
          </a:prstGeom>
          <a:solidFill>
            <a:srgbClr val="2CAA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734056" y="3364992"/>
            <a:ext cx="1554480" cy="25603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000" b="1">
                <a:solidFill>
                  <a:srgbClr val="081927"/>
                </a:solidFill>
                <a:latin typeface="Aptos Display"/>
              </a:rPr>
              <a:t>OPERACIÓN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294376" y="2286000"/>
            <a:ext cx="841248" cy="841248"/>
          </a:xfrm>
          <a:prstGeom prst="rect">
            <a:avLst/>
          </a:prstGeom>
          <a:solidFill>
            <a:srgbClr val="459D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946904" y="3364992"/>
            <a:ext cx="1554480" cy="25603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000" b="1">
                <a:solidFill>
                  <a:srgbClr val="081927"/>
                </a:solidFill>
                <a:latin typeface="Aptos Display"/>
              </a:rPr>
              <a:t>PRODUCCIÓN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507223" y="2286000"/>
            <a:ext cx="841248" cy="841248"/>
          </a:xfrm>
          <a:prstGeom prst="rect">
            <a:avLst/>
          </a:prstGeom>
          <a:solidFill>
            <a:srgbClr val="185B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159751" y="3364992"/>
            <a:ext cx="1554480" cy="25603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000" b="1">
                <a:solidFill>
                  <a:srgbClr val="081927"/>
                </a:solidFill>
                <a:latin typeface="Aptos Display"/>
              </a:rPr>
              <a:t>COSTO</a:t>
            </a:r>
          </a:p>
        </p:txBody>
      </p:sp>
      <p:sp>
        <p:nvSpPr>
          <p:cNvPr id="15" name="Rectangle 14"/>
          <p:cNvSpPr/>
          <p:nvPr/>
        </p:nvSpPr>
        <p:spPr>
          <a:xfrm>
            <a:off x="9720072" y="2286000"/>
            <a:ext cx="841248" cy="841248"/>
          </a:xfrm>
          <a:prstGeom prst="rect">
            <a:avLst/>
          </a:prstGeom>
          <a:solidFill>
            <a:srgbClr val="0819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372599" y="3364992"/>
            <a:ext cx="1554480" cy="25603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000" b="1">
                <a:solidFill>
                  <a:srgbClr val="081927"/>
                </a:solidFill>
                <a:latin typeface="Aptos Display"/>
              </a:rPr>
              <a:t>CONTINUIDAD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856231" y="2542032"/>
            <a:ext cx="594360" cy="3200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2100" b="1">
                <a:solidFill>
                  <a:srgbClr val="708590"/>
                </a:solidFill>
                <a:latin typeface="Aptos Display"/>
              </a:rPr>
              <a:t>↔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069079" y="2542032"/>
            <a:ext cx="594360" cy="3200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2100" b="1">
                <a:solidFill>
                  <a:srgbClr val="708590"/>
                </a:solidFill>
                <a:latin typeface="Aptos Display"/>
              </a:rPr>
              <a:t>↔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281927" y="2542032"/>
            <a:ext cx="594360" cy="3200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2100" b="1">
                <a:solidFill>
                  <a:srgbClr val="708590"/>
                </a:solidFill>
                <a:latin typeface="Aptos Display"/>
              </a:rPr>
              <a:t>↔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494776" y="2542032"/>
            <a:ext cx="594360" cy="3200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2100" b="1">
                <a:solidFill>
                  <a:srgbClr val="708590"/>
                </a:solidFill>
                <a:latin typeface="Aptos Display"/>
              </a:rPr>
              <a:t>↔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411480" cy="2286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000" b="1">
                <a:solidFill>
                  <a:srgbClr val="EF8919"/>
                </a:solidFill>
                <a:latin typeface="Aptos Display"/>
              </a:rPr>
              <a:t>05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78992" y="256032"/>
            <a:ext cx="10515600" cy="5029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2500" b="1">
                <a:solidFill>
                  <a:srgbClr val="081927"/>
                </a:solidFill>
                <a:latin typeface="Aptos Display"/>
              </a:rPr>
              <a:t>Medir no es todavía gestionar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914400"/>
            <a:ext cx="10789920" cy="34747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200" b="0">
                <a:solidFill>
                  <a:srgbClr val="708590"/>
                </a:solidFill>
                <a:latin typeface="Aptos Display"/>
              </a:rPr>
              <a:t>La metodología transforma datos en una lectura del desempeño.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6492240"/>
            <a:ext cx="2011680" cy="16459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800" b="1">
                <a:solidFill>
                  <a:srgbClr val="708590"/>
                </a:solidFill>
                <a:latin typeface="Aptos Display"/>
              </a:rPr>
              <a:t>PAUL GÁLVEZ · USM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0" y="6492240"/>
            <a:ext cx="594360" cy="16459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r"/>
            <a:r>
              <a:rPr sz="800" b="1">
                <a:solidFill>
                  <a:srgbClr val="708590"/>
                </a:solidFill>
                <a:latin typeface="Aptos Display"/>
              </a:rPr>
              <a:t>05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2423160"/>
            <a:ext cx="1572768" cy="960120"/>
          </a:xfrm>
          <a:prstGeom prst="roundRect">
            <a:avLst/>
          </a:prstGeom>
          <a:solidFill>
            <a:srgbClr val="0819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76072" y="2670048"/>
            <a:ext cx="1426464" cy="34747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000" b="1">
                <a:solidFill>
                  <a:srgbClr val="F8FAFB"/>
                </a:solidFill>
                <a:latin typeface="Aptos Display"/>
              </a:rPr>
              <a:t>ISO 50001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423160" y="2423160"/>
            <a:ext cx="1572768" cy="960120"/>
          </a:xfrm>
          <a:prstGeom prst="roundRect">
            <a:avLst/>
          </a:prstGeom>
          <a:solidFill>
            <a:srgbClr val="185B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496312" y="2670048"/>
            <a:ext cx="1426464" cy="34747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000" b="1">
                <a:solidFill>
                  <a:srgbClr val="F8FAFB"/>
                </a:solidFill>
                <a:latin typeface="Aptos Display"/>
              </a:rPr>
              <a:t>Revisión energética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343400" y="2423160"/>
            <a:ext cx="1572768" cy="960120"/>
          </a:xfrm>
          <a:prstGeom prst="roundRect">
            <a:avLst/>
          </a:prstGeom>
          <a:solidFill>
            <a:srgbClr val="0819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416552" y="2670048"/>
            <a:ext cx="1426464" cy="34747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000" b="1">
                <a:solidFill>
                  <a:srgbClr val="F8FAFB"/>
                </a:solidFill>
                <a:latin typeface="Aptos Display"/>
              </a:rPr>
              <a:t>USE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63640" y="2423160"/>
            <a:ext cx="1572768" cy="960120"/>
          </a:xfrm>
          <a:prstGeom prst="roundRect">
            <a:avLst/>
          </a:prstGeom>
          <a:solidFill>
            <a:srgbClr val="185B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336792" y="2670048"/>
            <a:ext cx="1426464" cy="34747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000" b="1">
                <a:solidFill>
                  <a:srgbClr val="F8FAFB"/>
                </a:solidFill>
                <a:latin typeface="Aptos Display"/>
              </a:rPr>
              <a:t>Indicadores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183880" y="2423160"/>
            <a:ext cx="1572768" cy="960120"/>
          </a:xfrm>
          <a:prstGeom prst="roundRect">
            <a:avLst/>
          </a:prstGeom>
          <a:solidFill>
            <a:srgbClr val="0819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57032" y="2670048"/>
            <a:ext cx="1426464" cy="34747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000" b="1">
                <a:solidFill>
                  <a:srgbClr val="F8FAFB"/>
                </a:solidFill>
                <a:latin typeface="Aptos Display"/>
              </a:rPr>
              <a:t>LBEn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10104120" y="2423160"/>
            <a:ext cx="1572768" cy="960120"/>
          </a:xfrm>
          <a:prstGeom prst="roundRect">
            <a:avLst/>
          </a:prstGeom>
          <a:solidFill>
            <a:srgbClr val="185B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0177272" y="2670048"/>
            <a:ext cx="1426464" cy="34747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000" b="1">
                <a:solidFill>
                  <a:srgbClr val="F8FAFB"/>
                </a:solidFill>
                <a:latin typeface="Aptos Display"/>
              </a:rPr>
              <a:t>Desempeño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130552" y="2724912"/>
            <a:ext cx="256032" cy="2286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500" b="1">
                <a:solidFill>
                  <a:srgbClr val="EF8919"/>
                </a:solidFill>
                <a:latin typeface="Aptos Display"/>
              </a:rPr>
              <a:t>→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050791" y="2724912"/>
            <a:ext cx="256032" cy="2286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500" b="1">
                <a:solidFill>
                  <a:srgbClr val="EF8919"/>
                </a:solidFill>
                <a:latin typeface="Aptos Display"/>
              </a:rPr>
              <a:t>→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971032" y="2724912"/>
            <a:ext cx="256032" cy="2286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500" b="1">
                <a:solidFill>
                  <a:srgbClr val="EF8919"/>
                </a:solidFill>
                <a:latin typeface="Aptos Display"/>
              </a:rPr>
              <a:t>→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891272" y="2724912"/>
            <a:ext cx="256032" cy="2286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500" b="1">
                <a:solidFill>
                  <a:srgbClr val="EF8919"/>
                </a:solidFill>
                <a:latin typeface="Aptos Display"/>
              </a:rPr>
              <a:t>→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811512" y="2724912"/>
            <a:ext cx="256032" cy="2286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500" b="1">
                <a:solidFill>
                  <a:srgbClr val="EF8919"/>
                </a:solidFill>
                <a:latin typeface="Aptos Display"/>
              </a:rPr>
              <a:t>→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411480" cy="2286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000" b="1">
                <a:solidFill>
                  <a:srgbClr val="EF8919"/>
                </a:solidFill>
                <a:latin typeface="Aptos Display"/>
              </a:rPr>
              <a:t>06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78992" y="256032"/>
            <a:ext cx="10515600" cy="5029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2500" b="1">
                <a:solidFill>
                  <a:srgbClr val="081927"/>
                </a:solidFill>
                <a:latin typeface="Aptos Display"/>
              </a:rPr>
              <a:t>¿Cuánto estamos consumiendo… y cuánto deberíamos consumir?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914400"/>
            <a:ext cx="10789920" cy="34747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200" b="0">
                <a:solidFill>
                  <a:srgbClr val="708590"/>
                </a:solidFill>
                <a:latin typeface="Aptos Display"/>
              </a:rPr>
              <a:t>La referencia convierte un registro en una pregunta de desempeño.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6492240"/>
            <a:ext cx="2011680" cy="16459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800" b="1">
                <a:solidFill>
                  <a:srgbClr val="708590"/>
                </a:solidFill>
                <a:latin typeface="Aptos Display"/>
              </a:rPr>
              <a:t>PAUL GÁLVEZ · USM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0" y="6492240"/>
            <a:ext cx="594360" cy="16459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r"/>
            <a:r>
              <a:rPr sz="800" b="1">
                <a:solidFill>
                  <a:srgbClr val="708590"/>
                </a:solidFill>
                <a:latin typeface="Aptos Display"/>
              </a:rPr>
              <a:t>06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463040"/>
            <a:ext cx="7269480" cy="4480560"/>
          </a:xfrm>
          <a:prstGeom prst="roundRect">
            <a:avLst/>
          </a:prstGeom>
          <a:solidFill>
            <a:srgbClr val="E8F0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8" name="Connector 7"/>
          <p:cNvCxnSpPr/>
          <p:nvPr/>
        </p:nvCxnSpPr>
        <p:spPr>
          <a:xfrm>
            <a:off x="1234440" y="5257800"/>
            <a:ext cx="6035040" cy="0"/>
          </a:xfrm>
          <a:prstGeom prst="line">
            <a:avLst/>
          </a:prstGeom>
          <a:ln w="15240">
            <a:solidFill>
              <a:srgbClr val="08192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 flipV="1">
            <a:off x="1234440" y="2011680"/>
            <a:ext cx="0" cy="3246120"/>
          </a:xfrm>
          <a:prstGeom prst="line">
            <a:avLst/>
          </a:prstGeom>
          <a:ln w="15240">
            <a:solidFill>
              <a:srgbClr val="08192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ectangle 9"/>
          <p:cNvSpPr/>
          <p:nvPr/>
        </p:nvSpPr>
        <p:spPr>
          <a:xfrm>
            <a:off x="1417320" y="4800600"/>
            <a:ext cx="91440" cy="91440"/>
          </a:xfrm>
          <a:prstGeom prst="rect">
            <a:avLst/>
          </a:prstGeom>
          <a:solidFill>
            <a:srgbClr val="2CAA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1874519" y="4480559"/>
            <a:ext cx="91440" cy="91440"/>
          </a:xfrm>
          <a:prstGeom prst="rect">
            <a:avLst/>
          </a:prstGeom>
          <a:solidFill>
            <a:srgbClr val="2CAA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2331720" y="4160520"/>
            <a:ext cx="91440" cy="91440"/>
          </a:xfrm>
          <a:prstGeom prst="rect">
            <a:avLst/>
          </a:prstGeom>
          <a:solidFill>
            <a:srgbClr val="2CAA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2788920" y="3840479"/>
            <a:ext cx="91440" cy="91440"/>
          </a:xfrm>
          <a:prstGeom prst="rect">
            <a:avLst/>
          </a:prstGeom>
          <a:solidFill>
            <a:srgbClr val="2CAA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3246120" y="3959352"/>
            <a:ext cx="91440" cy="91440"/>
          </a:xfrm>
          <a:prstGeom prst="rect">
            <a:avLst/>
          </a:prstGeom>
          <a:solidFill>
            <a:srgbClr val="2CAA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3703320" y="3639311"/>
            <a:ext cx="91440" cy="91440"/>
          </a:xfrm>
          <a:prstGeom prst="rect">
            <a:avLst/>
          </a:prstGeom>
          <a:solidFill>
            <a:srgbClr val="2CAA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160520" y="3319272"/>
            <a:ext cx="91440" cy="91440"/>
          </a:xfrm>
          <a:prstGeom prst="rect">
            <a:avLst/>
          </a:prstGeom>
          <a:solidFill>
            <a:srgbClr val="2CAA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4617720" y="2999232"/>
            <a:ext cx="91440" cy="91440"/>
          </a:xfrm>
          <a:prstGeom prst="rect">
            <a:avLst/>
          </a:prstGeom>
          <a:solidFill>
            <a:srgbClr val="2CAA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5074920" y="3118104"/>
            <a:ext cx="91440" cy="91440"/>
          </a:xfrm>
          <a:prstGeom prst="rect">
            <a:avLst/>
          </a:prstGeom>
          <a:solidFill>
            <a:srgbClr val="2CAA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5532120" y="2798063"/>
            <a:ext cx="91440" cy="91440"/>
          </a:xfrm>
          <a:prstGeom prst="rect">
            <a:avLst/>
          </a:prstGeom>
          <a:solidFill>
            <a:srgbClr val="2CAA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5989320" y="2478024"/>
            <a:ext cx="91440" cy="91440"/>
          </a:xfrm>
          <a:prstGeom prst="rect">
            <a:avLst/>
          </a:prstGeom>
          <a:solidFill>
            <a:srgbClr val="2CAA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446520" y="2157984"/>
            <a:ext cx="91440" cy="91440"/>
          </a:xfrm>
          <a:prstGeom prst="rect">
            <a:avLst/>
          </a:prstGeom>
          <a:solidFill>
            <a:srgbClr val="2CAA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2" name="Connector 21"/>
          <p:cNvCxnSpPr/>
          <p:nvPr/>
        </p:nvCxnSpPr>
        <p:spPr>
          <a:xfrm flipV="1">
            <a:off x="1325880" y="2148840"/>
            <a:ext cx="5715000" cy="2834640"/>
          </a:xfrm>
          <a:prstGeom prst="line">
            <a:avLst/>
          </a:prstGeom>
          <a:ln w="38100">
            <a:solidFill>
              <a:srgbClr val="EF891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TextBox 22"/>
          <p:cNvSpPr txBox="1"/>
          <p:nvPr/>
        </p:nvSpPr>
        <p:spPr>
          <a:xfrm>
            <a:off x="1325880" y="5422392"/>
            <a:ext cx="1828800" cy="2286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900" b="0">
                <a:solidFill>
                  <a:srgbClr val="708590"/>
                </a:solidFill>
                <a:latin typeface="Aptos Display"/>
              </a:rPr>
              <a:t>consumo observado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617720" y="1828800"/>
            <a:ext cx="2103120" cy="2286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900" b="1">
                <a:solidFill>
                  <a:srgbClr val="EF8919"/>
                </a:solidFill>
                <a:latin typeface="Aptos Display"/>
              </a:rPr>
              <a:t>referencia / línea base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8321040" y="1828800"/>
            <a:ext cx="3063240" cy="3337560"/>
          </a:xfrm>
          <a:prstGeom prst="roundRect">
            <a:avLst/>
          </a:prstGeom>
          <a:solidFill>
            <a:srgbClr val="0819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641080" y="2121408"/>
            <a:ext cx="2377440" cy="2286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000" b="1">
                <a:solidFill>
                  <a:srgbClr val="EF8919"/>
                </a:solidFill>
                <a:latin typeface="Aptos Display"/>
              </a:rPr>
              <a:t>IDEA CLAVE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641080" y="2606040"/>
            <a:ext cx="2331720" cy="21488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600" b="0">
                <a:solidFill>
                  <a:srgbClr val="F8FAFB"/>
                </a:solidFill>
                <a:latin typeface="Aptos Display"/>
              </a:rPr>
              <a:t>Sin referencia,
el consumo es solo
un número.
Con referencia,
se transforma en
desempeño.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19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411480" cy="2286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000" b="1">
                <a:solidFill>
                  <a:srgbClr val="EF8919"/>
                </a:solidFill>
                <a:latin typeface="Aptos Display"/>
              </a:rPr>
              <a:t>07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78992" y="256032"/>
            <a:ext cx="10515600" cy="5029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2500" b="1">
                <a:solidFill>
                  <a:srgbClr val="F8FAFB"/>
                </a:solidFill>
                <a:latin typeface="Aptos Display"/>
              </a:rPr>
              <a:t>Caso real · Planta Oil Malal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914400"/>
            <a:ext cx="10789920" cy="34747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200" b="0">
                <a:solidFill>
                  <a:srgbClr val="D6E3E8"/>
                </a:solidFill>
                <a:latin typeface="Aptos Display"/>
              </a:rPr>
              <a:t>La evidencia industrial permite pasar de conceptos a desempeño observado.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6492240"/>
            <a:ext cx="2011680" cy="16459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800" b="1">
                <a:solidFill>
                  <a:srgbClr val="91A6B0"/>
                </a:solidFill>
                <a:latin typeface="Aptos Display"/>
              </a:rPr>
              <a:t>PAUL GÁLVEZ · USM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0" y="6492240"/>
            <a:ext cx="594360" cy="16459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r"/>
            <a:r>
              <a:rPr sz="800" b="1">
                <a:solidFill>
                  <a:srgbClr val="91A6B0"/>
                </a:solidFill>
                <a:latin typeface="Aptos Display"/>
              </a:rPr>
              <a:t>07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58368" y="1508760"/>
            <a:ext cx="3657600" cy="4251960"/>
          </a:xfrm>
          <a:prstGeom prst="roundRect">
            <a:avLst/>
          </a:prstGeom>
          <a:solidFill>
            <a:srgbClr val="0F2B3C"/>
          </a:solidFill>
          <a:ln>
            <a:solidFill>
              <a:srgbClr val="30536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60120" y="1901952"/>
            <a:ext cx="3017520" cy="3657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2400" b="1">
                <a:solidFill>
                  <a:srgbClr val="F8FAFB"/>
                </a:solidFill>
                <a:latin typeface="Aptos Display"/>
              </a:rPr>
              <a:t>OIL MALAL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0120" y="2423160"/>
            <a:ext cx="2194560" cy="2286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100" b="1">
                <a:solidFill>
                  <a:srgbClr val="EF8919"/>
                </a:solidFill>
                <a:latin typeface="Aptos Display"/>
              </a:rPr>
              <a:t>CASO REAL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60120" y="2926080"/>
            <a:ext cx="2926080" cy="9144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800" b="0">
                <a:solidFill>
                  <a:srgbClr val="D6E3E8"/>
                </a:solidFill>
                <a:latin typeface="Aptos Display"/>
              </a:rPr>
              <a:t>Gestión energética
medición · análisis · mejora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074920" y="1600200"/>
            <a:ext cx="457200" cy="457200"/>
          </a:xfrm>
          <a:prstGeom prst="rect">
            <a:avLst/>
          </a:prstGeom>
          <a:solidFill>
            <a:srgbClr val="2CAA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715000" y="1581912"/>
            <a:ext cx="1828800" cy="25603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300" b="1">
                <a:solidFill>
                  <a:srgbClr val="F8FAFB"/>
                </a:solidFill>
                <a:latin typeface="Aptos Display"/>
              </a:rPr>
              <a:t>DATOS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715000" y="1947672"/>
            <a:ext cx="4389120" cy="25603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100" b="0">
                <a:solidFill>
                  <a:srgbClr val="D6E3E8"/>
                </a:solidFill>
                <a:latin typeface="Aptos Display"/>
              </a:rPr>
              <a:t>consumo y operación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074920" y="2971800"/>
            <a:ext cx="457200" cy="457200"/>
          </a:xfrm>
          <a:prstGeom prst="rect">
            <a:avLst/>
          </a:prstGeom>
          <a:solidFill>
            <a:srgbClr val="459D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715000" y="2953512"/>
            <a:ext cx="1828800" cy="25603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300" b="1">
                <a:solidFill>
                  <a:srgbClr val="F8FAFB"/>
                </a:solidFill>
                <a:latin typeface="Aptos Display"/>
              </a:rPr>
              <a:t>DESEMPEÑO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715000" y="3319272"/>
            <a:ext cx="4389120" cy="25603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100" b="0">
                <a:solidFill>
                  <a:srgbClr val="D6E3E8"/>
                </a:solidFill>
                <a:latin typeface="Aptos Display"/>
              </a:rPr>
              <a:t>indicadores y LBEn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074920" y="4343400"/>
            <a:ext cx="457200" cy="457200"/>
          </a:xfrm>
          <a:prstGeom prst="rect">
            <a:avLst/>
          </a:prstGeom>
          <a:solidFill>
            <a:srgbClr val="EF89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715000" y="4325112"/>
            <a:ext cx="1828800" cy="25603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300" b="1">
                <a:solidFill>
                  <a:srgbClr val="F8FAFB"/>
                </a:solidFill>
                <a:latin typeface="Aptos Display"/>
              </a:rPr>
              <a:t>MEJORA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715000" y="4690872"/>
            <a:ext cx="4389120" cy="25603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100" b="0">
                <a:solidFill>
                  <a:srgbClr val="D6E3E8"/>
                </a:solidFill>
                <a:latin typeface="Aptos Display"/>
              </a:rPr>
              <a:t>medidas y evaluación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411480" cy="2286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000" b="1">
                <a:solidFill>
                  <a:srgbClr val="EF8919"/>
                </a:solidFill>
                <a:latin typeface="Aptos Display"/>
              </a:rPr>
              <a:t>08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78992" y="256032"/>
            <a:ext cx="10515600" cy="5029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2500" b="1">
                <a:solidFill>
                  <a:srgbClr val="081927"/>
                </a:solidFill>
                <a:latin typeface="Aptos Display"/>
              </a:rPr>
              <a:t>¿Dónde está la energía?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914400"/>
            <a:ext cx="10789920" cy="34747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200" b="0">
                <a:solidFill>
                  <a:srgbClr val="708590"/>
                </a:solidFill>
                <a:latin typeface="Aptos Display"/>
              </a:rPr>
              <a:t>Distribución de energía / USE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6492240"/>
            <a:ext cx="2011680" cy="16459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800" b="1">
                <a:solidFill>
                  <a:srgbClr val="708590"/>
                </a:solidFill>
                <a:latin typeface="Aptos Display"/>
              </a:rPr>
              <a:t>PAUL GÁLVEZ · USM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0" y="6492240"/>
            <a:ext cx="594360" cy="16459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r"/>
            <a:r>
              <a:rPr sz="800" b="1">
                <a:solidFill>
                  <a:srgbClr val="708590"/>
                </a:solidFill>
                <a:latin typeface="Aptos Display"/>
              </a:rPr>
              <a:t>08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5800" y="1508760"/>
            <a:ext cx="7315200" cy="4434840"/>
          </a:xfrm>
          <a:prstGeom prst="roundRect">
            <a:avLst/>
          </a:prstGeom>
          <a:solidFill>
            <a:srgbClr val="E8F0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60120" y="1828800"/>
            <a:ext cx="6766560" cy="3200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600" b="1">
                <a:solidFill>
                  <a:srgbClr val="185B74"/>
                </a:solidFill>
                <a:latin typeface="Aptos Display"/>
              </a:rPr>
              <a:t>PARETO</a:t>
            </a:r>
          </a:p>
        </p:txBody>
      </p:sp>
      <p:sp>
        <p:nvSpPr>
          <p:cNvPr id="9" name="Rectangle 8"/>
          <p:cNvSpPr/>
          <p:nvPr/>
        </p:nvSpPr>
        <p:spPr>
          <a:xfrm>
            <a:off x="1051560" y="2514600"/>
            <a:ext cx="5303520" cy="310896"/>
          </a:xfrm>
          <a:prstGeom prst="rect">
            <a:avLst/>
          </a:prstGeom>
          <a:solidFill>
            <a:srgbClr val="185B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51560" y="2258568"/>
            <a:ext cx="914400" cy="1828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800" b="1">
                <a:solidFill>
                  <a:srgbClr val="081927"/>
                </a:solidFill>
                <a:latin typeface="Aptos Display"/>
              </a:rPr>
              <a:t>USE 1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051560" y="3081528"/>
            <a:ext cx="4114800" cy="310896"/>
          </a:xfrm>
          <a:prstGeom prst="rect">
            <a:avLst/>
          </a:prstGeom>
          <a:solidFill>
            <a:srgbClr val="2CAA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51560" y="2825496"/>
            <a:ext cx="914400" cy="1828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800" b="1">
                <a:solidFill>
                  <a:srgbClr val="081927"/>
                </a:solidFill>
                <a:latin typeface="Aptos Display"/>
              </a:rPr>
              <a:t>USE 2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051560" y="3648456"/>
            <a:ext cx="3108960" cy="310896"/>
          </a:xfrm>
          <a:prstGeom prst="rect">
            <a:avLst/>
          </a:prstGeom>
          <a:solidFill>
            <a:srgbClr val="459D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51560" y="3392424"/>
            <a:ext cx="914400" cy="1828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800" b="1">
                <a:solidFill>
                  <a:srgbClr val="081927"/>
                </a:solidFill>
                <a:latin typeface="Aptos Display"/>
              </a:rPr>
              <a:t>USE 3</a:t>
            </a:r>
          </a:p>
        </p:txBody>
      </p:sp>
      <p:sp>
        <p:nvSpPr>
          <p:cNvPr id="15" name="Rectangle 14"/>
          <p:cNvSpPr/>
          <p:nvPr/>
        </p:nvSpPr>
        <p:spPr>
          <a:xfrm>
            <a:off x="1051560" y="4215383"/>
            <a:ext cx="2103120" cy="310896"/>
          </a:xfrm>
          <a:prstGeom prst="rect">
            <a:avLst/>
          </a:prstGeom>
          <a:solidFill>
            <a:srgbClr val="EF89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051560" y="3959351"/>
            <a:ext cx="914400" cy="1828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800" b="1">
                <a:solidFill>
                  <a:srgbClr val="081927"/>
                </a:solidFill>
                <a:latin typeface="Aptos Display"/>
              </a:rPr>
              <a:t>USE 4</a:t>
            </a:r>
          </a:p>
        </p:txBody>
      </p:sp>
      <p:sp>
        <p:nvSpPr>
          <p:cNvPr id="17" name="Rectangle 16"/>
          <p:cNvSpPr/>
          <p:nvPr/>
        </p:nvSpPr>
        <p:spPr>
          <a:xfrm>
            <a:off x="1051560" y="4782312"/>
            <a:ext cx="1188720" cy="310896"/>
          </a:xfrm>
          <a:prstGeom prst="rect">
            <a:avLst/>
          </a:prstGeom>
          <a:solidFill>
            <a:srgbClr val="0819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051560" y="4526280"/>
            <a:ext cx="914400" cy="1828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800" b="1">
                <a:solidFill>
                  <a:srgbClr val="081927"/>
                </a:solidFill>
                <a:latin typeface="Aptos Display"/>
              </a:rPr>
              <a:t>USE 5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321040" y="1828800"/>
            <a:ext cx="3063240" cy="3383280"/>
          </a:xfrm>
          <a:prstGeom prst="roundRect">
            <a:avLst/>
          </a:prstGeom>
          <a:solidFill>
            <a:srgbClr val="0819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641080" y="2148840"/>
            <a:ext cx="2377440" cy="2286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000" b="1">
                <a:solidFill>
                  <a:srgbClr val="EF8919"/>
                </a:solidFill>
                <a:latin typeface="Aptos Display"/>
              </a:rPr>
              <a:t>LECTURA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641080" y="2651760"/>
            <a:ext cx="2331720" cy="16002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500" b="0">
                <a:solidFill>
                  <a:srgbClr val="F8FAFB"/>
                </a:solidFill>
                <a:latin typeface="Aptos Display"/>
              </a:rPr>
              <a:t>Identificar usos significativos concentra el análisis donde existe impacto.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411480" cy="2286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000" b="1">
                <a:solidFill>
                  <a:srgbClr val="EF8919"/>
                </a:solidFill>
                <a:latin typeface="Aptos Display"/>
              </a:rPr>
              <a:t>09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78992" y="256032"/>
            <a:ext cx="10515600" cy="5029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2500" b="1">
                <a:solidFill>
                  <a:srgbClr val="081927"/>
                </a:solidFill>
                <a:latin typeface="Aptos Display"/>
              </a:rPr>
              <a:t>La línea base convierte consumo en referencia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914400"/>
            <a:ext cx="10789920" cy="34747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200" b="0">
                <a:solidFill>
                  <a:srgbClr val="708590"/>
                </a:solidFill>
                <a:latin typeface="Aptos Display"/>
              </a:rPr>
              <a:t>Consumo observado frente a comportamiento esperado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6492240"/>
            <a:ext cx="2011680" cy="16459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800" b="1">
                <a:solidFill>
                  <a:srgbClr val="708590"/>
                </a:solidFill>
                <a:latin typeface="Aptos Display"/>
              </a:rPr>
              <a:t>PAUL GÁLVEZ · USM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0" y="6492240"/>
            <a:ext cx="594360" cy="16459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r"/>
            <a:r>
              <a:rPr sz="800" b="1">
                <a:solidFill>
                  <a:srgbClr val="708590"/>
                </a:solidFill>
                <a:latin typeface="Aptos Display"/>
              </a:rPr>
              <a:t>09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5800" y="1508760"/>
            <a:ext cx="7315200" cy="4434840"/>
          </a:xfrm>
          <a:prstGeom prst="roundRect">
            <a:avLst/>
          </a:prstGeom>
          <a:solidFill>
            <a:srgbClr val="E8F0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60120" y="1828800"/>
            <a:ext cx="6766560" cy="3200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600" b="1">
                <a:solidFill>
                  <a:srgbClr val="185B74"/>
                </a:solidFill>
                <a:latin typeface="Aptos Display"/>
              </a:rPr>
              <a:t>LBEn</a:t>
            </a:r>
          </a:p>
        </p:txBody>
      </p:sp>
      <p:cxnSp>
        <p:nvCxnSpPr>
          <p:cNvPr id="9" name="Connector 8"/>
          <p:cNvCxnSpPr/>
          <p:nvPr/>
        </p:nvCxnSpPr>
        <p:spPr>
          <a:xfrm flipV="1">
            <a:off x="1143000" y="2148840"/>
            <a:ext cx="5943600" cy="2926080"/>
          </a:xfrm>
          <a:prstGeom prst="line">
            <a:avLst/>
          </a:prstGeom>
          <a:ln w="38100">
            <a:solidFill>
              <a:srgbClr val="EF891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ectangle 9"/>
          <p:cNvSpPr/>
          <p:nvPr/>
        </p:nvSpPr>
        <p:spPr>
          <a:xfrm>
            <a:off x="1234440" y="4709160"/>
            <a:ext cx="82296" cy="82296"/>
          </a:xfrm>
          <a:prstGeom prst="rect">
            <a:avLst/>
          </a:prstGeom>
          <a:solidFill>
            <a:srgbClr val="2CAA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1673352" y="4489704"/>
            <a:ext cx="82296" cy="82296"/>
          </a:xfrm>
          <a:prstGeom prst="rect">
            <a:avLst/>
          </a:prstGeom>
          <a:solidFill>
            <a:srgbClr val="2CAA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2112264" y="4270248"/>
            <a:ext cx="82296" cy="82296"/>
          </a:xfrm>
          <a:prstGeom prst="rect">
            <a:avLst/>
          </a:prstGeom>
          <a:solidFill>
            <a:srgbClr val="2CAA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2551176" y="4050792"/>
            <a:ext cx="82296" cy="82296"/>
          </a:xfrm>
          <a:prstGeom prst="rect">
            <a:avLst/>
          </a:prstGeom>
          <a:solidFill>
            <a:srgbClr val="2CAA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2990088" y="3831336"/>
            <a:ext cx="82296" cy="82296"/>
          </a:xfrm>
          <a:prstGeom prst="rect">
            <a:avLst/>
          </a:prstGeom>
          <a:solidFill>
            <a:srgbClr val="2CAA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3429000" y="4709160"/>
            <a:ext cx="82296" cy="82296"/>
          </a:xfrm>
          <a:prstGeom prst="rect">
            <a:avLst/>
          </a:prstGeom>
          <a:solidFill>
            <a:srgbClr val="2CAA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3867912" y="4489704"/>
            <a:ext cx="82296" cy="82296"/>
          </a:xfrm>
          <a:prstGeom prst="rect">
            <a:avLst/>
          </a:prstGeom>
          <a:solidFill>
            <a:srgbClr val="2CAA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4306824" y="4270248"/>
            <a:ext cx="82296" cy="82296"/>
          </a:xfrm>
          <a:prstGeom prst="rect">
            <a:avLst/>
          </a:prstGeom>
          <a:solidFill>
            <a:srgbClr val="2CAA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4745736" y="4050792"/>
            <a:ext cx="82296" cy="82296"/>
          </a:xfrm>
          <a:prstGeom prst="rect">
            <a:avLst/>
          </a:prstGeom>
          <a:solidFill>
            <a:srgbClr val="2CAA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5184648" y="3831336"/>
            <a:ext cx="82296" cy="82296"/>
          </a:xfrm>
          <a:prstGeom prst="rect">
            <a:avLst/>
          </a:prstGeom>
          <a:solidFill>
            <a:srgbClr val="2CAA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5623560" y="4709160"/>
            <a:ext cx="82296" cy="82296"/>
          </a:xfrm>
          <a:prstGeom prst="rect">
            <a:avLst/>
          </a:prstGeom>
          <a:solidFill>
            <a:srgbClr val="2CAA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062471" y="4489704"/>
            <a:ext cx="82296" cy="82296"/>
          </a:xfrm>
          <a:prstGeom prst="rect">
            <a:avLst/>
          </a:prstGeom>
          <a:solidFill>
            <a:srgbClr val="2CAA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501383" y="4270248"/>
            <a:ext cx="82296" cy="82296"/>
          </a:xfrm>
          <a:prstGeom prst="rect">
            <a:avLst/>
          </a:prstGeom>
          <a:solidFill>
            <a:srgbClr val="2CAA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8321040" y="1828800"/>
            <a:ext cx="3063240" cy="3383280"/>
          </a:xfrm>
          <a:prstGeom prst="roundRect">
            <a:avLst/>
          </a:prstGeom>
          <a:solidFill>
            <a:srgbClr val="0819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641080" y="2148840"/>
            <a:ext cx="2377440" cy="2286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000" b="1">
                <a:solidFill>
                  <a:srgbClr val="EF8919"/>
                </a:solidFill>
                <a:latin typeface="Aptos Display"/>
              </a:rPr>
              <a:t>LECTURA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641080" y="2651760"/>
            <a:ext cx="2331720" cy="16002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500" b="0">
                <a:solidFill>
                  <a:srgbClr val="F8FAFB"/>
                </a:solidFill>
                <a:latin typeface="Aptos Display"/>
              </a:rPr>
              <a:t>La referencia permite separar comportamiento observado de esperado.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411480" cy="2286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000" b="1">
                <a:solidFill>
                  <a:srgbClr val="EF8919"/>
                </a:solidFill>
                <a:latin typeface="Aptos Display"/>
              </a:rPr>
              <a:t>10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78992" y="256032"/>
            <a:ext cx="10515600" cy="5029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2500" b="1">
                <a:solidFill>
                  <a:srgbClr val="081927"/>
                </a:solidFill>
                <a:latin typeface="Aptos Display"/>
              </a:rPr>
              <a:t>El indicador permite comparar desempeño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914400"/>
            <a:ext cx="10789920" cy="34747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200" b="0">
                <a:solidFill>
                  <a:srgbClr val="708590"/>
                </a:solidFill>
                <a:latin typeface="Aptos Display"/>
              </a:rPr>
              <a:t>IB100 · CUSUM · consumo específico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6492240"/>
            <a:ext cx="2011680" cy="16459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800" b="1">
                <a:solidFill>
                  <a:srgbClr val="708590"/>
                </a:solidFill>
                <a:latin typeface="Aptos Display"/>
              </a:rPr>
              <a:t>PAUL GÁLVEZ · USM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0" y="6492240"/>
            <a:ext cx="594360" cy="16459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r"/>
            <a:r>
              <a:rPr sz="800" b="1">
                <a:solidFill>
                  <a:srgbClr val="708590"/>
                </a:solidFill>
                <a:latin typeface="Aptos Display"/>
              </a:rPr>
              <a:t>10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5800" y="1508760"/>
            <a:ext cx="7315200" cy="4434840"/>
          </a:xfrm>
          <a:prstGeom prst="roundRect">
            <a:avLst/>
          </a:prstGeom>
          <a:solidFill>
            <a:srgbClr val="E8F0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60120" y="1828800"/>
            <a:ext cx="6766560" cy="3200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600" b="1">
                <a:solidFill>
                  <a:srgbClr val="185B74"/>
                </a:solidFill>
                <a:latin typeface="Aptos Display"/>
              </a:rPr>
              <a:t>INDICADORES</a:t>
            </a:r>
          </a:p>
        </p:txBody>
      </p:sp>
      <p:sp>
        <p:nvSpPr>
          <p:cNvPr id="9" name="Rectangle 8"/>
          <p:cNvSpPr/>
          <p:nvPr/>
        </p:nvSpPr>
        <p:spPr>
          <a:xfrm>
            <a:off x="1051560" y="2743200"/>
            <a:ext cx="658368" cy="658368"/>
          </a:xfrm>
          <a:prstGeom prst="rect">
            <a:avLst/>
          </a:prstGeom>
          <a:solidFill>
            <a:srgbClr val="2CAA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828800" y="2651760"/>
            <a:ext cx="1234440" cy="2286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000" b="1">
                <a:solidFill>
                  <a:srgbClr val="081927"/>
                </a:solidFill>
                <a:latin typeface="Aptos Display"/>
              </a:rPr>
              <a:t>IB100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828800" y="3063240"/>
            <a:ext cx="1234440" cy="2743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500" b="1">
                <a:solidFill>
                  <a:srgbClr val="2CAAB8"/>
                </a:solidFill>
                <a:latin typeface="Aptos Display"/>
              </a:rPr>
              <a:t>100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017520" y="2743200"/>
            <a:ext cx="658368" cy="658368"/>
          </a:xfrm>
          <a:prstGeom prst="rect">
            <a:avLst/>
          </a:prstGeom>
          <a:solidFill>
            <a:srgbClr val="EF89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794760" y="2651760"/>
            <a:ext cx="1234440" cy="2286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000" b="1">
                <a:solidFill>
                  <a:srgbClr val="081927"/>
                </a:solidFill>
                <a:latin typeface="Aptos Display"/>
              </a:rPr>
              <a:t>CUSUM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794760" y="3063240"/>
            <a:ext cx="1234440" cy="2743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500" b="1">
                <a:solidFill>
                  <a:srgbClr val="EF8919"/>
                </a:solidFill>
                <a:latin typeface="Aptos Display"/>
              </a:rPr>
              <a:t>↗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983479" y="2743200"/>
            <a:ext cx="658368" cy="658368"/>
          </a:xfrm>
          <a:prstGeom prst="rect">
            <a:avLst/>
          </a:prstGeom>
          <a:solidFill>
            <a:srgbClr val="459D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760720" y="2651760"/>
            <a:ext cx="1234440" cy="2286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000" b="1">
                <a:solidFill>
                  <a:srgbClr val="081927"/>
                </a:solidFill>
                <a:latin typeface="Aptos Display"/>
              </a:rPr>
              <a:t>Consumo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760720" y="3063240"/>
            <a:ext cx="1234440" cy="2743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500" b="1">
                <a:solidFill>
                  <a:srgbClr val="459D69"/>
                </a:solidFill>
                <a:latin typeface="Aptos Display"/>
              </a:rPr>
              <a:t>↓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321040" y="1828800"/>
            <a:ext cx="3063240" cy="3383280"/>
          </a:xfrm>
          <a:prstGeom prst="roundRect">
            <a:avLst/>
          </a:prstGeom>
          <a:solidFill>
            <a:srgbClr val="0819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641080" y="2148840"/>
            <a:ext cx="2377440" cy="2286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000" b="1">
                <a:solidFill>
                  <a:srgbClr val="EF8919"/>
                </a:solidFill>
                <a:latin typeface="Aptos Display"/>
              </a:rPr>
              <a:t>LECTURA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641080" y="2651760"/>
            <a:ext cx="2331720" cy="16002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500" b="0">
                <a:solidFill>
                  <a:srgbClr val="F8FAFB"/>
                </a:solidFill>
                <a:latin typeface="Aptos Display"/>
              </a:rPr>
              <a:t>Un indicador no es el final: importa la tendencia.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411480" cy="2286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000" b="1">
                <a:solidFill>
                  <a:srgbClr val="EF8919"/>
                </a:solidFill>
                <a:latin typeface="Aptos Display"/>
              </a:rPr>
              <a:t>11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78992" y="256032"/>
            <a:ext cx="10515600" cy="5029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2500" b="1">
                <a:solidFill>
                  <a:srgbClr val="081927"/>
                </a:solidFill>
                <a:latin typeface="Aptos Display"/>
              </a:rPr>
              <a:t>De la desviación a la oportunidad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914400"/>
            <a:ext cx="10789920" cy="34747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200" b="0">
                <a:solidFill>
                  <a:srgbClr val="708590"/>
                </a:solidFill>
                <a:latin typeface="Aptos Display"/>
              </a:rPr>
              <a:t>Dónde concentrar el esfuerzo de mejora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6492240"/>
            <a:ext cx="2011680" cy="16459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800" b="1">
                <a:solidFill>
                  <a:srgbClr val="708590"/>
                </a:solidFill>
                <a:latin typeface="Aptos Display"/>
              </a:rPr>
              <a:t>PAUL GÁLVEZ · USM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0" y="6492240"/>
            <a:ext cx="594360" cy="16459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r"/>
            <a:r>
              <a:rPr sz="800" b="1">
                <a:solidFill>
                  <a:srgbClr val="708590"/>
                </a:solidFill>
                <a:latin typeface="Aptos Display"/>
              </a:rPr>
              <a:t>11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5800" y="1508760"/>
            <a:ext cx="7315200" cy="4434840"/>
          </a:xfrm>
          <a:prstGeom prst="roundRect">
            <a:avLst/>
          </a:prstGeom>
          <a:solidFill>
            <a:srgbClr val="E8F0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60120" y="1828800"/>
            <a:ext cx="6766560" cy="3200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600" b="1">
                <a:solidFill>
                  <a:srgbClr val="185B74"/>
                </a:solidFill>
                <a:latin typeface="Aptos Display"/>
              </a:rPr>
              <a:t>PRIORIZACIÓN</a:t>
            </a:r>
          </a:p>
        </p:txBody>
      </p:sp>
      <p:sp>
        <p:nvSpPr>
          <p:cNvPr id="9" name="Rectangle 8"/>
          <p:cNvSpPr/>
          <p:nvPr/>
        </p:nvSpPr>
        <p:spPr>
          <a:xfrm>
            <a:off x="1143000" y="4160520"/>
            <a:ext cx="868680" cy="822960"/>
          </a:xfrm>
          <a:prstGeom prst="rect">
            <a:avLst/>
          </a:prstGeom>
          <a:solidFill>
            <a:srgbClr val="CDDC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2423160" y="3611880"/>
            <a:ext cx="868680" cy="1371600"/>
          </a:xfrm>
          <a:prstGeom prst="rect">
            <a:avLst/>
          </a:prstGeom>
          <a:solidFill>
            <a:srgbClr val="AFCDD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3703320" y="3063240"/>
            <a:ext cx="868680" cy="1920240"/>
          </a:xfrm>
          <a:prstGeom prst="rect">
            <a:avLst/>
          </a:prstGeom>
          <a:solidFill>
            <a:srgbClr val="87BB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983479" y="2423160"/>
            <a:ext cx="868680" cy="2560320"/>
          </a:xfrm>
          <a:prstGeom prst="rect">
            <a:avLst/>
          </a:prstGeom>
          <a:solidFill>
            <a:srgbClr val="EF89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143000" y="5257800"/>
            <a:ext cx="5212080" cy="2286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100" b="1">
                <a:solidFill>
                  <a:srgbClr val="EF8919"/>
                </a:solidFill>
                <a:latin typeface="Aptos Display"/>
              </a:rPr>
              <a:t>PRIORIZAR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321040" y="1828800"/>
            <a:ext cx="3063240" cy="3383280"/>
          </a:xfrm>
          <a:prstGeom prst="roundRect">
            <a:avLst/>
          </a:prstGeom>
          <a:solidFill>
            <a:srgbClr val="0819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641080" y="2148840"/>
            <a:ext cx="2377440" cy="2286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000" b="1">
                <a:solidFill>
                  <a:srgbClr val="EF8919"/>
                </a:solidFill>
                <a:latin typeface="Aptos Display"/>
              </a:rPr>
              <a:t>LECTURA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641080" y="2651760"/>
            <a:ext cx="2331720" cy="16002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500" b="0">
                <a:solidFill>
                  <a:srgbClr val="F8FAFB"/>
                </a:solidFill>
                <a:latin typeface="Aptos Display"/>
              </a:rPr>
              <a:t>La mejora empieza donde la evidencia concentra impacto.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411480" cy="2286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000" b="1">
                <a:solidFill>
                  <a:srgbClr val="EF8919"/>
                </a:solidFill>
                <a:latin typeface="Aptos Display"/>
              </a:rPr>
              <a:t>12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78992" y="256032"/>
            <a:ext cx="10515600" cy="5029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2500" b="1">
                <a:solidFill>
                  <a:srgbClr val="081927"/>
                </a:solidFill>
                <a:latin typeface="Aptos Display"/>
              </a:rPr>
              <a:t>La eficiencia debe traducirse en valor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914400"/>
            <a:ext cx="10789920" cy="34747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200" b="0">
                <a:solidFill>
                  <a:srgbClr val="708590"/>
                </a:solidFill>
                <a:latin typeface="Aptos Display"/>
              </a:rPr>
              <a:t>Medidas de mejora + evaluación económica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6492240"/>
            <a:ext cx="2011680" cy="16459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800" b="1">
                <a:solidFill>
                  <a:srgbClr val="708590"/>
                </a:solidFill>
                <a:latin typeface="Aptos Display"/>
              </a:rPr>
              <a:t>PAUL GÁLVEZ · USM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0" y="6492240"/>
            <a:ext cx="594360" cy="16459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r"/>
            <a:r>
              <a:rPr sz="800" b="1">
                <a:solidFill>
                  <a:srgbClr val="708590"/>
                </a:solidFill>
                <a:latin typeface="Aptos Display"/>
              </a:rPr>
              <a:t>12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5800" y="1508760"/>
            <a:ext cx="7315200" cy="4434840"/>
          </a:xfrm>
          <a:prstGeom prst="roundRect">
            <a:avLst/>
          </a:prstGeom>
          <a:solidFill>
            <a:srgbClr val="E8F0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60120" y="1828800"/>
            <a:ext cx="6766560" cy="3200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600" b="1">
                <a:solidFill>
                  <a:srgbClr val="185B74"/>
                </a:solidFill>
                <a:latin typeface="Aptos Display"/>
              </a:rPr>
              <a:t>VALOR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" y="2743200"/>
            <a:ext cx="1554480" cy="3657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600" b="1">
                <a:solidFill>
                  <a:srgbClr val="081927"/>
                </a:solidFill>
                <a:latin typeface="Aptos Display"/>
              </a:rPr>
              <a:t>MEJORA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651760" y="2743200"/>
            <a:ext cx="548640" cy="3657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2400" b="1">
                <a:solidFill>
                  <a:srgbClr val="EF8919"/>
                </a:solidFill>
                <a:latin typeface="Aptos Display"/>
              </a:rPr>
              <a:t>→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383280" y="2743200"/>
            <a:ext cx="1554480" cy="3657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600" b="1">
                <a:solidFill>
                  <a:srgbClr val="459D69"/>
                </a:solidFill>
                <a:latin typeface="Aptos Display"/>
              </a:rPr>
              <a:t>AHORRO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983480" y="2743200"/>
            <a:ext cx="548640" cy="3657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2400" b="1">
                <a:solidFill>
                  <a:srgbClr val="EF8919"/>
                </a:solidFill>
                <a:latin typeface="Aptos Display"/>
              </a:rPr>
              <a:t>→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669280" y="2743200"/>
            <a:ext cx="1371600" cy="3657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600" b="1">
                <a:solidFill>
                  <a:srgbClr val="185B74"/>
                </a:solidFill>
                <a:latin typeface="Aptos Display"/>
              </a:rPr>
              <a:t>VALOR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321040" y="1828800"/>
            <a:ext cx="3063240" cy="3383280"/>
          </a:xfrm>
          <a:prstGeom prst="roundRect">
            <a:avLst/>
          </a:prstGeom>
          <a:solidFill>
            <a:srgbClr val="0819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641080" y="2148840"/>
            <a:ext cx="2377440" cy="2286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000" b="1">
                <a:solidFill>
                  <a:srgbClr val="EF8919"/>
                </a:solidFill>
                <a:latin typeface="Aptos Display"/>
              </a:rPr>
              <a:t>LECTURA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641080" y="2651760"/>
            <a:ext cx="2331720" cy="16002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500" b="0">
                <a:solidFill>
                  <a:srgbClr val="F8FAFB"/>
                </a:solidFill>
                <a:latin typeface="Aptos Display"/>
              </a:rPr>
              <a:t>La eficiencia adquiere sentido cuando sostiene una decisión.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19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411480" cy="2286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000" b="1">
                <a:solidFill>
                  <a:srgbClr val="EF8919"/>
                </a:solidFill>
                <a:latin typeface="Aptos Display"/>
              </a:rPr>
              <a:t>13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78992" y="256032"/>
            <a:ext cx="10515600" cy="5029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2500" b="1">
                <a:solidFill>
                  <a:srgbClr val="F8FAFB"/>
                </a:solidFill>
                <a:latin typeface="Aptos Display"/>
              </a:rPr>
              <a:t>¿Podemos anticiparnos?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914400"/>
            <a:ext cx="10789920" cy="34747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200" b="0">
                <a:solidFill>
                  <a:srgbClr val="D6E3E8"/>
                </a:solidFill>
                <a:latin typeface="Aptos Display"/>
              </a:rPr>
              <a:t>Hasta aquí podemos medir, entender y comparar. Ahora cambia la pregunta.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6492240"/>
            <a:ext cx="2011680" cy="16459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800" b="1">
                <a:solidFill>
                  <a:srgbClr val="91A6B0"/>
                </a:solidFill>
                <a:latin typeface="Aptos Display"/>
              </a:rPr>
              <a:t>PAUL GÁLVEZ · USM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0" y="6492240"/>
            <a:ext cx="594360" cy="16459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r"/>
            <a:r>
              <a:rPr sz="800" b="1">
                <a:solidFill>
                  <a:srgbClr val="91A6B0"/>
                </a:solidFill>
                <a:latin typeface="Aptos Display"/>
              </a:rPr>
              <a:t>13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2331720"/>
            <a:ext cx="2560320" cy="3657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600" b="1">
                <a:solidFill>
                  <a:srgbClr val="D6E3E8"/>
                </a:solidFill>
                <a:latin typeface="Aptos Display"/>
              </a:rPr>
              <a:t>PASADO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886200" y="2267712"/>
            <a:ext cx="640080" cy="4114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2800" b="1">
                <a:solidFill>
                  <a:srgbClr val="EF8919"/>
                </a:solidFill>
                <a:latin typeface="Aptos Display"/>
              </a:rPr>
              <a:t>→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617720" y="2331720"/>
            <a:ext cx="2560320" cy="3657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600" b="1">
                <a:solidFill>
                  <a:srgbClr val="F8FAFB"/>
                </a:solidFill>
                <a:latin typeface="Aptos Display"/>
              </a:rPr>
              <a:t>FUTURO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828800" y="3749039"/>
            <a:ext cx="8503920" cy="5029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2300" b="1">
                <a:solidFill>
                  <a:srgbClr val="EF8919"/>
                </a:solidFill>
                <a:latin typeface="Aptos Display"/>
              </a:rPr>
              <a:t>¿Qué comportamiento energético esperamos?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411480" cy="2286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000" b="1">
                <a:solidFill>
                  <a:srgbClr val="EF8919"/>
                </a:solidFill>
                <a:latin typeface="Aptos Display"/>
              </a:rPr>
              <a:t>14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78992" y="256032"/>
            <a:ext cx="10515600" cy="5029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2500" b="1">
                <a:solidFill>
                  <a:srgbClr val="081927"/>
                </a:solidFill>
                <a:latin typeface="Aptos Display"/>
              </a:rPr>
              <a:t>De la analítica descriptiva a Machine Learning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914400"/>
            <a:ext cx="10789920" cy="34747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200" b="0">
                <a:solidFill>
                  <a:srgbClr val="708590"/>
                </a:solidFill>
                <a:latin typeface="Aptos Display"/>
              </a:rPr>
              <a:t>No es una clase de algoritmos: es una evolución de capacidad.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6492240"/>
            <a:ext cx="2011680" cy="16459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800" b="1">
                <a:solidFill>
                  <a:srgbClr val="708590"/>
                </a:solidFill>
                <a:latin typeface="Aptos Display"/>
              </a:rPr>
              <a:t>PAUL GÁLVEZ · USM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0" y="6492240"/>
            <a:ext cx="594360" cy="16459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r"/>
            <a:r>
              <a:rPr sz="800" b="1">
                <a:solidFill>
                  <a:srgbClr val="708590"/>
                </a:solidFill>
                <a:latin typeface="Aptos Display"/>
              </a:rPr>
              <a:t>14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77240" y="2148840"/>
            <a:ext cx="3063240" cy="2148840"/>
          </a:xfrm>
          <a:prstGeom prst="roundRect">
            <a:avLst/>
          </a:prstGeom>
          <a:solidFill>
            <a:srgbClr val="E8F0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60120" y="2743200"/>
            <a:ext cx="2697480" cy="3200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300" b="1">
                <a:solidFill>
                  <a:srgbClr val="081927"/>
                </a:solidFill>
                <a:latin typeface="Aptos Display"/>
              </a:rPr>
              <a:t>RELACIONES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959352" y="2862072"/>
            <a:ext cx="411480" cy="2743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900" b="1">
                <a:solidFill>
                  <a:srgbClr val="EF8919"/>
                </a:solidFill>
                <a:latin typeface="Aptos Display"/>
              </a:rPr>
              <a:t>→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72000" y="2148840"/>
            <a:ext cx="3063240" cy="2148840"/>
          </a:xfrm>
          <a:prstGeom prst="roundRect">
            <a:avLst/>
          </a:prstGeom>
          <a:solidFill>
            <a:srgbClr val="E8F0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754880" y="2743200"/>
            <a:ext cx="2697480" cy="3200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300" b="1">
                <a:solidFill>
                  <a:srgbClr val="081927"/>
                </a:solidFill>
                <a:latin typeface="Aptos Display"/>
              </a:rPr>
              <a:t>MULTIVARIABLE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54112" y="2862072"/>
            <a:ext cx="411480" cy="2743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900" b="1">
                <a:solidFill>
                  <a:srgbClr val="EF8919"/>
                </a:solidFill>
                <a:latin typeface="Aptos Display"/>
              </a:rPr>
              <a:t>→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366760" y="2148840"/>
            <a:ext cx="3063240" cy="2148840"/>
          </a:xfrm>
          <a:prstGeom prst="roundRect">
            <a:avLst/>
          </a:prstGeom>
          <a:solidFill>
            <a:srgbClr val="0819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549640" y="2743200"/>
            <a:ext cx="2697480" cy="3200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300" b="1">
                <a:solidFill>
                  <a:srgbClr val="F8FAFB"/>
                </a:solidFill>
                <a:latin typeface="Aptos Display"/>
              </a:rPr>
              <a:t>PREDICCIÓN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411480" cy="2286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000" b="1">
                <a:solidFill>
                  <a:srgbClr val="EF8919"/>
                </a:solidFill>
                <a:latin typeface="Aptos Display"/>
              </a:rPr>
              <a:t>15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78992" y="256032"/>
            <a:ext cx="10515600" cy="5029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2500" b="1">
                <a:solidFill>
                  <a:srgbClr val="081927"/>
                </a:solidFill>
                <a:latin typeface="Aptos Display"/>
              </a:rPr>
              <a:t>Predicción · observar vs. anticipar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914400"/>
            <a:ext cx="10789920" cy="34747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200" b="0">
                <a:solidFill>
                  <a:srgbClr val="708590"/>
                </a:solidFill>
                <a:latin typeface="Aptos Display"/>
              </a:rPr>
              <a:t>La demostración debe mostrar el resultado, no el código.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6492240"/>
            <a:ext cx="2011680" cy="16459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800" b="1">
                <a:solidFill>
                  <a:srgbClr val="708590"/>
                </a:solidFill>
                <a:latin typeface="Aptos Display"/>
              </a:rPr>
              <a:t>PAUL GÁLVEZ · USM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0" y="6492240"/>
            <a:ext cx="594360" cy="16459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r"/>
            <a:r>
              <a:rPr sz="800" b="1">
                <a:solidFill>
                  <a:srgbClr val="708590"/>
                </a:solidFill>
                <a:latin typeface="Aptos Display"/>
              </a:rPr>
              <a:t>15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5800" y="1463040"/>
            <a:ext cx="7360920" cy="4526280"/>
          </a:xfrm>
          <a:prstGeom prst="roundRect">
            <a:avLst/>
          </a:prstGeom>
          <a:solidFill>
            <a:srgbClr val="E8F0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8" name="Connector 7"/>
          <p:cNvCxnSpPr/>
          <p:nvPr/>
        </p:nvCxnSpPr>
        <p:spPr>
          <a:xfrm flipV="1">
            <a:off x="1143000" y="2240280"/>
            <a:ext cx="6126480" cy="2834640"/>
          </a:xfrm>
          <a:prstGeom prst="line">
            <a:avLst/>
          </a:prstGeom>
          <a:ln w="27940">
            <a:solidFill>
              <a:srgbClr val="2CAAB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 flipV="1">
            <a:off x="1143000" y="2560320"/>
            <a:ext cx="6126480" cy="2697480"/>
          </a:xfrm>
          <a:prstGeom prst="line">
            <a:avLst/>
          </a:prstGeom>
          <a:ln w="27940">
            <a:solidFill>
              <a:srgbClr val="EF891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ectangle 9"/>
          <p:cNvSpPr/>
          <p:nvPr/>
        </p:nvSpPr>
        <p:spPr>
          <a:xfrm>
            <a:off x="1234440" y="4983480"/>
            <a:ext cx="73152" cy="73152"/>
          </a:xfrm>
          <a:prstGeom prst="rect">
            <a:avLst/>
          </a:prstGeom>
          <a:solidFill>
            <a:srgbClr val="2CAA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1234440" y="5212080"/>
            <a:ext cx="73152" cy="73152"/>
          </a:xfrm>
          <a:prstGeom prst="rect">
            <a:avLst/>
          </a:prstGeom>
          <a:solidFill>
            <a:srgbClr val="EF89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1664208" y="4782312"/>
            <a:ext cx="73152" cy="73152"/>
          </a:xfrm>
          <a:prstGeom prst="rect">
            <a:avLst/>
          </a:prstGeom>
          <a:solidFill>
            <a:srgbClr val="2CAA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1664208" y="5020056"/>
            <a:ext cx="73152" cy="73152"/>
          </a:xfrm>
          <a:prstGeom prst="rect">
            <a:avLst/>
          </a:prstGeom>
          <a:solidFill>
            <a:srgbClr val="EF89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2093976" y="4581144"/>
            <a:ext cx="73152" cy="73152"/>
          </a:xfrm>
          <a:prstGeom prst="rect">
            <a:avLst/>
          </a:prstGeom>
          <a:solidFill>
            <a:srgbClr val="2CAA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2093976" y="4828032"/>
            <a:ext cx="73152" cy="73152"/>
          </a:xfrm>
          <a:prstGeom prst="rect">
            <a:avLst/>
          </a:prstGeom>
          <a:solidFill>
            <a:srgbClr val="EF89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2523744" y="4379976"/>
            <a:ext cx="73152" cy="73152"/>
          </a:xfrm>
          <a:prstGeom prst="rect">
            <a:avLst/>
          </a:prstGeom>
          <a:solidFill>
            <a:srgbClr val="2CAA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2523744" y="4636008"/>
            <a:ext cx="73152" cy="73152"/>
          </a:xfrm>
          <a:prstGeom prst="rect">
            <a:avLst/>
          </a:prstGeom>
          <a:solidFill>
            <a:srgbClr val="EF89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2953512" y="4178808"/>
            <a:ext cx="73152" cy="73152"/>
          </a:xfrm>
          <a:prstGeom prst="rect">
            <a:avLst/>
          </a:prstGeom>
          <a:solidFill>
            <a:srgbClr val="2CAA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2953512" y="4443984"/>
            <a:ext cx="73152" cy="73152"/>
          </a:xfrm>
          <a:prstGeom prst="rect">
            <a:avLst/>
          </a:prstGeom>
          <a:solidFill>
            <a:srgbClr val="EF89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3383279" y="4983480"/>
            <a:ext cx="73152" cy="73152"/>
          </a:xfrm>
          <a:prstGeom prst="rect">
            <a:avLst/>
          </a:prstGeom>
          <a:solidFill>
            <a:srgbClr val="2CAA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3383279" y="5212080"/>
            <a:ext cx="73152" cy="73152"/>
          </a:xfrm>
          <a:prstGeom prst="rect">
            <a:avLst/>
          </a:prstGeom>
          <a:solidFill>
            <a:srgbClr val="EF89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3813048" y="4782312"/>
            <a:ext cx="73152" cy="73152"/>
          </a:xfrm>
          <a:prstGeom prst="rect">
            <a:avLst/>
          </a:prstGeom>
          <a:solidFill>
            <a:srgbClr val="2CAA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3813048" y="5020056"/>
            <a:ext cx="73152" cy="73152"/>
          </a:xfrm>
          <a:prstGeom prst="rect">
            <a:avLst/>
          </a:prstGeom>
          <a:solidFill>
            <a:srgbClr val="EF89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4242816" y="4581144"/>
            <a:ext cx="73152" cy="73152"/>
          </a:xfrm>
          <a:prstGeom prst="rect">
            <a:avLst/>
          </a:prstGeom>
          <a:solidFill>
            <a:srgbClr val="2CAA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4242816" y="4828032"/>
            <a:ext cx="73152" cy="73152"/>
          </a:xfrm>
          <a:prstGeom prst="rect">
            <a:avLst/>
          </a:prstGeom>
          <a:solidFill>
            <a:srgbClr val="EF89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4672583" y="4379976"/>
            <a:ext cx="73152" cy="73152"/>
          </a:xfrm>
          <a:prstGeom prst="rect">
            <a:avLst/>
          </a:prstGeom>
          <a:solidFill>
            <a:srgbClr val="2CAA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4672583" y="4636008"/>
            <a:ext cx="73152" cy="73152"/>
          </a:xfrm>
          <a:prstGeom prst="rect">
            <a:avLst/>
          </a:prstGeom>
          <a:solidFill>
            <a:srgbClr val="EF89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5102352" y="4178808"/>
            <a:ext cx="73152" cy="73152"/>
          </a:xfrm>
          <a:prstGeom prst="rect">
            <a:avLst/>
          </a:prstGeom>
          <a:solidFill>
            <a:srgbClr val="2CAA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5102352" y="4443984"/>
            <a:ext cx="73152" cy="73152"/>
          </a:xfrm>
          <a:prstGeom prst="rect">
            <a:avLst/>
          </a:prstGeom>
          <a:solidFill>
            <a:srgbClr val="EF89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5532119" y="4983480"/>
            <a:ext cx="73152" cy="73152"/>
          </a:xfrm>
          <a:prstGeom prst="rect">
            <a:avLst/>
          </a:prstGeom>
          <a:solidFill>
            <a:srgbClr val="2CAA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5532119" y="5212080"/>
            <a:ext cx="73152" cy="73152"/>
          </a:xfrm>
          <a:prstGeom prst="rect">
            <a:avLst/>
          </a:prstGeom>
          <a:solidFill>
            <a:srgbClr val="EF89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5961888" y="4782312"/>
            <a:ext cx="73152" cy="73152"/>
          </a:xfrm>
          <a:prstGeom prst="rect">
            <a:avLst/>
          </a:prstGeom>
          <a:solidFill>
            <a:srgbClr val="2CAA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5961888" y="5020056"/>
            <a:ext cx="73152" cy="73152"/>
          </a:xfrm>
          <a:prstGeom prst="rect">
            <a:avLst/>
          </a:prstGeom>
          <a:solidFill>
            <a:srgbClr val="EF89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6391656" y="4581144"/>
            <a:ext cx="73152" cy="73152"/>
          </a:xfrm>
          <a:prstGeom prst="rect">
            <a:avLst/>
          </a:prstGeom>
          <a:solidFill>
            <a:srgbClr val="2CAA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6391656" y="4828032"/>
            <a:ext cx="73152" cy="73152"/>
          </a:xfrm>
          <a:prstGeom prst="rect">
            <a:avLst/>
          </a:prstGeom>
          <a:solidFill>
            <a:srgbClr val="EF89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6821423" y="4379976"/>
            <a:ext cx="73152" cy="73152"/>
          </a:xfrm>
          <a:prstGeom prst="rect">
            <a:avLst/>
          </a:prstGeom>
          <a:solidFill>
            <a:srgbClr val="2CAA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6821423" y="4636008"/>
            <a:ext cx="73152" cy="73152"/>
          </a:xfrm>
          <a:prstGeom prst="rect">
            <a:avLst/>
          </a:prstGeom>
          <a:solidFill>
            <a:srgbClr val="EF89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ounded Rectangle 37"/>
          <p:cNvSpPr/>
          <p:nvPr/>
        </p:nvSpPr>
        <p:spPr>
          <a:xfrm>
            <a:off x="8366760" y="1874519"/>
            <a:ext cx="2971800" cy="3429000"/>
          </a:xfrm>
          <a:prstGeom prst="roundRect">
            <a:avLst/>
          </a:prstGeom>
          <a:solidFill>
            <a:srgbClr val="0819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8595360" y="2926080"/>
            <a:ext cx="2514600" cy="5029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800" b="1">
                <a:solidFill>
                  <a:srgbClr val="F8FAFB"/>
                </a:solidFill>
                <a:latin typeface="Aptos Display"/>
              </a:rPr>
              <a:t>REAL  ↔  PREDICHO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411480" cy="2286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000" b="1">
                <a:solidFill>
                  <a:srgbClr val="EF8919"/>
                </a:solidFill>
                <a:latin typeface="Aptos Display"/>
              </a:rPr>
              <a:t>16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78992" y="256032"/>
            <a:ext cx="10515600" cy="5029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2500" b="1">
                <a:solidFill>
                  <a:srgbClr val="081927"/>
                </a:solidFill>
                <a:latin typeface="Aptos Display"/>
              </a:rPr>
              <a:t>¿Qué tan bueno es el modelo?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914400"/>
            <a:ext cx="10789920" cy="34747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200" b="0">
                <a:solidFill>
                  <a:srgbClr val="708590"/>
                </a:solidFill>
                <a:latin typeface="Aptos Display"/>
              </a:rPr>
              <a:t>Las métricas validan si la predicción es suficientemente útil.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6492240"/>
            <a:ext cx="2011680" cy="16459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800" b="1">
                <a:solidFill>
                  <a:srgbClr val="708590"/>
                </a:solidFill>
                <a:latin typeface="Aptos Display"/>
              </a:rPr>
              <a:t>PAUL GÁLVEZ · USM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0" y="6492240"/>
            <a:ext cx="594360" cy="16459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r"/>
            <a:r>
              <a:rPr sz="800" b="1">
                <a:solidFill>
                  <a:srgbClr val="708590"/>
                </a:solidFill>
                <a:latin typeface="Aptos Display"/>
              </a:rPr>
              <a:t>16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914400" y="1965960"/>
            <a:ext cx="2971800" cy="2423160"/>
          </a:xfrm>
          <a:prstGeom prst="roundRect">
            <a:avLst/>
          </a:prstGeom>
          <a:solidFill>
            <a:srgbClr val="0819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97280" y="2359152"/>
            <a:ext cx="2606040" cy="3200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400" b="1">
                <a:solidFill>
                  <a:srgbClr val="F8FAFB"/>
                </a:solidFill>
                <a:latin typeface="Aptos Display"/>
              </a:rPr>
              <a:t>RMSE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" y="3063240"/>
            <a:ext cx="2606040" cy="6400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500" b="1">
                <a:solidFill>
                  <a:srgbClr val="2CAAB8"/>
                </a:solidFill>
                <a:latin typeface="Aptos Display"/>
              </a:rPr>
              <a:t>VALOR
VERIFICADO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617720" y="1965960"/>
            <a:ext cx="2971800" cy="2423160"/>
          </a:xfrm>
          <a:prstGeom prst="roundRect">
            <a:avLst/>
          </a:prstGeom>
          <a:solidFill>
            <a:srgbClr val="0819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800600" y="2359152"/>
            <a:ext cx="2606040" cy="3200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400" b="1">
                <a:solidFill>
                  <a:srgbClr val="F8FAFB"/>
                </a:solidFill>
                <a:latin typeface="Aptos Display"/>
              </a:rPr>
              <a:t>MAE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800600" y="3063240"/>
            <a:ext cx="2606040" cy="6400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500" b="1">
                <a:solidFill>
                  <a:srgbClr val="EF8919"/>
                </a:solidFill>
                <a:latin typeface="Aptos Display"/>
              </a:rPr>
              <a:t>VALOR
VERIFICADO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321040" y="1965960"/>
            <a:ext cx="2971800" cy="2423160"/>
          </a:xfrm>
          <a:prstGeom prst="roundRect">
            <a:avLst/>
          </a:prstGeom>
          <a:solidFill>
            <a:srgbClr val="0819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503919" y="2359152"/>
            <a:ext cx="2606040" cy="3200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400" b="1">
                <a:solidFill>
                  <a:srgbClr val="F8FAFB"/>
                </a:solidFill>
                <a:latin typeface="Aptos Display"/>
              </a:rPr>
              <a:t>R²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503919" y="3063240"/>
            <a:ext cx="2606040" cy="6400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500" b="1">
                <a:solidFill>
                  <a:srgbClr val="459D69"/>
                </a:solidFill>
                <a:latin typeface="Aptos Display"/>
              </a:rPr>
              <a:t>VALOR
VERIFICADO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19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411480" cy="2286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000" b="1">
                <a:solidFill>
                  <a:srgbClr val="EF8919"/>
                </a:solidFill>
                <a:latin typeface="Aptos Display"/>
              </a:rPr>
              <a:t>17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78992" y="256032"/>
            <a:ext cx="10515600" cy="5029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2500" b="1">
                <a:solidFill>
                  <a:srgbClr val="F8FAFB"/>
                </a:solidFill>
                <a:latin typeface="Aptos Display"/>
              </a:rPr>
              <a:t>Predecir no es suficiente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914400"/>
            <a:ext cx="10789920" cy="34747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200" b="0">
                <a:solidFill>
                  <a:srgbClr val="D6E3E8"/>
                </a:solidFill>
                <a:latin typeface="Aptos Display"/>
              </a:rPr>
              <a:t>Una predicción útil también debe poder interpretarse.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6492240"/>
            <a:ext cx="2011680" cy="16459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800" b="1">
                <a:solidFill>
                  <a:srgbClr val="91A6B0"/>
                </a:solidFill>
                <a:latin typeface="Aptos Display"/>
              </a:rPr>
              <a:t>PAUL GÁLVEZ · USM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0" y="6492240"/>
            <a:ext cx="594360" cy="16459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r"/>
            <a:r>
              <a:rPr sz="800" b="1">
                <a:solidFill>
                  <a:srgbClr val="91A6B0"/>
                </a:solidFill>
                <a:latin typeface="Aptos Display"/>
              </a:rPr>
              <a:t>17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88720" y="1920240"/>
            <a:ext cx="2286000" cy="9144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5500" b="1">
                <a:solidFill>
                  <a:srgbClr val="EF8919"/>
                </a:solidFill>
                <a:latin typeface="Aptos Display"/>
              </a:rPr>
              <a:t>ŷ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" y="2926080"/>
            <a:ext cx="2468880" cy="2743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100" b="1">
                <a:solidFill>
                  <a:srgbClr val="F8FAFB"/>
                </a:solidFill>
                <a:latin typeface="Aptos Display"/>
              </a:rPr>
              <a:t>PREDICCIÓN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251960" y="2286000"/>
            <a:ext cx="731520" cy="5029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3000" b="1">
                <a:solidFill>
                  <a:srgbClr val="EF8919"/>
                </a:solidFill>
                <a:latin typeface="Aptos Display"/>
              </a:rPr>
              <a:t>≠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120640" y="2286000"/>
            <a:ext cx="2468880" cy="3657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800" b="1">
                <a:solidFill>
                  <a:srgbClr val="F8FAFB"/>
                </a:solidFill>
                <a:latin typeface="Aptos Display"/>
              </a:rPr>
              <a:t>DECISIÓN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920240" y="4343400"/>
            <a:ext cx="8138160" cy="4114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2000" b="1">
                <a:solidFill>
                  <a:srgbClr val="EF8919"/>
                </a:solidFill>
                <a:latin typeface="Aptos Display"/>
              </a:rPr>
              <a:t>¿por qué el modelo llegó a ese resultado?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411480" cy="2286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000" b="1">
                <a:solidFill>
                  <a:srgbClr val="EF8919"/>
                </a:solidFill>
                <a:latin typeface="Aptos Display"/>
              </a:rPr>
              <a:t>18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78992" y="256032"/>
            <a:ext cx="10515600" cy="5029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2500" b="1">
                <a:solidFill>
                  <a:srgbClr val="081927"/>
                </a:solidFill>
                <a:latin typeface="Aptos Display"/>
              </a:rPr>
              <a:t>¿Por qué el modelo predijo eso?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914400"/>
            <a:ext cx="10789920" cy="34747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200" b="0">
                <a:solidFill>
                  <a:srgbClr val="708590"/>
                </a:solidFill>
                <a:latin typeface="Aptos Display"/>
              </a:rPr>
              <a:t>XAI / SHAP: pasar de resultado a explicación.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6492240"/>
            <a:ext cx="2011680" cy="16459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800" b="1">
                <a:solidFill>
                  <a:srgbClr val="708590"/>
                </a:solidFill>
                <a:latin typeface="Aptos Display"/>
              </a:rPr>
              <a:t>PAUL GÁLVEZ · USM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0" y="6492240"/>
            <a:ext cx="594360" cy="16459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r"/>
            <a:r>
              <a:rPr sz="800" b="1">
                <a:solidFill>
                  <a:srgbClr val="708590"/>
                </a:solidFill>
                <a:latin typeface="Aptos Display"/>
              </a:rPr>
              <a:t>18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77240" y="1508760"/>
            <a:ext cx="10652760" cy="4434840"/>
          </a:xfrm>
          <a:prstGeom prst="roundRect">
            <a:avLst/>
          </a:prstGeom>
          <a:solidFill>
            <a:srgbClr val="E8F0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43000" y="1874519"/>
            <a:ext cx="1600200" cy="25603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100" b="1">
                <a:solidFill>
                  <a:srgbClr val="081927"/>
                </a:solidFill>
                <a:latin typeface="Aptos Display"/>
              </a:rPr>
              <a:t>Producción</a:t>
            </a:r>
          </a:p>
        </p:txBody>
      </p:sp>
      <p:sp>
        <p:nvSpPr>
          <p:cNvPr id="9" name="Rectangle 8"/>
          <p:cNvSpPr/>
          <p:nvPr/>
        </p:nvSpPr>
        <p:spPr>
          <a:xfrm>
            <a:off x="2834640" y="1892807"/>
            <a:ext cx="4297680" cy="274320"/>
          </a:xfrm>
          <a:prstGeom prst="rect">
            <a:avLst/>
          </a:prstGeom>
          <a:solidFill>
            <a:srgbClr val="EF89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43000" y="2569463"/>
            <a:ext cx="1600200" cy="25603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100" b="1">
                <a:solidFill>
                  <a:srgbClr val="081927"/>
                </a:solidFill>
                <a:latin typeface="Aptos Display"/>
              </a:rPr>
              <a:t>Temperatura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834640" y="2587751"/>
            <a:ext cx="3200400" cy="274320"/>
          </a:xfrm>
          <a:prstGeom prst="rect">
            <a:avLst/>
          </a:prstGeom>
          <a:solidFill>
            <a:srgbClr val="2CAA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43000" y="3264408"/>
            <a:ext cx="1600200" cy="25603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100" b="1">
                <a:solidFill>
                  <a:srgbClr val="081927"/>
                </a:solidFill>
                <a:latin typeface="Aptos Display"/>
              </a:rPr>
              <a:t>Carga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834640" y="3282696"/>
            <a:ext cx="2194560" cy="274320"/>
          </a:xfrm>
          <a:prstGeom prst="rect">
            <a:avLst/>
          </a:prstGeom>
          <a:solidFill>
            <a:srgbClr val="459D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43000" y="3959352"/>
            <a:ext cx="1600200" cy="25603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100" b="1">
                <a:solidFill>
                  <a:srgbClr val="081927"/>
                </a:solidFill>
                <a:latin typeface="Aptos Display"/>
              </a:rPr>
              <a:t>Hora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834640" y="3977639"/>
            <a:ext cx="1280160" cy="274320"/>
          </a:xfrm>
          <a:prstGeom prst="rect">
            <a:avLst/>
          </a:prstGeom>
          <a:solidFill>
            <a:srgbClr val="185B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143000" y="4654296"/>
            <a:ext cx="1600200" cy="25603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100" b="1">
                <a:solidFill>
                  <a:srgbClr val="081927"/>
                </a:solidFill>
                <a:latin typeface="Aptos Display"/>
              </a:rPr>
              <a:t>Otros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2834640" y="4672583"/>
            <a:ext cx="457200" cy="274320"/>
          </a:xfrm>
          <a:prstGeom prst="rect">
            <a:avLst/>
          </a:prstGeom>
          <a:solidFill>
            <a:srgbClr val="7085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411480" cy="2286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000" b="1">
                <a:solidFill>
                  <a:srgbClr val="EF8919"/>
                </a:solidFill>
                <a:latin typeface="Aptos Display"/>
              </a:rPr>
              <a:t>19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78992" y="256032"/>
            <a:ext cx="10515600" cy="5029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2500" b="1">
                <a:solidFill>
                  <a:srgbClr val="081927"/>
                </a:solidFill>
                <a:latin typeface="Aptos Display"/>
              </a:rPr>
              <a:t>¿Qué pasa si cambiamos las condiciones?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914400"/>
            <a:ext cx="10789920" cy="34747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200" b="0">
                <a:solidFill>
                  <a:srgbClr val="708590"/>
                </a:solidFill>
                <a:latin typeface="Aptos Display"/>
              </a:rPr>
              <a:t>Escenarios: explorar antes de actuar.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6492240"/>
            <a:ext cx="2011680" cy="16459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800" b="1">
                <a:solidFill>
                  <a:srgbClr val="708590"/>
                </a:solidFill>
                <a:latin typeface="Aptos Display"/>
              </a:rPr>
              <a:t>PAUL GÁLVEZ · USM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0" y="6492240"/>
            <a:ext cx="594360" cy="16459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r"/>
            <a:r>
              <a:rPr sz="800" b="1">
                <a:solidFill>
                  <a:srgbClr val="708590"/>
                </a:solidFill>
                <a:latin typeface="Aptos Display"/>
              </a:rPr>
              <a:t>19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77240" y="2148840"/>
            <a:ext cx="3063240" cy="2148840"/>
          </a:xfrm>
          <a:prstGeom prst="roundRect">
            <a:avLst/>
          </a:prstGeom>
          <a:solidFill>
            <a:srgbClr val="E8F0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60120" y="2743200"/>
            <a:ext cx="2697480" cy="3200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300" b="1">
                <a:solidFill>
                  <a:srgbClr val="081927"/>
                </a:solidFill>
                <a:latin typeface="Aptos Display"/>
              </a:rPr>
              <a:t>BASE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959352" y="2862072"/>
            <a:ext cx="411480" cy="2743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900" b="1">
                <a:solidFill>
                  <a:srgbClr val="EF8919"/>
                </a:solidFill>
                <a:latin typeface="Aptos Display"/>
              </a:rPr>
              <a:t>→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72000" y="2148840"/>
            <a:ext cx="3063240" cy="2148840"/>
          </a:xfrm>
          <a:prstGeom prst="roundRect">
            <a:avLst/>
          </a:prstGeom>
          <a:solidFill>
            <a:srgbClr val="E8F0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754880" y="2743200"/>
            <a:ext cx="2697480" cy="3200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300" b="1">
                <a:solidFill>
                  <a:srgbClr val="081927"/>
                </a:solidFill>
                <a:latin typeface="Aptos Display"/>
              </a:rPr>
              <a:t>CAMBIO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54112" y="2862072"/>
            <a:ext cx="411480" cy="2743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900" b="1">
                <a:solidFill>
                  <a:srgbClr val="EF8919"/>
                </a:solidFill>
                <a:latin typeface="Aptos Display"/>
              </a:rPr>
              <a:t>→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366760" y="2148840"/>
            <a:ext cx="3063240" cy="2148840"/>
          </a:xfrm>
          <a:prstGeom prst="roundRect">
            <a:avLst/>
          </a:prstGeom>
          <a:solidFill>
            <a:srgbClr val="0819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549640" y="2743200"/>
            <a:ext cx="2697480" cy="3200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300" b="1">
                <a:solidFill>
                  <a:srgbClr val="F8FAFB"/>
                </a:solidFill>
                <a:latin typeface="Aptos Display"/>
              </a:rPr>
              <a:t>RESULTADO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19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411480" cy="2286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000" b="1">
                <a:solidFill>
                  <a:srgbClr val="EF8919"/>
                </a:solidFill>
                <a:latin typeface="Aptos Display"/>
              </a:rPr>
              <a:t>20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78992" y="256032"/>
            <a:ext cx="10515600" cy="5029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2500" b="1">
                <a:solidFill>
                  <a:srgbClr val="F8FAFB"/>
                </a:solidFill>
                <a:latin typeface="Aptos Display"/>
              </a:rPr>
              <a:t>De la explicación a la simulación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914400"/>
            <a:ext cx="10789920" cy="34747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200" b="0">
                <a:solidFill>
                  <a:srgbClr val="D6E3E8"/>
                </a:solidFill>
                <a:latin typeface="Aptos Display"/>
              </a:rPr>
              <a:t>Comparar alternativas con una misma lógica de decisión.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6492240"/>
            <a:ext cx="2011680" cy="16459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800" b="1">
                <a:solidFill>
                  <a:srgbClr val="91A6B0"/>
                </a:solidFill>
                <a:latin typeface="Aptos Display"/>
              </a:rPr>
              <a:t>PAUL GÁLVEZ · USM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0" y="6492240"/>
            <a:ext cx="594360" cy="16459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r"/>
            <a:r>
              <a:rPr sz="800" b="1">
                <a:solidFill>
                  <a:srgbClr val="91A6B0"/>
                </a:solidFill>
                <a:latin typeface="Aptos Display"/>
              </a:rPr>
              <a:t>20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77240" y="2148840"/>
            <a:ext cx="3063240" cy="2148840"/>
          </a:xfrm>
          <a:prstGeom prst="roundRect">
            <a:avLst/>
          </a:prstGeom>
          <a:solidFill>
            <a:srgbClr val="E8F0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60120" y="2743200"/>
            <a:ext cx="2697480" cy="3200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300" b="1">
                <a:solidFill>
                  <a:srgbClr val="081927"/>
                </a:solidFill>
                <a:latin typeface="Aptos Display"/>
              </a:rPr>
              <a:t>BASE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959352" y="2862072"/>
            <a:ext cx="411480" cy="2743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900" b="1">
                <a:solidFill>
                  <a:srgbClr val="EF8919"/>
                </a:solidFill>
                <a:latin typeface="Aptos Display"/>
              </a:rPr>
              <a:t>→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72000" y="2148840"/>
            <a:ext cx="3063240" cy="2148840"/>
          </a:xfrm>
          <a:prstGeom prst="roundRect">
            <a:avLst/>
          </a:prstGeom>
          <a:solidFill>
            <a:srgbClr val="E8F0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754880" y="2743200"/>
            <a:ext cx="2697480" cy="3200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300" b="1">
                <a:solidFill>
                  <a:srgbClr val="081927"/>
                </a:solidFill>
                <a:latin typeface="Aptos Display"/>
              </a:rPr>
              <a:t>ALTERNATIVA 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54112" y="2862072"/>
            <a:ext cx="411480" cy="2743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900" b="1">
                <a:solidFill>
                  <a:srgbClr val="EF8919"/>
                </a:solidFill>
                <a:latin typeface="Aptos Display"/>
              </a:rPr>
              <a:t>→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366760" y="2148840"/>
            <a:ext cx="3063240" cy="2148840"/>
          </a:xfrm>
          <a:prstGeom prst="roundRect">
            <a:avLst/>
          </a:prstGeom>
          <a:solidFill>
            <a:srgbClr val="0819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549640" y="2743200"/>
            <a:ext cx="2697480" cy="3200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300" b="1">
                <a:solidFill>
                  <a:srgbClr val="F8FAFB"/>
                </a:solidFill>
                <a:latin typeface="Aptos Display"/>
              </a:rPr>
              <a:t>ALTERNATIVA 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965960" y="4892040"/>
            <a:ext cx="8138160" cy="34747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700" b="1">
                <a:solidFill>
                  <a:srgbClr val="EF8919"/>
                </a:solidFill>
                <a:latin typeface="Aptos Display"/>
              </a:rPr>
              <a:t>La simulación permite evaluar antes de intervenir.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411480" cy="2286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000" b="1">
                <a:solidFill>
                  <a:srgbClr val="EF8919"/>
                </a:solidFill>
                <a:latin typeface="Aptos Display"/>
              </a:rPr>
              <a:t>21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78992" y="256032"/>
            <a:ext cx="10515600" cy="5029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2500" b="1">
                <a:solidFill>
                  <a:srgbClr val="081927"/>
                </a:solidFill>
                <a:latin typeface="Aptos Display"/>
              </a:rPr>
              <a:t>SHAP convierte la caja negra en lectura de ingeniería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914400"/>
            <a:ext cx="10789920" cy="34747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200" b="0">
                <a:solidFill>
                  <a:srgbClr val="708590"/>
                </a:solidFill>
                <a:latin typeface="Aptos Display"/>
              </a:rPr>
              <a:t>Qué variables empujan la predicción y en qué dirección.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6492240"/>
            <a:ext cx="2011680" cy="16459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800" b="1">
                <a:solidFill>
                  <a:srgbClr val="708590"/>
                </a:solidFill>
                <a:latin typeface="Aptos Display"/>
              </a:rPr>
              <a:t>PAUL GÁLVEZ · USM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0" y="6492240"/>
            <a:ext cx="594360" cy="16459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r"/>
            <a:r>
              <a:rPr sz="800" b="1">
                <a:solidFill>
                  <a:srgbClr val="708590"/>
                </a:solidFill>
                <a:latin typeface="Aptos Display"/>
              </a:rPr>
              <a:t>21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77240" y="1508760"/>
            <a:ext cx="10652760" cy="4434840"/>
          </a:xfrm>
          <a:prstGeom prst="roundRect">
            <a:avLst/>
          </a:prstGeom>
          <a:solidFill>
            <a:srgbClr val="E8F0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97280" y="1920240"/>
            <a:ext cx="1600200" cy="25603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100" b="1">
                <a:solidFill>
                  <a:srgbClr val="081927"/>
                </a:solidFill>
                <a:latin typeface="Aptos Display"/>
              </a:rPr>
              <a:t>Producción</a:t>
            </a:r>
          </a:p>
        </p:txBody>
      </p:sp>
      <p:sp>
        <p:nvSpPr>
          <p:cNvPr id="9" name="Rectangle 8"/>
          <p:cNvSpPr/>
          <p:nvPr/>
        </p:nvSpPr>
        <p:spPr>
          <a:xfrm>
            <a:off x="2834640" y="1938528"/>
            <a:ext cx="4480560" cy="274320"/>
          </a:xfrm>
          <a:prstGeom prst="rect">
            <a:avLst/>
          </a:prstGeom>
          <a:solidFill>
            <a:srgbClr val="EF89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97280" y="2615184"/>
            <a:ext cx="1600200" cy="25603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100" b="1">
                <a:solidFill>
                  <a:srgbClr val="081927"/>
                </a:solidFill>
                <a:latin typeface="Aptos Display"/>
              </a:rPr>
              <a:t>Temperatura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834640" y="2633472"/>
            <a:ext cx="3291840" cy="274320"/>
          </a:xfrm>
          <a:prstGeom prst="rect">
            <a:avLst/>
          </a:prstGeom>
          <a:solidFill>
            <a:srgbClr val="2CAA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97280" y="3310128"/>
            <a:ext cx="1600200" cy="25603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100" b="1">
                <a:solidFill>
                  <a:srgbClr val="081927"/>
                </a:solidFill>
                <a:latin typeface="Aptos Display"/>
              </a:rPr>
              <a:t>Carga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834640" y="3328416"/>
            <a:ext cx="2286000" cy="274320"/>
          </a:xfrm>
          <a:prstGeom prst="rect">
            <a:avLst/>
          </a:prstGeom>
          <a:solidFill>
            <a:srgbClr val="459D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97280" y="4005072"/>
            <a:ext cx="1600200" cy="25603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100" b="1">
                <a:solidFill>
                  <a:srgbClr val="081927"/>
                </a:solidFill>
                <a:latin typeface="Aptos Display"/>
              </a:rPr>
              <a:t>Hora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834640" y="4023360"/>
            <a:ext cx="1371600" cy="274320"/>
          </a:xfrm>
          <a:prstGeom prst="rect">
            <a:avLst/>
          </a:prstGeom>
          <a:solidFill>
            <a:srgbClr val="185B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097280" y="4700016"/>
            <a:ext cx="1600200" cy="25603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100" b="1">
                <a:solidFill>
                  <a:srgbClr val="081927"/>
                </a:solidFill>
                <a:latin typeface="Aptos Display"/>
              </a:rPr>
              <a:t>Otros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2834640" y="4718304"/>
            <a:ext cx="457200" cy="274320"/>
          </a:xfrm>
          <a:prstGeom prst="rect">
            <a:avLst/>
          </a:prstGeom>
          <a:solidFill>
            <a:srgbClr val="7085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411480" cy="2286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000" b="1">
                <a:solidFill>
                  <a:srgbClr val="EF8919"/>
                </a:solidFill>
                <a:latin typeface="Aptos Display"/>
              </a:rPr>
              <a:t>22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78992" y="256032"/>
            <a:ext cx="10515600" cy="5029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2500" b="1">
                <a:solidFill>
                  <a:srgbClr val="081927"/>
                </a:solidFill>
                <a:latin typeface="Aptos Display"/>
              </a:rPr>
              <a:t>Una decisión cambia cuando podemos explicar el resultado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492240"/>
            <a:ext cx="2011680" cy="16459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800" b="1">
                <a:solidFill>
                  <a:srgbClr val="708590"/>
                </a:solidFill>
                <a:latin typeface="Aptos Display"/>
              </a:rPr>
              <a:t>PAUL GÁLVEZ · USM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0" y="6492240"/>
            <a:ext cx="594360" cy="16459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r"/>
            <a:r>
              <a:rPr sz="800" b="1">
                <a:solidFill>
                  <a:srgbClr val="708590"/>
                </a:solidFill>
                <a:latin typeface="Aptos Display"/>
              </a:rPr>
              <a:t>22</a:t>
            </a:r>
          </a:p>
        </p:txBody>
      </p:sp>
      <p:sp>
        <p:nvSpPr>
          <p:cNvPr id="6" name="Rectangle 5"/>
          <p:cNvSpPr/>
          <p:nvPr/>
        </p:nvSpPr>
        <p:spPr>
          <a:xfrm>
            <a:off x="914400" y="2240280"/>
            <a:ext cx="658368" cy="658368"/>
          </a:xfrm>
          <a:prstGeom prst="rect">
            <a:avLst/>
          </a:prstGeom>
          <a:solidFill>
            <a:srgbClr val="2CAA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3127248"/>
            <a:ext cx="1508760" cy="2743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100" b="1">
                <a:solidFill>
                  <a:srgbClr val="081927"/>
                </a:solidFill>
                <a:latin typeface="Aptos Display"/>
              </a:rPr>
              <a:t>PREDICCIÓN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0" y="2240280"/>
            <a:ext cx="658368" cy="658368"/>
          </a:xfrm>
          <a:prstGeom prst="rect">
            <a:avLst/>
          </a:prstGeom>
          <a:solidFill>
            <a:srgbClr val="459D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160520" y="3127248"/>
            <a:ext cx="1508760" cy="2743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100" b="1">
                <a:solidFill>
                  <a:srgbClr val="081927"/>
                </a:solidFill>
                <a:latin typeface="Aptos Display"/>
              </a:rPr>
              <a:t>SHAP</a:t>
            </a:r>
          </a:p>
        </p:txBody>
      </p:sp>
      <p:sp>
        <p:nvSpPr>
          <p:cNvPr id="10" name="Rectangle 9"/>
          <p:cNvSpPr/>
          <p:nvPr/>
        </p:nvSpPr>
        <p:spPr>
          <a:xfrm>
            <a:off x="8229600" y="2240280"/>
            <a:ext cx="658368" cy="658368"/>
          </a:xfrm>
          <a:prstGeom prst="rect">
            <a:avLst/>
          </a:prstGeom>
          <a:solidFill>
            <a:srgbClr val="EF89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818120" y="3127248"/>
            <a:ext cx="1508760" cy="2743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100" b="1">
                <a:solidFill>
                  <a:srgbClr val="081927"/>
                </a:solidFill>
                <a:latin typeface="Aptos Display"/>
              </a:rPr>
              <a:t>ACCIÓN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874519" y="2331720"/>
            <a:ext cx="640080" cy="3200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2400" b="1">
                <a:solidFill>
                  <a:srgbClr val="EF8919"/>
                </a:solidFill>
                <a:latin typeface="Aptos Display"/>
              </a:rPr>
              <a:t>+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532120" y="2331720"/>
            <a:ext cx="640080" cy="3200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2400" b="1">
                <a:solidFill>
                  <a:srgbClr val="EF8919"/>
                </a:solidFill>
                <a:latin typeface="Aptos Display"/>
              </a:rPr>
              <a:t>+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411480" cy="2286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000" b="1">
                <a:solidFill>
                  <a:srgbClr val="EF8919"/>
                </a:solidFill>
                <a:latin typeface="Aptos Display"/>
              </a:rPr>
              <a:t>23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78992" y="256032"/>
            <a:ext cx="10515600" cy="5029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2500" b="1">
                <a:solidFill>
                  <a:srgbClr val="081927"/>
                </a:solidFill>
                <a:latin typeface="Aptos Display"/>
              </a:rPr>
              <a:t>Escenarios: ¿qué alternativa conviene?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914400"/>
            <a:ext cx="10789920" cy="34747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200" b="0">
                <a:solidFill>
                  <a:srgbClr val="708590"/>
                </a:solidFill>
                <a:latin typeface="Aptos Display"/>
              </a:rPr>
              <a:t>La IA deja de responder solo “qué pasará”.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6492240"/>
            <a:ext cx="2011680" cy="16459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800" b="1">
                <a:solidFill>
                  <a:srgbClr val="708590"/>
                </a:solidFill>
                <a:latin typeface="Aptos Display"/>
              </a:rPr>
              <a:t>PAUL GÁLVEZ · USM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0" y="6492240"/>
            <a:ext cx="594360" cy="16459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r"/>
            <a:r>
              <a:rPr sz="800" b="1">
                <a:solidFill>
                  <a:srgbClr val="708590"/>
                </a:solidFill>
                <a:latin typeface="Aptos Display"/>
              </a:rPr>
              <a:t>23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914400" y="1874519"/>
            <a:ext cx="2971800" cy="2606040"/>
          </a:xfrm>
          <a:prstGeom prst="roundRect">
            <a:avLst/>
          </a:prstGeom>
          <a:solidFill>
            <a:srgbClr val="E8F0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97280" y="2212848"/>
            <a:ext cx="2606040" cy="2743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100" b="1">
                <a:solidFill>
                  <a:srgbClr val="081927"/>
                </a:solidFill>
                <a:latin typeface="Aptos Display"/>
              </a:rPr>
              <a:t>ESCENARIO 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" y="2907792"/>
            <a:ext cx="2606040" cy="5029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2800" b="1">
                <a:solidFill>
                  <a:srgbClr val="185B74"/>
                </a:solidFill>
                <a:latin typeface="Aptos Display"/>
              </a:rPr>
              <a:t>ŷ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7280" y="3703320"/>
            <a:ext cx="2606040" cy="2286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000" b="0">
                <a:solidFill>
                  <a:srgbClr val="708590"/>
                </a:solidFill>
                <a:latin typeface="Aptos Display"/>
              </a:rPr>
              <a:t>comparar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0" y="1874519"/>
            <a:ext cx="2971800" cy="2606040"/>
          </a:xfrm>
          <a:prstGeom prst="roundRect">
            <a:avLst/>
          </a:prstGeom>
          <a:solidFill>
            <a:srgbClr val="E8F0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754880" y="2212848"/>
            <a:ext cx="2606040" cy="2743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100" b="1">
                <a:solidFill>
                  <a:srgbClr val="081927"/>
                </a:solidFill>
                <a:latin typeface="Aptos Display"/>
              </a:rPr>
              <a:t>ESCENARIO 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754880" y="2907792"/>
            <a:ext cx="2606040" cy="5029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2800" b="1">
                <a:solidFill>
                  <a:srgbClr val="2CAAB8"/>
                </a:solidFill>
                <a:latin typeface="Aptos Display"/>
              </a:rPr>
              <a:t>ŷ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754880" y="3703320"/>
            <a:ext cx="2606040" cy="2286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000" b="0">
                <a:solidFill>
                  <a:srgbClr val="708590"/>
                </a:solidFill>
                <a:latin typeface="Aptos Display"/>
              </a:rPr>
              <a:t>comparar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229600" y="1874519"/>
            <a:ext cx="2971800" cy="2606040"/>
          </a:xfrm>
          <a:prstGeom prst="roundRect">
            <a:avLst/>
          </a:prstGeom>
          <a:solidFill>
            <a:srgbClr val="E8F0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412480" y="2212848"/>
            <a:ext cx="2606040" cy="2743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100" b="1">
                <a:solidFill>
                  <a:srgbClr val="081927"/>
                </a:solidFill>
                <a:latin typeface="Aptos Display"/>
              </a:rPr>
              <a:t>ESCENARIO 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412480" y="2907792"/>
            <a:ext cx="2606040" cy="5029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2800" b="1">
                <a:solidFill>
                  <a:srgbClr val="459D69"/>
                </a:solidFill>
                <a:latin typeface="Aptos Display"/>
              </a:rPr>
              <a:t>ŷ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412480" y="3703320"/>
            <a:ext cx="2606040" cy="2286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000" b="0">
                <a:solidFill>
                  <a:srgbClr val="708590"/>
                </a:solidFill>
                <a:latin typeface="Aptos Display"/>
              </a:rPr>
              <a:t>comparar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411480" cy="2286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000" b="1">
                <a:solidFill>
                  <a:srgbClr val="EF8919"/>
                </a:solidFill>
                <a:latin typeface="Aptos Display"/>
              </a:rPr>
              <a:t>24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78992" y="256032"/>
            <a:ext cx="10515600" cy="5029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2500" b="1">
                <a:solidFill>
                  <a:srgbClr val="081927"/>
                </a:solidFill>
                <a:latin typeface="Aptos Display"/>
              </a:rPr>
              <a:t>La decisión se construye comparando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914400"/>
            <a:ext cx="10789920" cy="34747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200" b="0">
                <a:solidFill>
                  <a:srgbClr val="708590"/>
                </a:solidFill>
                <a:latin typeface="Aptos Display"/>
              </a:rPr>
              <a:t>Resultado técnico + impacto operacional + criterio de negocio.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6492240"/>
            <a:ext cx="2011680" cy="16459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800" b="1">
                <a:solidFill>
                  <a:srgbClr val="708590"/>
                </a:solidFill>
                <a:latin typeface="Aptos Display"/>
              </a:rPr>
              <a:t>PAUL GÁLVEZ · USM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0" y="6492240"/>
            <a:ext cx="594360" cy="16459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r"/>
            <a:r>
              <a:rPr sz="800" b="1">
                <a:solidFill>
                  <a:srgbClr val="708590"/>
                </a:solidFill>
                <a:latin typeface="Aptos Display"/>
              </a:rPr>
              <a:t>24</a:t>
            </a:r>
          </a:p>
        </p:txBody>
      </p:sp>
      <p:sp>
        <p:nvSpPr>
          <p:cNvPr id="7" name="Rectangle 6"/>
          <p:cNvSpPr/>
          <p:nvPr/>
        </p:nvSpPr>
        <p:spPr>
          <a:xfrm>
            <a:off x="914400" y="2148840"/>
            <a:ext cx="685800" cy="685800"/>
          </a:xfrm>
          <a:prstGeom prst="rect">
            <a:avLst/>
          </a:prstGeom>
          <a:solidFill>
            <a:srgbClr val="185B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3063240"/>
            <a:ext cx="1417320" cy="2743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000" b="1">
                <a:solidFill>
                  <a:srgbClr val="081927"/>
                </a:solidFill>
                <a:latin typeface="Aptos Display"/>
              </a:rPr>
              <a:t>TÉCNICO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0" y="2148840"/>
            <a:ext cx="685800" cy="685800"/>
          </a:xfrm>
          <a:prstGeom prst="rect">
            <a:avLst/>
          </a:prstGeom>
          <a:solidFill>
            <a:srgbClr val="2CAA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206240" y="3063240"/>
            <a:ext cx="1417320" cy="2743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000" b="1">
                <a:solidFill>
                  <a:srgbClr val="081927"/>
                </a:solidFill>
                <a:latin typeface="Aptos Display"/>
              </a:rPr>
              <a:t>OPERACIONAL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29600" y="2148840"/>
            <a:ext cx="685800" cy="685800"/>
          </a:xfrm>
          <a:prstGeom prst="rect">
            <a:avLst/>
          </a:prstGeom>
          <a:solidFill>
            <a:srgbClr val="EF89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863840" y="3063240"/>
            <a:ext cx="1417320" cy="2743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000" b="1">
                <a:solidFill>
                  <a:srgbClr val="081927"/>
                </a:solidFill>
                <a:latin typeface="Aptos Display"/>
              </a:rPr>
              <a:t>NEGOCIO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0" y="4251960"/>
            <a:ext cx="2971800" cy="4114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2100" b="1">
                <a:solidFill>
                  <a:srgbClr val="081927"/>
                </a:solidFill>
                <a:latin typeface="Aptos Display"/>
              </a:rPr>
              <a:t>DECISIÓN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411480" cy="2286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000" b="1">
                <a:solidFill>
                  <a:srgbClr val="EF8919"/>
                </a:solidFill>
                <a:latin typeface="Aptos Display"/>
              </a:rPr>
              <a:t>25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78992" y="256032"/>
            <a:ext cx="10515600" cy="5029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2500" b="1">
                <a:solidFill>
                  <a:srgbClr val="081927"/>
                </a:solidFill>
                <a:latin typeface="Aptos Display"/>
              </a:rPr>
              <a:t>Arquitectura integral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914400"/>
            <a:ext cx="10789920" cy="34747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200" b="0">
                <a:solidFill>
                  <a:srgbClr val="708590"/>
                </a:solidFill>
                <a:latin typeface="Aptos Display"/>
              </a:rPr>
              <a:t>Una cadena continua: dato → desempeño → IA → decisión.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6492240"/>
            <a:ext cx="2011680" cy="16459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800" b="1">
                <a:solidFill>
                  <a:srgbClr val="708590"/>
                </a:solidFill>
                <a:latin typeface="Aptos Display"/>
              </a:rPr>
              <a:t>PAUL GÁLVEZ · USM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0" y="6492240"/>
            <a:ext cx="594360" cy="16459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r"/>
            <a:r>
              <a:rPr sz="800" b="1">
                <a:solidFill>
                  <a:srgbClr val="708590"/>
                </a:solidFill>
                <a:latin typeface="Aptos Display"/>
              </a:rPr>
              <a:t>25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2331720"/>
            <a:ext cx="1463040" cy="960120"/>
          </a:xfrm>
          <a:prstGeom prst="roundRect">
            <a:avLst/>
          </a:prstGeom>
          <a:solidFill>
            <a:srgbClr val="0819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12648" y="2624328"/>
            <a:ext cx="1371600" cy="2286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900" b="1">
                <a:solidFill>
                  <a:srgbClr val="F8FAFB"/>
                </a:solidFill>
                <a:latin typeface="Aptos Display"/>
              </a:rPr>
              <a:t>DATOS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487168" y="2331720"/>
            <a:ext cx="1463040" cy="960120"/>
          </a:xfrm>
          <a:prstGeom prst="roundRect">
            <a:avLst/>
          </a:prstGeom>
          <a:solidFill>
            <a:srgbClr val="0819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532888" y="2624328"/>
            <a:ext cx="1371600" cy="2286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900" b="1">
                <a:solidFill>
                  <a:srgbClr val="F8FAFB"/>
                </a:solidFill>
                <a:latin typeface="Aptos Display"/>
              </a:rPr>
              <a:t>DESEMPEÑO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407408" y="2331720"/>
            <a:ext cx="1463040" cy="960120"/>
          </a:xfrm>
          <a:prstGeom prst="roundRect">
            <a:avLst/>
          </a:prstGeom>
          <a:solidFill>
            <a:srgbClr val="0819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453128" y="2624328"/>
            <a:ext cx="1371600" cy="2286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900" b="1">
                <a:solidFill>
                  <a:srgbClr val="F8FAFB"/>
                </a:solidFill>
                <a:latin typeface="Aptos Display"/>
              </a:rPr>
              <a:t>ML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327648" y="2331720"/>
            <a:ext cx="1463040" cy="960120"/>
          </a:xfrm>
          <a:prstGeom prst="roundRect">
            <a:avLst/>
          </a:prstGeom>
          <a:solidFill>
            <a:srgbClr val="0819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373368" y="2624328"/>
            <a:ext cx="1371600" cy="2286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900" b="1">
                <a:solidFill>
                  <a:srgbClr val="F8FAFB"/>
                </a:solidFill>
                <a:latin typeface="Aptos Display"/>
              </a:rPr>
              <a:t>XAI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247888" y="2331720"/>
            <a:ext cx="1463040" cy="960120"/>
          </a:xfrm>
          <a:prstGeom prst="roundRect">
            <a:avLst/>
          </a:prstGeom>
          <a:solidFill>
            <a:srgbClr val="0819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93608" y="2624328"/>
            <a:ext cx="1371600" cy="2286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900" b="1">
                <a:solidFill>
                  <a:srgbClr val="F8FAFB"/>
                </a:solidFill>
                <a:latin typeface="Aptos Display"/>
              </a:rPr>
              <a:t>ESCENARIOS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10168128" y="2331720"/>
            <a:ext cx="1463040" cy="960120"/>
          </a:xfrm>
          <a:prstGeom prst="roundRect">
            <a:avLst/>
          </a:prstGeom>
          <a:solidFill>
            <a:srgbClr val="EF89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0213848" y="2624328"/>
            <a:ext cx="1371600" cy="2286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900" b="1">
                <a:solidFill>
                  <a:srgbClr val="F8FAFB"/>
                </a:solidFill>
                <a:latin typeface="Aptos Display"/>
              </a:rPr>
              <a:t>DECISIÓN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075688" y="2651760"/>
            <a:ext cx="320040" cy="2286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500" b="1">
                <a:solidFill>
                  <a:srgbClr val="EF8919"/>
                </a:solidFill>
                <a:latin typeface="Aptos Display"/>
              </a:rPr>
              <a:t>→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995928" y="2651760"/>
            <a:ext cx="320040" cy="2286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500" b="1">
                <a:solidFill>
                  <a:srgbClr val="EF8919"/>
                </a:solidFill>
                <a:latin typeface="Aptos Display"/>
              </a:rPr>
              <a:t>→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916168" y="2651760"/>
            <a:ext cx="320040" cy="2286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500" b="1">
                <a:solidFill>
                  <a:srgbClr val="EF8919"/>
                </a:solidFill>
                <a:latin typeface="Aptos Display"/>
              </a:rPr>
              <a:t>→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836408" y="2651760"/>
            <a:ext cx="320040" cy="2286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500" b="1">
                <a:solidFill>
                  <a:srgbClr val="EF8919"/>
                </a:solidFill>
                <a:latin typeface="Aptos Display"/>
              </a:rPr>
              <a:t>→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756648" y="2651760"/>
            <a:ext cx="320040" cy="2286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500" b="1">
                <a:solidFill>
                  <a:srgbClr val="EF8919"/>
                </a:solidFill>
                <a:latin typeface="Aptos Display"/>
              </a:rPr>
              <a:t>→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411480" cy="2286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000" b="1">
                <a:solidFill>
                  <a:srgbClr val="EF8919"/>
                </a:solidFill>
                <a:latin typeface="Aptos Display"/>
              </a:rPr>
              <a:t>26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78992" y="256032"/>
            <a:ext cx="10515600" cy="5029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2500" b="1">
                <a:solidFill>
                  <a:srgbClr val="081927"/>
                </a:solidFill>
                <a:latin typeface="Aptos Display"/>
              </a:rPr>
              <a:t>Del prototipo al entorno industrial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914400"/>
            <a:ext cx="10789920" cy="34747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200" b="0">
                <a:solidFill>
                  <a:srgbClr val="708590"/>
                </a:solidFill>
                <a:latin typeface="Aptos Display"/>
              </a:rPr>
              <a:t>El valor aparece cuando el análisis entra en el flujo de trabajo.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6492240"/>
            <a:ext cx="2011680" cy="16459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800" b="1">
                <a:solidFill>
                  <a:srgbClr val="708590"/>
                </a:solidFill>
                <a:latin typeface="Aptos Display"/>
              </a:rPr>
              <a:t>PAUL GÁLVEZ · USM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0" y="6492240"/>
            <a:ext cx="594360" cy="16459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r"/>
            <a:r>
              <a:rPr sz="800" b="1">
                <a:solidFill>
                  <a:srgbClr val="708590"/>
                </a:solidFill>
                <a:latin typeface="Aptos Display"/>
              </a:rPr>
              <a:t>26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5800" y="1965960"/>
            <a:ext cx="2331720" cy="2286000"/>
          </a:xfrm>
          <a:prstGeom prst="roundRect">
            <a:avLst/>
          </a:prstGeom>
          <a:solidFill>
            <a:srgbClr val="E8F0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508760" y="2267712"/>
            <a:ext cx="640080" cy="640080"/>
          </a:xfrm>
          <a:prstGeom prst="rect">
            <a:avLst/>
          </a:prstGeom>
          <a:solidFill>
            <a:srgbClr val="185B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60" y="3063240"/>
            <a:ext cx="2057400" cy="25603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000" b="1">
                <a:solidFill>
                  <a:srgbClr val="081927"/>
                </a:solidFill>
                <a:latin typeface="Aptos Display"/>
              </a:rPr>
              <a:t>CAPTURAR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3456432"/>
            <a:ext cx="2057400" cy="25603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100" b="0">
                <a:solidFill>
                  <a:srgbClr val="708590"/>
                </a:solidFill>
                <a:latin typeface="Aptos Display"/>
              </a:rPr>
              <a:t>datos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520440" y="1965960"/>
            <a:ext cx="2331720" cy="2286000"/>
          </a:xfrm>
          <a:prstGeom prst="roundRect">
            <a:avLst/>
          </a:prstGeom>
          <a:solidFill>
            <a:srgbClr val="E8F0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343400" y="2267712"/>
            <a:ext cx="640080" cy="640080"/>
          </a:xfrm>
          <a:prstGeom prst="rect">
            <a:avLst/>
          </a:prstGeom>
          <a:solidFill>
            <a:srgbClr val="2CAA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657600" y="3063240"/>
            <a:ext cx="2057400" cy="25603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000" b="1">
                <a:solidFill>
                  <a:srgbClr val="081927"/>
                </a:solidFill>
                <a:latin typeface="Aptos Display"/>
              </a:rPr>
              <a:t>ANALIZAR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57600" y="3456432"/>
            <a:ext cx="2057400" cy="25603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100" b="0">
                <a:solidFill>
                  <a:srgbClr val="708590"/>
                </a:solidFill>
                <a:latin typeface="Aptos Display"/>
              </a:rPr>
              <a:t>Python / ML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355080" y="1965960"/>
            <a:ext cx="2331720" cy="2286000"/>
          </a:xfrm>
          <a:prstGeom prst="roundRect">
            <a:avLst/>
          </a:prstGeom>
          <a:solidFill>
            <a:srgbClr val="E8F0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7178040" y="2267712"/>
            <a:ext cx="640080" cy="640080"/>
          </a:xfrm>
          <a:prstGeom prst="rect">
            <a:avLst/>
          </a:prstGeom>
          <a:solidFill>
            <a:srgbClr val="459D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92240" y="3063240"/>
            <a:ext cx="2057400" cy="25603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000" b="1">
                <a:solidFill>
                  <a:srgbClr val="081927"/>
                </a:solidFill>
                <a:latin typeface="Aptos Display"/>
              </a:rPr>
              <a:t>EXPLICAR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92240" y="3456432"/>
            <a:ext cx="2057400" cy="25603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100" b="0">
                <a:solidFill>
                  <a:srgbClr val="708590"/>
                </a:solidFill>
                <a:latin typeface="Aptos Display"/>
              </a:rPr>
              <a:t>XAI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9189720" y="1965960"/>
            <a:ext cx="2331720" cy="2286000"/>
          </a:xfrm>
          <a:prstGeom prst="roundRect">
            <a:avLst/>
          </a:prstGeom>
          <a:solidFill>
            <a:srgbClr val="E8F0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10012680" y="2267712"/>
            <a:ext cx="640080" cy="640080"/>
          </a:xfrm>
          <a:prstGeom prst="rect">
            <a:avLst/>
          </a:prstGeom>
          <a:solidFill>
            <a:srgbClr val="EF89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326880" y="3063240"/>
            <a:ext cx="2057400" cy="25603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000" b="1">
                <a:solidFill>
                  <a:srgbClr val="081927"/>
                </a:solidFill>
                <a:latin typeface="Aptos Display"/>
              </a:rPr>
              <a:t>ACTUAR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326880" y="3456432"/>
            <a:ext cx="2057400" cy="25603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100" b="0">
                <a:solidFill>
                  <a:srgbClr val="708590"/>
                </a:solidFill>
                <a:latin typeface="Aptos Display"/>
              </a:rPr>
              <a:t>operación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19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411480" cy="2286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000" b="1">
                <a:solidFill>
                  <a:srgbClr val="EF8919"/>
                </a:solidFill>
                <a:latin typeface="Aptos Display"/>
              </a:rPr>
              <a:t>27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78992" y="256032"/>
            <a:ext cx="10515600" cy="5029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2500" b="1">
                <a:solidFill>
                  <a:srgbClr val="F8FAFB"/>
                </a:solidFill>
                <a:latin typeface="Aptos Display"/>
              </a:rPr>
              <a:t>IA + ingeniería: una nueva capacidad de gestión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914400"/>
            <a:ext cx="10789920" cy="34747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200" b="0">
                <a:solidFill>
                  <a:srgbClr val="D6E3E8"/>
                </a:solidFill>
                <a:latin typeface="Aptos Display"/>
              </a:rPr>
              <a:t>La IA amplifica el conocimiento del proceso; no sustituye al ingeniero.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6492240"/>
            <a:ext cx="2011680" cy="16459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800" b="1">
                <a:solidFill>
                  <a:srgbClr val="91A6B0"/>
                </a:solidFill>
                <a:latin typeface="Aptos Display"/>
              </a:rPr>
              <a:t>PAUL GÁLVEZ · USM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0" y="6492240"/>
            <a:ext cx="594360" cy="16459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r"/>
            <a:r>
              <a:rPr sz="800" b="1">
                <a:solidFill>
                  <a:srgbClr val="91A6B0"/>
                </a:solidFill>
                <a:latin typeface="Aptos Display"/>
              </a:rPr>
              <a:t>27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2148840"/>
            <a:ext cx="2926080" cy="3657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700" b="1">
                <a:solidFill>
                  <a:srgbClr val="F8FAFB"/>
                </a:solidFill>
                <a:latin typeface="Aptos Display"/>
              </a:rPr>
              <a:t>INGENIERÍA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931920" y="2121408"/>
            <a:ext cx="502920" cy="3657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2500" b="1">
                <a:solidFill>
                  <a:srgbClr val="EF8919"/>
                </a:solidFill>
                <a:latin typeface="Aptos Display"/>
              </a:rPr>
              <a:t>+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26280" y="2148840"/>
            <a:ext cx="2926080" cy="3657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700" b="1">
                <a:solidFill>
                  <a:srgbClr val="F8FAFB"/>
                </a:solidFill>
                <a:latin typeface="Aptos Display"/>
              </a:rPr>
              <a:t>DATOS + IA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543800" y="2121408"/>
            <a:ext cx="502920" cy="3657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2500" b="1">
                <a:solidFill>
                  <a:srgbClr val="EF8919"/>
                </a:solidFill>
                <a:latin typeface="Aptos Display"/>
              </a:rPr>
              <a:t>=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138160" y="2148840"/>
            <a:ext cx="2926080" cy="3657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700" b="1">
                <a:solidFill>
                  <a:srgbClr val="EF8919"/>
                </a:solidFill>
                <a:latin typeface="Aptos Display"/>
              </a:rPr>
              <a:t>DECISIÓN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417320" y="4160520"/>
            <a:ext cx="9326880" cy="4114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700" b="1">
                <a:solidFill>
                  <a:srgbClr val="D6E3E8"/>
                </a:solidFill>
                <a:latin typeface="Aptos Display"/>
              </a:rPr>
              <a:t>La tecnología aumenta la capacidad de anticipar, explicar y evaluar.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411480" cy="2286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000" b="1">
                <a:solidFill>
                  <a:srgbClr val="EF8919"/>
                </a:solidFill>
                <a:latin typeface="Aptos Display"/>
              </a:rPr>
              <a:t>28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78992" y="256032"/>
            <a:ext cx="10515600" cy="5029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2500" b="1">
                <a:solidFill>
                  <a:srgbClr val="081927"/>
                </a:solidFill>
                <a:latin typeface="Aptos Display"/>
              </a:rPr>
              <a:t>El siguiente nivel: optimizar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914400"/>
            <a:ext cx="10789920" cy="34747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200" b="0">
                <a:solidFill>
                  <a:srgbClr val="708590"/>
                </a:solidFill>
                <a:latin typeface="Aptos Display"/>
              </a:rPr>
              <a:t>Después de predecir y explicar, podemos evaluar alternativas.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6492240"/>
            <a:ext cx="2011680" cy="16459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800" b="1">
                <a:solidFill>
                  <a:srgbClr val="708590"/>
                </a:solidFill>
                <a:latin typeface="Aptos Display"/>
              </a:rPr>
              <a:t>PAUL GÁLVEZ · USM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0" y="6492240"/>
            <a:ext cx="594360" cy="16459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r"/>
            <a:r>
              <a:rPr sz="800" b="1">
                <a:solidFill>
                  <a:srgbClr val="708590"/>
                </a:solidFill>
                <a:latin typeface="Aptos Display"/>
              </a:rPr>
              <a:t>28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77240" y="2148840"/>
            <a:ext cx="3063240" cy="2148840"/>
          </a:xfrm>
          <a:prstGeom prst="roundRect">
            <a:avLst/>
          </a:prstGeom>
          <a:solidFill>
            <a:srgbClr val="E8F0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60120" y="2743200"/>
            <a:ext cx="2697480" cy="3200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300" b="1">
                <a:solidFill>
                  <a:srgbClr val="081927"/>
                </a:solidFill>
                <a:latin typeface="Aptos Display"/>
              </a:rPr>
              <a:t>PREDICCIÓN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959352" y="2862072"/>
            <a:ext cx="411480" cy="2743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900" b="1">
                <a:solidFill>
                  <a:srgbClr val="EF8919"/>
                </a:solidFill>
                <a:latin typeface="Aptos Display"/>
              </a:rPr>
              <a:t>→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72000" y="2148840"/>
            <a:ext cx="3063240" cy="2148840"/>
          </a:xfrm>
          <a:prstGeom prst="roundRect">
            <a:avLst/>
          </a:prstGeom>
          <a:solidFill>
            <a:srgbClr val="E8F0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754880" y="2743200"/>
            <a:ext cx="2697480" cy="3200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300" b="1">
                <a:solidFill>
                  <a:srgbClr val="081927"/>
                </a:solidFill>
                <a:latin typeface="Aptos Display"/>
              </a:rPr>
              <a:t>EXPLICACIÓN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54112" y="2862072"/>
            <a:ext cx="411480" cy="2743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900" b="1">
                <a:solidFill>
                  <a:srgbClr val="EF8919"/>
                </a:solidFill>
                <a:latin typeface="Aptos Display"/>
              </a:rPr>
              <a:t>→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366760" y="2148840"/>
            <a:ext cx="3063240" cy="2148840"/>
          </a:xfrm>
          <a:prstGeom prst="roundRect">
            <a:avLst/>
          </a:prstGeom>
          <a:solidFill>
            <a:srgbClr val="0819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549640" y="2743200"/>
            <a:ext cx="2697480" cy="3200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300" b="1">
                <a:solidFill>
                  <a:srgbClr val="F8FAFB"/>
                </a:solidFill>
                <a:latin typeface="Aptos Display"/>
              </a:rPr>
              <a:t>OPTIMIZACIÓN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19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411480" cy="2286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000" b="1">
                <a:solidFill>
                  <a:srgbClr val="EF8919"/>
                </a:solidFill>
                <a:latin typeface="Aptos Display"/>
              </a:rPr>
              <a:t>29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78992" y="256032"/>
            <a:ext cx="10515600" cy="5029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2500" b="1">
                <a:solidFill>
                  <a:srgbClr val="F8FAFB"/>
                </a:solidFill>
                <a:latin typeface="Aptos Display"/>
              </a:rPr>
              <a:t>La pregunta de investigación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914400"/>
            <a:ext cx="10789920" cy="34747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200" b="0">
                <a:solidFill>
                  <a:srgbClr val="D6E3E8"/>
                </a:solidFill>
                <a:latin typeface="Aptos Display"/>
              </a:rPr>
              <a:t>¿Cómo transformar datos energéticos operacionales en capacidad predictiva y de decisión?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6492240"/>
            <a:ext cx="2011680" cy="16459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800" b="1">
                <a:solidFill>
                  <a:srgbClr val="91A6B0"/>
                </a:solidFill>
                <a:latin typeface="Aptos Display"/>
              </a:rPr>
              <a:t>PAUL GÁLVEZ · USM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0" y="6492240"/>
            <a:ext cx="594360" cy="16459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r"/>
            <a:r>
              <a:rPr sz="800" b="1">
                <a:solidFill>
                  <a:srgbClr val="91A6B0"/>
                </a:solidFill>
                <a:latin typeface="Aptos Display"/>
              </a:rPr>
              <a:t>29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" y="2487168"/>
            <a:ext cx="1965960" cy="3200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400" b="1">
                <a:solidFill>
                  <a:srgbClr val="2CAAB8"/>
                </a:solidFill>
                <a:latin typeface="Aptos Display"/>
              </a:rPr>
              <a:t>DATOS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0" y="2487168"/>
            <a:ext cx="1965960" cy="3200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400" b="1">
                <a:solidFill>
                  <a:srgbClr val="F8FAFB"/>
                </a:solidFill>
                <a:latin typeface="Aptos Display"/>
              </a:rPr>
              <a:t>MODELOS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46520" y="2487168"/>
            <a:ext cx="1965960" cy="3200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400" b="1">
                <a:solidFill>
                  <a:srgbClr val="459D69"/>
                </a:solidFill>
                <a:latin typeface="Aptos Display"/>
              </a:rPr>
              <a:t>EXPLICACIÓN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235439" y="2487168"/>
            <a:ext cx="1965960" cy="3200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400" b="1">
                <a:solidFill>
                  <a:srgbClr val="EF8919"/>
                </a:solidFill>
                <a:latin typeface="Aptos Display"/>
              </a:rPr>
              <a:t>DECISIÓN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852928" y="2468880"/>
            <a:ext cx="502920" cy="3200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2300" b="1">
                <a:solidFill>
                  <a:srgbClr val="EF8919"/>
                </a:solidFill>
                <a:latin typeface="Aptos Display"/>
              </a:rPr>
              <a:t>→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641848" y="2468880"/>
            <a:ext cx="502920" cy="3200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2300" b="1">
                <a:solidFill>
                  <a:srgbClr val="EF8919"/>
                </a:solidFill>
                <a:latin typeface="Aptos Display"/>
              </a:rPr>
              <a:t>→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430767" y="2468880"/>
            <a:ext cx="502920" cy="3200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2300" b="1">
                <a:solidFill>
                  <a:srgbClr val="EF8919"/>
                </a:solidFill>
                <a:latin typeface="Aptos Display"/>
              </a:rPr>
              <a:t>→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19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411480" cy="2286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000" b="1">
                <a:solidFill>
                  <a:srgbClr val="EF8919"/>
                </a:solidFill>
                <a:latin typeface="Aptos Display"/>
              </a:rPr>
              <a:t>30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78992" y="256032"/>
            <a:ext cx="10515600" cy="5029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2500" b="1">
                <a:solidFill>
                  <a:srgbClr val="F8FAFB"/>
                </a:solidFill>
                <a:latin typeface="Aptos Display"/>
              </a:rPr>
              <a:t>Propuesta doctoral · línea de continuidad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914400"/>
            <a:ext cx="10789920" cy="34747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200" b="0">
                <a:solidFill>
                  <a:srgbClr val="D6E3E8"/>
                </a:solidFill>
                <a:latin typeface="Aptos Display"/>
              </a:rPr>
              <a:t>La investigación surge naturalmente de la evolución del trabajo.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6492240"/>
            <a:ext cx="2011680" cy="16459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800" b="1">
                <a:solidFill>
                  <a:srgbClr val="91A6B0"/>
                </a:solidFill>
                <a:latin typeface="Aptos Display"/>
              </a:rPr>
              <a:t>PAUL GÁLVEZ · USM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0" y="6492240"/>
            <a:ext cx="594360" cy="16459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r"/>
            <a:r>
              <a:rPr sz="800" b="1">
                <a:solidFill>
                  <a:srgbClr val="91A6B0"/>
                </a:solidFill>
                <a:latin typeface="Aptos Display"/>
              </a:rPr>
              <a:t>30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1920240"/>
            <a:ext cx="2423160" cy="2423160"/>
          </a:xfrm>
          <a:prstGeom prst="roundRect">
            <a:avLst/>
          </a:prstGeom>
          <a:solidFill>
            <a:srgbClr val="1230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2331720"/>
            <a:ext cx="2148840" cy="2743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000" b="1">
                <a:solidFill>
                  <a:srgbClr val="2CAAB8"/>
                </a:solidFill>
                <a:latin typeface="Aptos Display"/>
              </a:rPr>
              <a:t>PREDICCIÓN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04671" y="3063240"/>
            <a:ext cx="2084831" cy="5486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300" b="0">
                <a:solidFill>
                  <a:srgbClr val="D6E3E8"/>
                </a:solidFill>
                <a:latin typeface="Aptos Display"/>
              </a:rPr>
              <a:t>anticipar desempeño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493008" y="1920240"/>
            <a:ext cx="2423160" cy="2423160"/>
          </a:xfrm>
          <a:prstGeom prst="roundRect">
            <a:avLst/>
          </a:prstGeom>
          <a:solidFill>
            <a:srgbClr val="1230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630168" y="2331720"/>
            <a:ext cx="2148840" cy="2743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000" b="1">
                <a:solidFill>
                  <a:srgbClr val="459D69"/>
                </a:solidFill>
                <a:latin typeface="Aptos Display"/>
              </a:rPr>
              <a:t>XAI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57600" y="3063240"/>
            <a:ext cx="2084831" cy="5486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300" b="0">
                <a:solidFill>
                  <a:srgbClr val="D6E3E8"/>
                </a:solidFill>
                <a:latin typeface="Aptos Display"/>
              </a:rPr>
              <a:t>comprender variables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345936" y="1920240"/>
            <a:ext cx="2423160" cy="2423160"/>
          </a:xfrm>
          <a:prstGeom prst="roundRect">
            <a:avLst/>
          </a:prstGeom>
          <a:solidFill>
            <a:srgbClr val="1230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83096" y="2331720"/>
            <a:ext cx="2148840" cy="2743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000" b="1">
                <a:solidFill>
                  <a:srgbClr val="EF8919"/>
                </a:solidFill>
                <a:latin typeface="Aptos Display"/>
              </a:rPr>
              <a:t>ESCENARIOS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10528" y="3063240"/>
            <a:ext cx="2084831" cy="5486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300" b="0">
                <a:solidFill>
                  <a:srgbClr val="D6E3E8"/>
                </a:solidFill>
                <a:latin typeface="Aptos Display"/>
              </a:rPr>
              <a:t>evaluar alternativas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198863" y="1920240"/>
            <a:ext cx="2423160" cy="2423160"/>
          </a:xfrm>
          <a:prstGeom prst="roundRect">
            <a:avLst/>
          </a:prstGeom>
          <a:solidFill>
            <a:srgbClr val="1230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336024" y="2331720"/>
            <a:ext cx="2148840" cy="2743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000" b="1">
                <a:solidFill>
                  <a:srgbClr val="F8FAFB"/>
                </a:solidFill>
                <a:latin typeface="Aptos Display"/>
              </a:rPr>
              <a:t>OPTIMIZACIÓN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363455" y="3063240"/>
            <a:ext cx="2084831" cy="5486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300" b="0">
                <a:solidFill>
                  <a:srgbClr val="D6E3E8"/>
                </a:solidFill>
                <a:latin typeface="Aptos Display"/>
              </a:rPr>
              <a:t>orientar decisiones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19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411480" cy="2286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000" b="1">
                <a:solidFill>
                  <a:srgbClr val="EF8919"/>
                </a:solidFill>
                <a:latin typeface="Aptos Display"/>
              </a:rPr>
              <a:t>31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78992" y="256032"/>
            <a:ext cx="10515600" cy="5029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2500" b="1">
                <a:solidFill>
                  <a:srgbClr val="F8FAFB"/>
                </a:solidFill>
                <a:latin typeface="Aptos Display"/>
              </a:rPr>
              <a:t>La evolución completa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914400"/>
            <a:ext cx="10789920" cy="34747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200" b="0">
                <a:solidFill>
                  <a:srgbClr val="D6E3E8"/>
                </a:solidFill>
                <a:latin typeface="Aptos Display"/>
              </a:rPr>
              <a:t>No se trata de agregar IA. Se trata de aumentar la capacidad de decidir.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6492240"/>
            <a:ext cx="2011680" cy="16459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800" b="1">
                <a:solidFill>
                  <a:srgbClr val="91A6B0"/>
                </a:solidFill>
                <a:latin typeface="Aptos Display"/>
              </a:rPr>
              <a:t>PAUL GÁLVEZ · USM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0" y="6492240"/>
            <a:ext cx="594360" cy="16459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r"/>
            <a:r>
              <a:rPr sz="800" b="1">
                <a:solidFill>
                  <a:srgbClr val="91A6B0"/>
                </a:solidFill>
                <a:latin typeface="Aptos Display"/>
              </a:rPr>
              <a:t>31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2487168"/>
            <a:ext cx="1737360" cy="29260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300" b="1">
                <a:solidFill>
                  <a:srgbClr val="2CAAB8"/>
                </a:solidFill>
                <a:latin typeface="Aptos Display"/>
              </a:rPr>
              <a:t>DATO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017520" y="2487168"/>
            <a:ext cx="1737360" cy="29260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300" b="1">
                <a:solidFill>
                  <a:srgbClr val="F8FAFB"/>
                </a:solidFill>
                <a:latin typeface="Aptos Display"/>
              </a:rPr>
              <a:t>CONOCIMIENTO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257800" y="2487168"/>
            <a:ext cx="1737360" cy="29260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300" b="1">
                <a:solidFill>
                  <a:srgbClr val="F8FAFB"/>
                </a:solidFill>
                <a:latin typeface="Aptos Display"/>
              </a:rPr>
              <a:t>PREDICCIÓN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498080" y="2487168"/>
            <a:ext cx="1737360" cy="29260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300" b="1">
                <a:solidFill>
                  <a:srgbClr val="459D69"/>
                </a:solidFill>
                <a:latin typeface="Aptos Display"/>
              </a:rPr>
              <a:t>EXPLICACIÓN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738360" y="2487168"/>
            <a:ext cx="1737360" cy="29260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300" b="1">
                <a:solidFill>
                  <a:srgbClr val="EF8919"/>
                </a:solidFill>
                <a:latin typeface="Aptos Display"/>
              </a:rPr>
              <a:t>ACCIÓN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587752" y="2468880"/>
            <a:ext cx="411480" cy="29260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2000" b="1">
                <a:solidFill>
                  <a:srgbClr val="EF8919"/>
                </a:solidFill>
                <a:latin typeface="Aptos Display"/>
              </a:rPr>
              <a:t>→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828032" y="2468880"/>
            <a:ext cx="411480" cy="29260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2000" b="1">
                <a:solidFill>
                  <a:srgbClr val="EF8919"/>
                </a:solidFill>
                <a:latin typeface="Aptos Display"/>
              </a:rPr>
              <a:t>→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068312" y="2468880"/>
            <a:ext cx="411480" cy="29260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2000" b="1">
                <a:solidFill>
                  <a:srgbClr val="EF8919"/>
                </a:solidFill>
                <a:latin typeface="Aptos Display"/>
              </a:rPr>
              <a:t>→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308592" y="2468880"/>
            <a:ext cx="411480" cy="29260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2000" b="1">
                <a:solidFill>
                  <a:srgbClr val="EF8919"/>
                </a:solidFill>
                <a:latin typeface="Aptos Display"/>
              </a:rPr>
              <a:t>→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19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58368" y="502920"/>
            <a:ext cx="914400" cy="2286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000" b="1">
                <a:solidFill>
                  <a:srgbClr val="EF8919"/>
                </a:solidFill>
                <a:latin typeface="Aptos Display"/>
              </a:rPr>
              <a:t>CIERRE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1325880"/>
            <a:ext cx="6583680" cy="56692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4000" b="1">
                <a:solidFill>
                  <a:srgbClr val="F8FAFB"/>
                </a:solidFill>
                <a:latin typeface="Aptos Display"/>
              </a:rPr>
              <a:t>De medir 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1901952"/>
            <a:ext cx="6858000" cy="65836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4600" b="1">
                <a:solidFill>
                  <a:srgbClr val="EF8919"/>
                </a:solidFill>
                <a:latin typeface="Aptos Display"/>
              </a:rPr>
              <a:t>predecir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2578608"/>
            <a:ext cx="7589520" cy="53035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3100" b="1">
                <a:solidFill>
                  <a:srgbClr val="F8FAFB"/>
                </a:solidFill>
                <a:latin typeface="Aptos Display"/>
              </a:rPr>
              <a:t>y de predecir a decidir.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94944" y="3401568"/>
            <a:ext cx="7680960" cy="7772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800" b="0">
                <a:solidFill>
                  <a:srgbClr val="D6E3E8"/>
                </a:solidFill>
                <a:latin typeface="Aptos Display"/>
              </a:rPr>
              <a:t>La evolución de la gestión energética consiste en transformar datos operacionales en capacidad de predicción y decisión.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94944" y="6144768"/>
            <a:ext cx="5303520" cy="2286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000" b="0">
                <a:solidFill>
                  <a:srgbClr val="708590"/>
                </a:solidFill>
                <a:latin typeface="Aptos Display"/>
              </a:rPr>
              <a:t>Paul Gálvez · Universidad Técnica Federico Santa María</a:t>
            </a:r>
          </a:p>
        </p:txBody>
      </p:sp>
      <p:sp>
        <p:nvSpPr>
          <p:cNvPr id="8" name="Rectangle 7"/>
          <p:cNvSpPr/>
          <p:nvPr/>
        </p:nvSpPr>
        <p:spPr>
          <a:xfrm>
            <a:off x="8001000" y="4892040"/>
            <a:ext cx="502920" cy="502920"/>
          </a:xfrm>
          <a:prstGeom prst="rect">
            <a:avLst/>
          </a:prstGeom>
          <a:solidFill>
            <a:srgbClr val="2CAA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818120" y="5504688"/>
            <a:ext cx="868680" cy="20116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800" b="1">
                <a:solidFill>
                  <a:srgbClr val="F8FAFB"/>
                </a:solidFill>
                <a:latin typeface="Aptos Display"/>
              </a:rPr>
              <a:t>MEDIR</a:t>
            </a:r>
          </a:p>
        </p:txBody>
      </p:sp>
      <p:sp>
        <p:nvSpPr>
          <p:cNvPr id="10" name="Rectangle 9"/>
          <p:cNvSpPr/>
          <p:nvPr/>
        </p:nvSpPr>
        <p:spPr>
          <a:xfrm>
            <a:off x="8842248" y="4892040"/>
            <a:ext cx="502920" cy="502920"/>
          </a:xfrm>
          <a:prstGeom prst="rect">
            <a:avLst/>
          </a:prstGeom>
          <a:solidFill>
            <a:srgbClr val="185B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659368" y="5504688"/>
            <a:ext cx="868680" cy="20116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800" b="1">
                <a:solidFill>
                  <a:srgbClr val="F8FAFB"/>
                </a:solidFill>
                <a:latin typeface="Aptos Display"/>
              </a:rPr>
              <a:t>ENTENDER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683496" y="4892040"/>
            <a:ext cx="502920" cy="502920"/>
          </a:xfrm>
          <a:prstGeom prst="rect">
            <a:avLst/>
          </a:prstGeom>
          <a:solidFill>
            <a:srgbClr val="459D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500616" y="5504688"/>
            <a:ext cx="868680" cy="20116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800" b="1">
                <a:solidFill>
                  <a:srgbClr val="F8FAFB"/>
                </a:solidFill>
                <a:latin typeface="Aptos Display"/>
              </a:rPr>
              <a:t>PREDECIR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0524744" y="4892040"/>
            <a:ext cx="502920" cy="502920"/>
          </a:xfrm>
          <a:prstGeom prst="rect">
            <a:avLst/>
          </a:prstGeom>
          <a:solidFill>
            <a:srgbClr val="EF89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341864" y="5504688"/>
            <a:ext cx="868680" cy="20116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800" b="1">
                <a:solidFill>
                  <a:srgbClr val="F8FAFB"/>
                </a:solidFill>
                <a:latin typeface="Aptos Display"/>
              </a:rPr>
              <a:t>DECIDIR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