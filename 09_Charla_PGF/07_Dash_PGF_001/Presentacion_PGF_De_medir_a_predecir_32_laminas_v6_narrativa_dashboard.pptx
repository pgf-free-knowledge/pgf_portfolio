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3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8" r:id="rId17"/>
    <p:sldId id="271" r:id="rId18"/>
    <p:sldId id="272" r:id="rId19"/>
    <p:sldId id="273" r:id="rId20"/>
    <p:sldId id="289" r:id="rId21"/>
    <p:sldId id="274" r:id="rId22"/>
    <p:sldId id="292" r:id="rId23"/>
    <p:sldId id="275" r:id="rId24"/>
    <p:sldId id="276" r:id="rId25"/>
    <p:sldId id="277" r:id="rId26"/>
    <p:sldId id="278" r:id="rId27"/>
    <p:sldId id="279" r:id="rId28"/>
    <p:sldId id="291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76392" autoAdjust="0"/>
  </p:normalViewPr>
  <p:slideViewPr>
    <p:cSldViewPr snapToGrid="0" snapToObjects="1">
      <p:cViewPr varScale="1">
        <p:scale>
          <a:sx n="84" d="100"/>
          <a:sy n="84" d="100"/>
        </p:scale>
        <p:origin x="159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63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496.5080443633704</c:v>
                </c:pt>
                <c:pt idx="1">
                  <c:v>552.47197493313911</c:v>
                </c:pt>
                <c:pt idx="2">
                  <c:v>568.58955674673268</c:v>
                </c:pt>
                <c:pt idx="3">
                  <c:v>547.99406508241987</c:v>
                </c:pt>
                <c:pt idx="4">
                  <c:v>613.84417170598647</c:v>
                </c:pt>
                <c:pt idx="5">
                  <c:v>357.65466284813164</c:v>
                </c:pt>
                <c:pt idx="6">
                  <c:v>412.79550169143698</c:v>
                </c:pt>
                <c:pt idx="7">
                  <c:v>375.63541951982393</c:v>
                </c:pt>
                <c:pt idx="8">
                  <c:v>434.23347285553831</c:v>
                </c:pt>
                <c:pt idx="9">
                  <c:v>427.91486646105238</c:v>
                </c:pt>
                <c:pt idx="10">
                  <c:v>408.30723504364079</c:v>
                </c:pt>
                <c:pt idx="11">
                  <c:v>583.0826185076188</c:v>
                </c:pt>
                <c:pt idx="12">
                  <c:v>443.57601161403511</c:v>
                </c:pt>
                <c:pt idx="13">
                  <c:v>428.2178116271993</c:v>
                </c:pt>
                <c:pt idx="14">
                  <c:v>503.66535406369246</c:v>
                </c:pt>
                <c:pt idx="15">
                  <c:v>401.00981891387954</c:v>
                </c:pt>
                <c:pt idx="16">
                  <c:v>598.37446035368487</c:v>
                </c:pt>
                <c:pt idx="17">
                  <c:v>450.71369601524327</c:v>
                </c:pt>
                <c:pt idx="18">
                  <c:v>549.28369618645672</c:v>
                </c:pt>
                <c:pt idx="19">
                  <c:v>545.53918108899609</c:v>
                </c:pt>
                <c:pt idx="20">
                  <c:v>396.94843991341548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57-43E0-B1F5-8F2F57F45E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Predicho</c:v>
                </c:pt>
              </c:strCache>
            </c:strRef>
          </c:tx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536.51985323405188</c:v>
                </c:pt>
                <c:pt idx="1">
                  <c:v>547.54357131839697</c:v>
                </c:pt>
                <c:pt idx="2">
                  <c:v>565.2144762897077</c:v>
                </c:pt>
                <c:pt idx="3">
                  <c:v>531.24451957316251</c:v>
                </c:pt>
                <c:pt idx="4">
                  <c:v>560.39960166434491</c:v>
                </c:pt>
                <c:pt idx="5">
                  <c:v>381.4891267600201</c:v>
                </c:pt>
                <c:pt idx="6">
                  <c:v>429.13317163745398</c:v>
                </c:pt>
                <c:pt idx="7">
                  <c:v>404.33809237555084</c:v>
                </c:pt>
                <c:pt idx="8">
                  <c:v>440.81182193074221</c:v>
                </c:pt>
                <c:pt idx="9">
                  <c:v>439.14894258005478</c:v>
                </c:pt>
                <c:pt idx="10">
                  <c:v>436.70802448225299</c:v>
                </c:pt>
                <c:pt idx="11">
                  <c:v>549.34998903814198</c:v>
                </c:pt>
                <c:pt idx="12">
                  <c:v>435.35746217545056</c:v>
                </c:pt>
                <c:pt idx="13">
                  <c:v>448.71351921758668</c:v>
                </c:pt>
                <c:pt idx="14">
                  <c:v>511.11135042366897</c:v>
                </c:pt>
                <c:pt idx="15">
                  <c:v>418.33383343165661</c:v>
                </c:pt>
                <c:pt idx="16">
                  <c:v>563.81876922074514</c:v>
                </c:pt>
                <c:pt idx="17">
                  <c:v>438.95896113813353</c:v>
                </c:pt>
                <c:pt idx="18">
                  <c:v>559.05676009934894</c:v>
                </c:pt>
                <c:pt idx="19">
                  <c:v>551.74643842910302</c:v>
                </c:pt>
                <c:pt idx="20">
                  <c:v>421.37784793747727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57-43E0-B1F5-8F2F57F45E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s-CL" noProof="0" dirty="0"/>
                  <a:t>Hora del conjunto de prueba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s-CL" noProof="0" dirty="0"/>
                  <a:t>Consumo [kW]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|SHAP|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it load roll3</c:v>
                </c:pt>
                <c:pt idx="1">
                  <c:v>it load lag1</c:v>
                </c:pt>
                <c:pt idx="2">
                  <c:v>temperature C</c:v>
                </c:pt>
                <c:pt idx="3">
                  <c:v>hour sin</c:v>
                </c:pt>
                <c:pt idx="4">
                  <c:v>hvac</c:v>
                </c:pt>
                <c:pt idx="5">
                  <c:v>it load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0.96144019746301812</c:v>
                </c:pt>
                <c:pt idx="1">
                  <c:v>1.0815845303255991</c:v>
                </c:pt>
                <c:pt idx="2">
                  <c:v>1.1397494550087302</c:v>
                </c:pt>
                <c:pt idx="3">
                  <c:v>1.9784802457458492</c:v>
                </c:pt>
                <c:pt idx="4">
                  <c:v>9.4134601166159229</c:v>
                </c:pt>
                <c:pt idx="5">
                  <c:v>53.05161636636366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85-447F-A3E7-F0706A24EC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es-CL" noProof="0" dirty="0"/>
                  <a:t>Impacto medio absoluto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Consumo medio simulado [kW]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Base</c:v>
                </c:pt>
                <c:pt idx="1">
                  <c:v>ISO reactivo</c:v>
                </c:pt>
                <c:pt idx="2">
                  <c:v>IA predictiva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476.43584554226152</c:v>
                </c:pt>
                <c:pt idx="1">
                  <c:v>472.62435877792342</c:v>
                </c:pt>
                <c:pt idx="2">
                  <c:v>468.81287201358532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1A-4D2F-974B-71C882702B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s-CL" noProof="0" dirty="0"/>
                  <a:t>kW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42363-EB33-411F-938A-FB8AB7FD5C91}" type="datetimeFigureOut">
              <a:rPr lang="es-CL" smtClean="0"/>
              <a:t>01-09-2026</a:t>
            </a:fld>
            <a:endParaRPr lang="es-CL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E6F47-1321-4ACF-9290-C07A1F2DD6F1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62425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“Buenas tardes.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Quiero comenzar con una pregunta bastante simple: ¿qué hacemos realmente con toda la información energética que estamos midiendo?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Porque hoy tenemos más capacidad que nunca para medir consumo, variables de operación y desempeño.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Pero disponer de datos no significa necesariamente que estemos gestionando mejor la energía.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Entonces, la pregunta que quiero plantear en esta charla es: ¿cómo podemos evolucionar desde simplemente medir lo que ocurrió, hacia anticipar lo que puede ocurrir y utilizar esa información para tomar mejores decisiones?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en ese recorrido es donde aparece Machine Learning.”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89989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“Medir es necesario, pero medir por sí solo no cambia una decisión.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Podemos saber cuánto consumimos, pero necesitamos entender qué ocurrió, bajo qué condiciones ocurrió y si ese comportamiento era el esperado.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gestión comienza cuando el dato se transforma en información útil para decidir.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eso, durante esta presentación no quiero hablar de inteligencia artificial como una tecnología aislada.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Quiero mostrarla como una evolución de una capacidad de gestión que ya existe.”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89518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ese va a ser el recorrido de esta conversación.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Primero medir.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Después entender.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Comparar contra una referencia.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 avanzar hacia la predicción.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finalmente utilizar esa información para decidir.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tecnología aparece cuando la capacidad de gestión necesita dar el siguiente paso.”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3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0717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“Hay una condición fundamental: la energía no existe aislada del proceso.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consumo está asociado a una condición operacional: producción, cargas, equipos, temperatura, horarios y otras variables.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eso, si queremos gestionar desempeño energético, no basta con mirar solamente el medidor.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Tenemos que relacionar la energía con el contexto en el cual fue utilizada.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eso nos lleva a transformar una medición en una lectura de desempeño.”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4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03550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“Si necesitamos interpretar la energía en su contexto, el primer paso es transformar el dato medido en una lectura de desempeño.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Medimos.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Identificamos los usos significativos de energía.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Construimos una referencia mediante la línea base.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finalmente podemos evaluar dónde tiene sentido intervenir.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línea base no es solamente un gráfico; es una referencia para juzgar el desempeño.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Entonces aparece una pregunta más útil que simplemente saber cuánto consumimos:</a:t>
            </a:r>
            <a:b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¿cuánto estamos consumiendo y cuánto deberíamos consumir?”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5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51481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“Aquí aparece la comparación.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consumo observado nos dice qué ocurrió.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referencia nos permite establecer qué esperaríamos bajo determinadas condiciones.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la diferencia entre ambos nos permite identificar una desviación.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 referencia, el consumo es solo un número.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 referencia, se transforma en desempeño.”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6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1179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“Esta lógica la llevamos a un caso real: la planta Oil Malal.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Aquí trabajamos con datos de consumo y condiciones de operación para evaluar el desempeño.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Medimos, contextualizamos, construimos indicadores y utilizamos esa información para identificar oportunidades de mejora.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cuando hacemos esa lectura sobre el caso real, aparece algo especialmente interesante:</a:t>
            </a:r>
            <a:b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podemos empezar a identificar dónde está la oportunidad.”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7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98802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revisión energética permitió estimar un ahorro potencial de 575,88 kilowatt-hora al mes, equivalente al 6,08 % del consumo mensual.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Pero más importante que el número global es dónde se concentra la oportunidad.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41 % corresponde a iluminación y un 26 % a aire acondicionado.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 nos permite pasar de un diagnóstico general a una priorización de oportunidades.”</a:t>
            </a:r>
          </a:p>
          <a:p>
            <a:b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8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42772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“Para poder hablar de desempeño necesitamos una referencia suficientemente robusta.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podemos comparar consumos brutos sin considerar las condiciones bajo las cuales opera el proceso.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este caso, la LBEn presenta un R² de 0,84, mientras que la referencia objetivo alcanza un R² de 0,9508.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 importante es que ahora tenemos una referencia contra la cual podemos juzgar el comportamiento.”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9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76526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“Una sola lectura no necesariamente cuenta toda la historia.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IB100 nos permite observar la condición relativa respecto de la referencia.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CUSUM nos permite observar cómo esa desviación se acumula y evoluciona.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 lectura nos ayuda a entender dónde estamos y la otra cómo está evolucionando el comportamiento.”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10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038386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 toda desviación merece la misma respuesta.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 desviación puede ser importante, pero si no tenemos capacidad de intervenir, probablemente debemos monitorearla.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Cuando combinamos impacto y controlabilidad podemos identificar dónde realmente conviene actuar.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Pasamos de detectar desviaciones a priorizar oportunidades.”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11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50024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eficiencia energética no termina cuando identificamos una mejora técnica.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mejora tiene que producir un resultado energético que pueda ser evaluado y finalmente traducido en valor para la organización.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Porque la eficiencia adquiere sentido cuando sostiene una decisión.”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“Hasta aquí hemos construido una capacidad para medir, entender, comparar y detectar oportunidades.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Pero todavía estamos mirando principalmente hacia atrás.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Sabemos qué ocurrió.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Entonces aparece una pregunta diferente.”</a:t>
            </a:r>
          </a:p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12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217177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“¿Podemos anticiparnos?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Hasta aquí hemos podido medir, entender y comparar.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cambia la pregunta: ¿qué comportamiento energético esperamos?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damos un siguiente paso: explorar cómo los datos operacionales pueden utilizarse para anticipar el comportamiento energético.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ello incorporamos Machine Learning.”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13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02103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“Para responder esta pregunta, llevamos los datos operacionales a un modelo predictivo.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Partimos de los datos.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Construimos variables derivadas, incluyendo retardos y ventanas móviles.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Separamos los datos en entrenamiento y prueba, utilizando 70% para entrenamiento y 30% para prueba.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Entrenamos un Random Forest.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finalmente evaluamos el comportamiento mediante MAE, RMSE y R².”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14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33372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“El modelo sigue razonablemente la señal real, aunque todavía mantiene un error residual.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Aquí estamos observando el comportamiento del modelo sobre el conjunto de prueba.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quiero llevar este resultado global a una predicción concreta.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Vamos a revisar una observación específica.”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15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84635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“Aquí podemos ver la comparación entre los valores reales y los valores predichos por el modelo.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comportamiento general confirma lo que acabamos de observar en la lámina: el modelo sigue razonablemente la señal real.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vamos a acceder al detalle de prueba y vamos a tomar una observación específica.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este caso, tomemos la observación 21.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Aquí tenemos un valor real de 396,95 kW y una predicción de 421,38 kW.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lo tanto, ya no estamos hablando solamente del comportamiento global del modelo; estamos viendo una predicción concreta.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Tenemos entonces una predicción concreta, pero todavía nos falta responder una pregunta: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¿Por qué el modelo llegó a esos 421,38 kW?”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16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2227753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“Sobre las 21 observaciones de prueba obtenemos un MAE de 19,406 kW, un RMSE de 23,353 kW y un R² de 0,911.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Estos valores nos permiten cuantificar el desempeño del modelo, pero no significan que el modelo sea perfecto.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 error residual, y precisamente por eso necesitamos poder interpretar las predicciones.”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17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24689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“Tenemos una predicción.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Pero para que esa predicción sea útil para ingeniería, necesitamos entenderla.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pregunta deja de ser solamente cuánto va a ocurrir y pasa a ser: por qué el modelo está entregando ese resultado.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ahí entra XAI.”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18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414655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“Ahora podemos abrir la caja negra.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nos permite observar qué variables tienen mayor peso en las predicciones del conjunto de prueba.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Load domina claramente la explicación.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HVAC aparece como segunda variable.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las demás variables tienen una contribución bastante menor.”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19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64103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“Pero esto todavía es una lectura global.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vamos a mantener la misma Observación 21 y vamos a revisar qué variables están influyendo en esta predicción.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Aquí podemos ver cómo las diferentes variables desplazan la predicción desde el valor base hasta los 421,38 kW.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Load es la principal contribución en esta observación.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HVAC aparece como la segunda contribución.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 demás variables tienen una influencia menor en este caso.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Entonces, pasamos de saber cuánto predice el modelo a entender qué variables están influyendo en esa predicción.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Pero podemos dar un paso más.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sabemos qué variables están influyendo, podemos preguntarnos qué pasaría si modificamos una de ellas.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Pasamos de explicar una situación a explorar una alternativa.”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20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551906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“Vamos a mantener nuevamente el contexto de la Observación 21.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IT Load aparece como una variable de alta influencia, vamos a explorar qué estima el modelo si reducimos esta condición en un 10 %.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modelo estima una reducción de 421,38 a 408,34 kW respecto de la referencia.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 corresponde a una variación estimada de aproximadamente un 3,1 %.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 importante aclarar que estamos ante una simulación del modelo, no ante una medición de ahorro real.”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21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865718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ECA37-BD2F-AF6E-BC9F-B931DCD1E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ECCF65E-6BD2-AFE8-6AF3-7B30137DE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5028B09-2693-57C6-1B0A-4146571EE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“Vamos a explorar entonces cómo responde el mismo modelo ante esta condición modificada.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Partimos de la condición base, modificamos IT Load y observamos la nueva predicción.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esta manera podemos comparar la condición original con el escenario planteado.”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1B1574-6645-1DE6-07BA-38F0AD954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22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648048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ahora podemos volver a mirar esta cadena.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 que acabamos de hacer no fueron demostraciones independientes.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 una misma cadena de trabajo.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Primero observamos los datos.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Después utilizamos el modelo para anticipar el comportamiento.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 buscamos entender qué variables están influyendo en esa predicción.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finalmente modificamos una condición para explorar cómo podría responder el sistema.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Cada etapa agrega una capacidad a la anterior.”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23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97429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“Lo que buscamos entonces no es solamente tener una predicción.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Queremos que esa predicción pueda ser interpretada desde la perspectiva de ingeniería.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nuestro caso, IT Load aparece como la variable dominante.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HVAC aparece como la segunda variable.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 nos permite pasar desde el resultado del modelo hacia una lectura de qué variables están influyendo.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explica la contribución de las variables dentro del modelo; no demuestra causalidad física.”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24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866906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“Entonces, ¿qué cambia realmente cuando podemos explicar una predicción?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Cambia la forma en que podemos utilizar esa información.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Primero tenemos una predicción.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Después podemos revisar qué variables están contribuyendo.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Eso nos permite evaluar el resultado con mayor contexto.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recién entonces podemos utilizar esa información como apoyo para una decisión de ingeniería.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IA no toma la decisión por nosotros. La IA aporta evidencia para que el ingeniero pueda decidir mejor.”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25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622191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“Aquí está el siguiente paso.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Tenemos una condición base, tenemos una predicción y podemos modificar una condición para construir un escenario.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modelo vuelve a estimar el comportamiento bajo esa condición modificada.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Entonces podemos comparar ambas situaciones antes de intervenir físicamente.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simulación nos permite explorar el efecto estimado de una modificación.”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26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176794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“Pero aquí hay una distinción fundamental.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Ninguna de estas herramientas toma por sí sola la decisión.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Desde el punto de vista técnico: qué predice el modelo y con qué nivel de error.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Desde el punto de vista operacional: si esa alternativa es operacionalmente factible.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desde el punto de vista de negocio: qué valor tiene para la organización.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decisión se construye considerando las tres dimensiones.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IA no toma la decisión por nosotros.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 entrega una capacidad adicional para anticipar, explicar y evaluar alternativas.”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27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804768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7DEE0-770A-0D8A-DA0B-5C4D3DA89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26D459-10E5-2721-08E8-9E992582E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C8E5770-DBF2-80FF-F166-1857DDACB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“Hasta aquí hemos visto qué hace la herramienta. Ahora quiero mostrar brevemente cómo está implementada.”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B34EE9-3222-6F06-27E1-B51F99C85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28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367131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“Entonces, si llevamos todo lo que acabamos de demostrar a una arquitectura, aparece una cadena continua.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Partimos del dato: medir.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Ese dato se contextualiza para entender el desempeño.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Sobre esa información incorporamos inteligencia artificial para predecir y explicar.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finalmente utilizamos esa capacidad para explorar alternativas y apoyar la acción.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inteligencia artificial no aparece aislada.”</a:t>
            </a:r>
          </a:p>
          <a:p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29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682494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“Pero una demostración como la que acabamos de ver no es todavía una solución industrial.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valor aparece cuando este análisis entra realmente en el flujo de trabajo.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Capturar los datos del proceso.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Procesarlos y generar predicciones y explicaciones.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Visualizar la información.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finalmente llevarla al usuario que tiene que evaluarla y tomar una decisión.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herramienta debe apoyar la decisión, no convertirse en el objetivo.”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30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629834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aquí llegamos a una idea central de esta propuesta.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inteligencia artificial no reemplaza el conocimiento de ingeniería. Lo amplifica.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IA puede identificar patrones, generar predicciones y ayudarnos a explicar los resultados.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Pero el ingeniero aporta el contexto del proceso, conoce las restricciones y finalmente debe evaluar qué decisión tiene sentido.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IA aporta capacidad analítica; la ingeniería aporta contexto y criterio para decidir.”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31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925809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si ya podemos predecir, explicar y explorar escenarios, aparece naturalmente el siguiente desafío.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¿Podemos utilizar esa capacidad para buscar mejores alternativas?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Primero anticipamos el comportamiento.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Después entendemos qué variables están influyendo.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 podemos modificar condiciones y comparar alternativas.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el siguiente paso es utilizar esa capacidad para buscar una combinación de condiciones que resulte más conveniente.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optimización es el siguiente nivel que proponemos.”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32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80397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esta evolución nos lleva naturalmente a una pregunta de investigación.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¿Cómo transformar datos energéticos operacionales en capacidad predictiva y de decisión?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todo este recorrido abre naturalmente una línea de investigación.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pregunta que aparece es: ¿cómo transformar los datos energéticos operacionales en capacidad predictiva y de decisión?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desafío está en profundizar la integración entre gestión energética, datos, inteligencia artificial y conocimiento de ingeniería.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desafío entonces es pasar de una analítica retrospectiva a una capacidad de anticipación.”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33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356348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esta pregunta de investigación no aparece de manera aislada.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Surge naturalmente de la evolución del trabajo que acabamos de recorrer.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Partimos desde la gestión energética: medición y evaluación del desempeño.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Sobre esa base incorporamos Machine Learning para anticipar el comportamiento.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 incorporamos explicabilidad para entender qué está influyendo en las predicciones.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finalmente exploramos escenarios para evaluar alternativas antes de intervenir.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 evolución abre oportunidades para continuar desarrollando herramientas que integren ingeniería energética, datos e inteligencia artificial.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siguiente desafío es profundizar esta integración para llevar estas capacidades desde el análisis hacia aplicaciones de mayor impacto en la industria energética.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trabajo abre una línea de desarrollo e investigación con potencial de aplicación en la industria energética.”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34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136911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si miramos todo el recorrido desde el principio, podemos resumirlo en una sola evolución.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Primero: medir qué ocurrió.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Después: entender por qué ocurrió.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Compararlo contra una referencia.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Avanzar hacia qué esperamos que ocurra.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finalmente: qué hacemos con esa información.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se trata de agregar inteligencia artificial por agregar tecnología.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trata de aumentar la capacidad de decidir.”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35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590504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con esto podemos volver a la pregunta con la que comenzamos.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hacemos realmente con toda la información energética que estamos midiendo?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 datos nos permiten observar y entender lo que está ocurriendo.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inteligencia artificial nos permite avanzar desde lo que ocurrió hacia lo que esperamos que ocurra.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cuando incorporamos explicación y exploración de escenarios, esa información puede convertirse en apoyo para decidir.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eso, el objetivo no es simplemente agregar inteligencia artificial a la gestión energética.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objetivo es transformar los datos operacionales en capacidad de predicción y decisión.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otras palabras: pasar de medir, a predecir; y de predecir, a decidir.”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36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6536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A002/Aplicacion_Prueba_01_Prediccion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A002/Aplicacion_Prueba_02_XAI_SHAP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hyperlink" Target="A002/Aplicacion_Prueba_03_Escenarios.htm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tmp"/><Relationship Id="rId4" Type="http://schemas.openxmlformats.org/officeDocument/2006/relationships/hyperlink" Target="file:///C:\Charla_PGF\07_Dash_PGF_001\v010\app\app.py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232" y="476601"/>
            <a:ext cx="694247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SEMINARIO  DE SEGURIDAD Y CONFIABILIDAD ELECTRICA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5212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3400" b="1" noProof="0" dirty="0">
                <a:solidFill>
                  <a:srgbClr val="F8FAFB"/>
                </a:solidFill>
                <a:latin typeface="Aptos"/>
              </a:rPr>
              <a:t>De medir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93392"/>
            <a:ext cx="5212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4200" b="1" noProof="0" dirty="0">
                <a:solidFill>
                  <a:srgbClr val="2DA9B8"/>
                </a:solidFill>
                <a:latin typeface="Aptos"/>
              </a:rPr>
              <a:t>predecir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07792"/>
            <a:ext cx="6675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900" b="1" noProof="0" dirty="0">
                <a:solidFill>
                  <a:srgbClr val="F8FAFB"/>
                </a:solidFill>
                <a:latin typeface="Aptos"/>
              </a:rPr>
              <a:t>Evolución de la gestión del desempeño energético
con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069080"/>
            <a:ext cx="6309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300" b="0" noProof="0" dirty="0">
                <a:solidFill>
                  <a:srgbClr val="CDDCE2"/>
                </a:solidFill>
                <a:latin typeface="Aptos"/>
              </a:rPr>
              <a:t>ISO 50001 · Analítica de datos · Inteligencia Artificial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143000"/>
            <a:ext cx="3063240" cy="621792"/>
          </a:xfrm>
          <a:prstGeom prst="roundRect">
            <a:avLst/>
          </a:prstGeom>
          <a:solidFill>
            <a:srgbClr val="0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8074152" y="1216152"/>
            <a:ext cx="272491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500" b="1" noProof="0" dirty="0">
                <a:solidFill>
                  <a:srgbClr val="F8FAFB"/>
                </a:solidFill>
                <a:latin typeface="Aptos"/>
              </a:rPr>
              <a:t>MEDIR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1755648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87A6B0"/>
                </a:solidFill>
                <a:latin typeface="Apto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075688"/>
            <a:ext cx="3063240" cy="621792"/>
          </a:xfrm>
          <a:prstGeom prst="roundRect">
            <a:avLst/>
          </a:prstGeom>
          <a:solidFill>
            <a:srgbClr val="0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8074152" y="2148840"/>
            <a:ext cx="272491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500" b="1" noProof="0" dirty="0">
                <a:solidFill>
                  <a:srgbClr val="F8FAFB"/>
                </a:solidFill>
                <a:latin typeface="Aptos"/>
              </a:rPr>
              <a:t>ENTENDER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688336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87A6B0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008376"/>
            <a:ext cx="3063240" cy="621792"/>
          </a:xfrm>
          <a:prstGeom prst="roundRect">
            <a:avLst/>
          </a:prstGeom>
          <a:solidFill>
            <a:srgbClr val="0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8074152" y="3081528"/>
            <a:ext cx="272491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500" b="1" noProof="0" dirty="0">
                <a:solidFill>
                  <a:srgbClr val="F8FAFB"/>
                </a:solidFill>
                <a:latin typeface="Aptos"/>
              </a:rPr>
              <a:t>COMPARAR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621024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87A6B0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941064"/>
            <a:ext cx="3063240" cy="621792"/>
          </a:xfrm>
          <a:prstGeom prst="roundRect">
            <a:avLst/>
          </a:prstGeom>
          <a:solidFill>
            <a:srgbClr val="0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8074152" y="4014216"/>
            <a:ext cx="272491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500" b="1" noProof="0" dirty="0">
                <a:solidFill>
                  <a:srgbClr val="2DA9B8"/>
                </a:solidFill>
                <a:latin typeface="Aptos"/>
              </a:rPr>
              <a:t>PREDECIR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553712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87A6B0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4873752"/>
            <a:ext cx="3063240" cy="621792"/>
          </a:xfrm>
          <a:prstGeom prst="roundRect">
            <a:avLst/>
          </a:prstGeom>
          <a:solidFill>
            <a:srgbClr val="0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8074152" y="4946904"/>
            <a:ext cx="272491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500" b="1" noProof="0" dirty="0">
                <a:solidFill>
                  <a:srgbClr val="EF8919"/>
                </a:solidFill>
                <a:latin typeface="Aptos"/>
              </a:rPr>
              <a:t>DECIDIR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AEC7D0"/>
                </a:solidFill>
                <a:latin typeface="Aptos"/>
              </a:rPr>
              <a:t>01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0D85C7D0-BC7C-6DBA-E198-A60B14ECE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81" y="4819232"/>
            <a:ext cx="1437838" cy="144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863"/>
    </mc:Choice>
    <mc:Fallback xmlns="">
      <p:transition spd="slow" advTm="4186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93192"/>
            <a:ext cx="10332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800" b="1" noProof="0" dirty="0">
                <a:solidFill>
                  <a:srgbClr val="F8FAFB"/>
                </a:solidFill>
                <a:latin typeface="Aptos"/>
              </a:rPr>
              <a:t>¿Estamos midiendo energía o realmente gestionándola?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102965"/>
            <a:ext cx="438934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CDDCE2"/>
                </a:solidFill>
                <a:latin typeface="Aptos"/>
              </a:rPr>
              <a:t>La pregunta que abre la conversación.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9431" y="1971645"/>
            <a:ext cx="133305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B9D3DC"/>
                </a:solidFill>
                <a:latin typeface="Aptos"/>
              </a:rPr>
              <a:t>DEL DATO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3983" y="1967073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6283" y="1971645"/>
            <a:ext cx="204575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AL DESEMPEÑO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503" y="1967073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7103" y="1971645"/>
            <a:ext cx="193059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A LA DECISIÓN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63240"/>
            <a:ext cx="10012680" cy="1298448"/>
          </a:xfrm>
          <a:prstGeom prst="roundRect">
            <a:avLst/>
          </a:prstGeom>
          <a:solidFill>
            <a:srgbClr val="0D2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1143000" y="3401568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200" b="1" noProof="0" dirty="0">
                <a:solidFill>
                  <a:srgbClr val="F8FAFB"/>
                </a:solidFill>
                <a:latin typeface="Aptos"/>
              </a:rPr>
              <a:t>Medir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10128"/>
            <a:ext cx="62636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300" b="1" noProof="0" dirty="0">
                <a:solidFill>
                  <a:srgbClr val="F8FAFB"/>
                </a:solidFill>
                <a:latin typeface="Aptos"/>
              </a:rPr>
              <a:t>no basta si el dato no cambia
la forma de decidir.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AEC7D0"/>
                </a:solidFill>
                <a:latin typeface="Aptos"/>
              </a:rPr>
              <a:t>02</a:t>
            </a: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FF8E5112-DD73-DB2E-323B-105527896F58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4F42C884-F50A-D61F-3E2D-93D6F4EAE0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925"/>
    </mc:Choice>
    <mc:Fallback xmlns="">
      <p:transition spd="slow" advTm="3192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El recorrido de la charla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783400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Una misma pregunta evoluciona desde la medición hasta la decisión.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1783080" cy="11430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097080" y="2529429"/>
            <a:ext cx="96051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MEDIR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775" y="254771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2240280"/>
            <a:ext cx="1783080" cy="11430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3109113" y="2529429"/>
            <a:ext cx="147187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ENTENDER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487" y="254771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1224" y="2240280"/>
            <a:ext cx="1783080" cy="11430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5312664" y="2523744"/>
            <a:ext cx="1600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COMPARAR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199" y="254771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8936" y="2240280"/>
            <a:ext cx="1783080" cy="11430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7683457" y="2529429"/>
            <a:ext cx="139403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PREDECIR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5911" y="254771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56648" y="2240280"/>
            <a:ext cx="1783080" cy="11430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10055365" y="2529429"/>
            <a:ext cx="118564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DECIDIR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2116" y="4364474"/>
            <a:ext cx="905728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b="1" noProof="0" dirty="0">
                <a:solidFill>
                  <a:srgbClr val="071927"/>
                </a:solidFill>
                <a:latin typeface="Aptos"/>
              </a:rPr>
              <a:t>La tecnología aparece cuando la capacidad de gestión necesita dar el siguiente paso.</a:t>
            </a: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754D5CA1-4AE7-A4E9-99B2-79796CACEE9B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16484C61-37CC-93A8-1312-828C77C27C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22" name="TextBox 10">
            <a:extLst>
              <a:ext uri="{FF2B5EF4-FFF2-40B4-BE49-F238E27FC236}">
                <a16:creationId xmlns:a16="http://schemas.microsoft.com/office/drawing/2014/main" id="{E36634CF-1A03-4852-E2E3-40819878E1A8}"/>
              </a:ext>
            </a:extLst>
          </p:cNvPr>
          <p:cNvSpPr txBox="1"/>
          <p:nvPr/>
        </p:nvSpPr>
        <p:spPr>
          <a:xfrm>
            <a:off x="1097080" y="3430956"/>
            <a:ext cx="987552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950" b="0" dirty="0">
                <a:latin typeface="Aptos"/>
              </a:rPr>
              <a:t>Datos de energía
+ operación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CCE8D6B6-38D3-8FF1-57C5-0021BECC4486}"/>
              </a:ext>
            </a:extLst>
          </p:cNvPr>
          <p:cNvSpPr txBox="1"/>
          <p:nvPr/>
        </p:nvSpPr>
        <p:spPr>
          <a:xfrm>
            <a:off x="3348990" y="3430956"/>
            <a:ext cx="987552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950" b="0" dirty="0">
                <a:latin typeface="Aptos"/>
              </a:rPr>
              <a:t>Uso </a:t>
            </a:r>
            <a:r>
              <a:rPr lang="es-CL" sz="950" b="0" noProof="0" dirty="0">
                <a:latin typeface="Aptos"/>
              </a:rPr>
              <a:t>significativo</a:t>
            </a:r>
            <a:r>
              <a:rPr lang="es-CL" sz="950" b="0" dirty="0">
                <a:latin typeface="Aptos"/>
              </a:rPr>
              <a:t>
y desempeño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E7FBE779-7F3A-9CC2-C856-8E16465A3FA0}"/>
              </a:ext>
            </a:extLst>
          </p:cNvPr>
          <p:cNvSpPr txBox="1"/>
          <p:nvPr/>
        </p:nvSpPr>
        <p:spPr>
          <a:xfrm>
            <a:off x="5618988" y="3458778"/>
            <a:ext cx="987552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950" b="0" dirty="0">
                <a:latin typeface="Aptos"/>
              </a:rPr>
              <a:t>Contra LBEn /
Referencia</a:t>
            </a: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A004BAE4-CE4C-67C6-C006-944253DA82FE}"/>
              </a:ext>
            </a:extLst>
          </p:cNvPr>
          <p:cNvSpPr txBox="1"/>
          <p:nvPr/>
        </p:nvSpPr>
        <p:spPr>
          <a:xfrm>
            <a:off x="7998596" y="3458778"/>
            <a:ext cx="987552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950" b="0" dirty="0">
                <a:latin typeface="Aptos"/>
              </a:rPr>
              <a:t>Machine
Learning</a:t>
            </a:r>
          </a:p>
        </p:txBody>
      </p:sp>
      <p:sp>
        <p:nvSpPr>
          <p:cNvPr id="34" name="TextBox 30">
            <a:extLst>
              <a:ext uri="{FF2B5EF4-FFF2-40B4-BE49-F238E27FC236}">
                <a16:creationId xmlns:a16="http://schemas.microsoft.com/office/drawing/2014/main" id="{61665BAD-B96A-1D28-C6CC-E2F6A86AC1F8}"/>
              </a:ext>
            </a:extLst>
          </p:cNvPr>
          <p:cNvSpPr txBox="1"/>
          <p:nvPr/>
        </p:nvSpPr>
        <p:spPr>
          <a:xfrm>
            <a:off x="10154412" y="3430956"/>
            <a:ext cx="987552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950" b="0" dirty="0">
                <a:latin typeface="Aptos"/>
              </a:rPr>
              <a:t>Acciones e
impacto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43"/>
    </mc:Choice>
    <mc:Fallback xmlns="">
      <p:transition spd="slow" advTm="1834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La energía no existe aislada del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723082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El desempeño energético se interpreta en contexto operacional.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240280" cy="214884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185193" y="2241393"/>
            <a:ext cx="124149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ENERGÍA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7590" y="2967115"/>
            <a:ext cx="105670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17526C"/>
                </a:solidFill>
                <a:latin typeface="Aptos"/>
              </a:rPr>
              <a:t>consumo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8919" y="2688223"/>
            <a:ext cx="30809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74519"/>
            <a:ext cx="2240280" cy="214884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3783130" y="2241393"/>
            <a:ext cx="162345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OPERACIÓN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5755" y="2967115"/>
            <a:ext cx="211820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2DA9B8"/>
                </a:solidFill>
                <a:latin typeface="Aptos"/>
              </a:rPr>
              <a:t>variables de proceso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7838" y="2688223"/>
            <a:ext cx="30809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74519"/>
            <a:ext cx="2240280" cy="214884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532425" y="2241393"/>
            <a:ext cx="170271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DESEMPEÑO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734" y="2967115"/>
            <a:ext cx="141609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489D69"/>
                </a:solidFill>
                <a:latin typeface="Aptos"/>
              </a:rPr>
              <a:t>comparación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6759" y="2688223"/>
            <a:ext cx="30809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1874519"/>
            <a:ext cx="2240280" cy="214884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9486902" y="2241393"/>
            <a:ext cx="137159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DECISIÓN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6177" y="2967115"/>
            <a:ext cx="81304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EF8919"/>
                </a:solidFill>
                <a:latin typeface="Aptos"/>
              </a:rPr>
              <a:t>acción</a:t>
            </a: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9EBB0ED8-3A52-4714-35D8-61801A37705C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B561020F-4390-3BC1-02A7-DF7193104A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989"/>
    </mc:Choice>
    <mc:Fallback xmlns="">
      <p:transition spd="slow" advTm="2898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Medir no es todavía gestionar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731604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La metodología transforma datos en una lectura del desempeño.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240280" cy="233172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090840" y="2154525"/>
            <a:ext cx="143020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MEDICIÓN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937" y="3053983"/>
            <a:ext cx="156600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D2E0E5"/>
                </a:solidFill>
                <a:latin typeface="Aptos"/>
              </a:rPr>
              <a:t>dato observado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3691" y="2666589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240280" cy="233172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262878" y="2154525"/>
            <a:ext cx="66396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8485" y="3053983"/>
            <a:ext cx="161274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D2E0E5"/>
                </a:solidFill>
                <a:latin typeface="Aptos"/>
              </a:rPr>
              <a:t>uso significativo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2610" y="2666589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2240280" cy="233172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998097" y="2154525"/>
            <a:ext cx="77136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LBEn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4337" y="3053983"/>
            <a:ext cx="107888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D2E0E5"/>
                </a:solidFill>
                <a:latin typeface="Aptos"/>
              </a:rPr>
              <a:t>referencia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1531" y="2666589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1828800"/>
            <a:ext cx="2240280" cy="233172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9600042" y="2154525"/>
            <a:ext cx="114531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MEJORA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9803" y="3053983"/>
            <a:ext cx="78579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D2E0E5"/>
                </a:solidFill>
                <a:latin typeface="Aptos"/>
              </a:rPr>
              <a:t>acción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3665" y="4516463"/>
            <a:ext cx="7702750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b="1" noProof="0" dirty="0">
                <a:solidFill>
                  <a:srgbClr val="071927"/>
                </a:solidFill>
                <a:latin typeface="Aptos"/>
              </a:rPr>
              <a:t>La línea base no es un gráfico: es una referencia para juzgar desempeño.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8B5CCB82-4234-68F9-9C64-E9EA28EECC86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9C09656B-5C32-2E03-5C50-3BFDE05E46F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72"/>
    </mc:Choice>
    <mc:Fallback xmlns="">
      <p:transition spd="slow" advTm="4147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¿Cuánto estamos consumiendo… y cuánto deberíamos consumir?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754071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La referencia convierte un registro en una pregunta de desempeño.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971800" cy="20116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087564" y="1952131"/>
            <a:ext cx="244259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CDDCE2"/>
                </a:solidFill>
                <a:latin typeface="Aptos"/>
              </a:rPr>
              <a:t>CONSUMO OBSERVADO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3741" y="2432971"/>
            <a:ext cx="870238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600" b="1" noProof="0" dirty="0">
                <a:solidFill>
                  <a:srgbClr val="2DA9B8"/>
                </a:solidFill>
                <a:latin typeface="Aptos"/>
              </a:rPr>
              <a:t>dato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3378" y="3113419"/>
            <a:ext cx="1410964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CDDCE2"/>
                </a:solidFill>
                <a:latin typeface="Aptos"/>
              </a:rPr>
              <a:t>lo que ocurrió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3437" y="2400967"/>
            <a:ext cx="614207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600" b="1" noProof="0" dirty="0">
                <a:solidFill>
                  <a:srgbClr val="EF8919"/>
                </a:solidFill>
                <a:latin typeface="Aptos"/>
              </a:rPr>
              <a:t>vs.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828800"/>
            <a:ext cx="2971800" cy="20116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55880" y="1952131"/>
            <a:ext cx="138691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CDDCE2"/>
                </a:solidFill>
                <a:latin typeface="Aptos"/>
              </a:rPr>
              <a:t>REFERENCIA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7094" y="2432971"/>
            <a:ext cx="944489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600" b="1" noProof="0" dirty="0">
                <a:solidFill>
                  <a:srgbClr val="489D69"/>
                </a:solidFill>
                <a:latin typeface="Aptos"/>
              </a:rPr>
              <a:t>LBEn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14229" y="3113419"/>
            <a:ext cx="127022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CDDCE2"/>
                </a:solidFill>
                <a:latin typeface="Aptos"/>
              </a:rPr>
              <a:t>lo esperable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2779" y="2400967"/>
            <a:ext cx="385041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6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828800"/>
            <a:ext cx="2971800" cy="20116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9245030" y="1952131"/>
            <a:ext cx="139814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CDDCE2"/>
                </a:solidFill>
                <a:latin typeface="Aptos"/>
              </a:rPr>
              <a:t>DESEMPEÑO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0677" y="2432971"/>
            <a:ext cx="1826846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600" b="1" noProof="0" dirty="0">
                <a:solidFill>
                  <a:srgbClr val="EF8919"/>
                </a:solidFill>
                <a:latin typeface="Aptos"/>
              </a:rPr>
              <a:t>desviación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963" y="3113419"/>
            <a:ext cx="1470274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CDDCE2"/>
                </a:solidFill>
                <a:latin typeface="Aptos"/>
              </a:rPr>
              <a:t>lo que importa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732" y="4535425"/>
            <a:ext cx="9502535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CL" b="1" noProof="0" dirty="0">
                <a:solidFill>
                  <a:srgbClr val="071927"/>
                </a:solidFill>
                <a:latin typeface="Aptos"/>
              </a:rPr>
              <a:t>Sin referencia, el consumo es solo un número.
Con referencia, se transforma en desempeño.</a:t>
            </a: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73E3B7CD-0BB3-83D7-701D-62ECF96D7020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1FADD669-B1AC-2513-7551-AEE72B0062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830"/>
    </mc:Choice>
    <mc:Fallback xmlns="">
      <p:transition spd="slow" advTm="4083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68965"/>
            <a:ext cx="4087145" cy="4770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chemeClr val="bg2"/>
                </a:solidFill>
                <a:latin typeface="Aptos"/>
              </a:rPr>
              <a:t>Caso real · Planta Oil Malal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867628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La evidencia industrial permite pasar de conceptos a desempeño observado.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3108960" cy="324612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651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200" b="1" noProof="0" dirty="0">
                <a:solidFill>
                  <a:srgbClr val="EF8919"/>
                </a:solidFill>
                <a:latin typeface="Aptos"/>
              </a:rPr>
              <a:t>OIL MALAL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9421" y="2624215"/>
            <a:ext cx="110459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200" b="1" noProof="0" dirty="0">
                <a:solidFill>
                  <a:srgbClr val="F8FAFB"/>
                </a:solidFill>
                <a:latin typeface="Aptos"/>
              </a:rPr>
              <a:t>CASO </a:t>
            </a:r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6517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medición
análisis
mejora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6903720" cy="804672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663440" y="1711041"/>
            <a:ext cx="97334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7896" y="1724757"/>
            <a:ext cx="269695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1" noProof="0" dirty="0">
                <a:solidFill>
                  <a:srgbClr val="17526C"/>
                </a:solidFill>
                <a:latin typeface="Aptos"/>
              </a:rPr>
              <a:t>consumo + operación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724912"/>
            <a:ext cx="6903720" cy="804672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4663440" y="2790033"/>
            <a:ext cx="170271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DESEMPEÑO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7896" y="2803749"/>
            <a:ext cx="239661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indicadores + LBEn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03904"/>
            <a:ext cx="6903720" cy="804672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4663440" y="3869025"/>
            <a:ext cx="114486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MEJORA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7896" y="3882741"/>
            <a:ext cx="272016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medidas + evaluación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8BF9AC9-98FA-952E-CCF4-1B5BFD702676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07E12562-BADA-6140-78E1-2DA1F8CEC3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925"/>
    </mc:Choice>
    <mc:Fallback xmlns="">
      <p:transition spd="slow" advTm="2792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¿Dónde está la oportunidad energética?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478361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Resultados verificables del caso Oil Malal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37360"/>
            <a:ext cx="3154680" cy="22402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376752" y="1860691"/>
            <a:ext cx="2138534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CDDCE2"/>
                </a:solidFill>
                <a:latin typeface="Aptos"/>
              </a:rPr>
              <a:t>AHORRO POTENCIAL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304288"/>
            <a:ext cx="28254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700" b="1" noProof="0" dirty="0">
                <a:solidFill>
                  <a:srgbClr val="EF8919"/>
                </a:solidFill>
                <a:latin typeface="Aptos"/>
              </a:rPr>
              <a:t>575,88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1487" y="3021979"/>
            <a:ext cx="102906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CDDCE2"/>
                </a:solidFill>
                <a:latin typeface="Aptos"/>
              </a:rPr>
              <a:t>kWh/mes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737360"/>
            <a:ext cx="3154680" cy="22402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357262" y="1860691"/>
            <a:ext cx="149271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CDDCE2"/>
                </a:solidFill>
                <a:latin typeface="Aptos"/>
              </a:rPr>
              <a:t>EQUIVALENTE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304288"/>
            <a:ext cx="28254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700" b="1" noProof="0" dirty="0">
                <a:solidFill>
                  <a:srgbClr val="2DA9B8"/>
                </a:solidFill>
                <a:latin typeface="Aptos"/>
              </a:rPr>
              <a:t>6,08 %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8646" y="3021979"/>
            <a:ext cx="214994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CDDCE2"/>
                </a:solidFill>
                <a:latin typeface="Aptos"/>
              </a:rPr>
              <a:t>del consumo mensual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8" y="1737360"/>
            <a:ext cx="3410713" cy="224028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8761309" y="1961275"/>
            <a:ext cx="189923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071927"/>
                </a:solidFill>
                <a:latin typeface="Aptos"/>
              </a:rPr>
              <a:t>CONCENTRACIÓN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468880"/>
            <a:ext cx="1188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600" b="1" noProof="0" dirty="0">
                <a:solidFill>
                  <a:srgbClr val="EF8919"/>
                </a:solidFill>
                <a:latin typeface="Aptos"/>
              </a:rPr>
              <a:t>41 %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1472" y="2509915"/>
            <a:ext cx="129715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600" b="1" noProof="0" dirty="0">
                <a:solidFill>
                  <a:srgbClr val="071927"/>
                </a:solidFill>
                <a:latin typeface="Aptos"/>
              </a:rPr>
              <a:t>Iluminación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127248"/>
            <a:ext cx="1188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600" b="1" noProof="0" dirty="0">
                <a:solidFill>
                  <a:srgbClr val="2DA9B8"/>
                </a:solidFill>
                <a:latin typeface="Aptos"/>
              </a:rPr>
              <a:t>26 %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3168283"/>
            <a:ext cx="198483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600" b="1" noProof="0" dirty="0">
                <a:solidFill>
                  <a:srgbClr val="071927"/>
                </a:solidFill>
                <a:latin typeface="Aptos"/>
              </a:rPr>
              <a:t>Aire acondicionado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3523" y="4867394"/>
            <a:ext cx="890019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b="1" noProof="0" dirty="0">
                <a:solidFill>
                  <a:srgbClr val="071927"/>
                </a:solidFill>
                <a:latin typeface="Aptos"/>
              </a:rPr>
              <a:t>La revisión energética deja de ser diagnóstico y se convierte en cartera de acciones.</a:t>
            </a: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B9397F40-1519-9E85-5FC8-610A26D53C3B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F59DAF53-CEFF-7953-1FF1-8F2612B4E9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524"/>
    </mc:Choice>
    <mc:Fallback xmlns="">
      <p:transition spd="slow" advTm="2752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La línea base convierte consumo en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690727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Resultados reales del estudio · sin página de tesis ni captura.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37360"/>
            <a:ext cx="3246120" cy="233172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2165367" y="1860691"/>
            <a:ext cx="65274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CDDCE2"/>
                </a:solidFill>
                <a:latin typeface="Aptos"/>
              </a:rPr>
              <a:t>LBEn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304288"/>
            <a:ext cx="291693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700" b="1" noProof="0" dirty="0">
                <a:solidFill>
                  <a:srgbClr val="2DA9B8"/>
                </a:solidFill>
                <a:latin typeface="Aptos"/>
              </a:rPr>
              <a:t>R² = 0,84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4436" y="3021979"/>
            <a:ext cx="207460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CDDCE2"/>
                </a:solidFill>
                <a:latin typeface="Aptos"/>
              </a:rPr>
              <a:t>modelo de línea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3246120" cy="233172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503295" y="1860691"/>
            <a:ext cx="120065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CDDCE2"/>
                </a:solidFill>
                <a:latin typeface="Aptos"/>
              </a:rPr>
              <a:t>LBEn META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304288"/>
            <a:ext cx="291693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700" b="1" noProof="0" dirty="0">
                <a:solidFill>
                  <a:srgbClr val="489D69"/>
                </a:solidFill>
                <a:latin typeface="Aptos"/>
              </a:rPr>
              <a:t>R² = 0,9508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0069" y="3021979"/>
            <a:ext cx="182710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CDDCE2"/>
                </a:solidFill>
                <a:latin typeface="Aptos"/>
              </a:rPr>
              <a:t>referencia objetivo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737360"/>
            <a:ext cx="3154680" cy="233172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9145085" y="2025283"/>
            <a:ext cx="104939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EF8919"/>
                </a:solidFill>
                <a:latin typeface="Aptos"/>
              </a:rPr>
              <a:t>LECTURA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42032"/>
            <a:ext cx="260604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500" b="1" noProof="0" dirty="0">
                <a:solidFill>
                  <a:srgbClr val="F8FAFB"/>
                </a:solidFill>
                <a:latin typeface="Aptos"/>
              </a:rPr>
              <a:t>comparar consumo
real vs. referencia
sin confundir
producción con consumo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7901" y="4867394"/>
            <a:ext cx="800571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b="1" noProof="0" dirty="0">
                <a:solidFill>
                  <a:srgbClr val="071927"/>
                </a:solidFill>
                <a:latin typeface="Aptos"/>
              </a:rPr>
              <a:t>La referencia permite juzgar desempeño, no solamente observar consumo.</a:t>
            </a: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8550E82D-6CA8-979F-12B6-C511E4B25D8F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2126ACEC-B173-3F71-EDE3-D4EBBD14AE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418"/>
    </mc:Choice>
    <mc:Fallback xmlns="">
      <p:transition spd="slow" advTm="2541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Dos lecturas complementarias del desempeño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832580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IB100 muestra condición relativa; CUSUM muestra tendencia acumulada.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91640"/>
            <a:ext cx="3337560" cy="242316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2123724" y="1784193"/>
            <a:ext cx="82747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CDDCE2"/>
                </a:solidFill>
                <a:latin typeface="Aptos"/>
              </a:rPr>
              <a:t>IB100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258568"/>
            <a:ext cx="300837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700" b="1" noProof="0" dirty="0">
                <a:solidFill>
                  <a:srgbClr val="EF8919"/>
                </a:solidFill>
                <a:latin typeface="Aptos"/>
              </a:rPr>
              <a:t>45,8 %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2035" y="2976259"/>
            <a:ext cx="263084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CDDCE2"/>
                </a:solidFill>
                <a:latin typeface="Aptos"/>
              </a:rPr>
              <a:t>datos bajo la línea base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691640"/>
            <a:ext cx="3063240" cy="242316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644164" y="1925925"/>
            <a:ext cx="82747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IB100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670048"/>
            <a:ext cx="749808" cy="411480"/>
          </a:xfrm>
          <a:prstGeom prst="roundRect">
            <a:avLst/>
          </a:prstGeom>
          <a:solidFill>
            <a:srgbClr val="EFDA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400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4963816" y="2689896"/>
            <a:ext cx="60625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400" b="1" noProof="0" dirty="0">
                <a:solidFill>
                  <a:srgbClr val="071927"/>
                </a:solidFill>
                <a:latin typeface="Aptos"/>
              </a:rPr>
              <a:t>&lt; 100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670048"/>
            <a:ext cx="749808" cy="411480"/>
          </a:xfrm>
          <a:prstGeom prst="roundRect">
            <a:avLst/>
          </a:prstGeom>
          <a:solidFill>
            <a:srgbClr val="D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400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786776" y="2689896"/>
            <a:ext cx="60625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400" b="1" noProof="0" dirty="0">
                <a:solidFill>
                  <a:srgbClr val="071927"/>
                </a:solidFill>
                <a:latin typeface="Aptos"/>
              </a:rPr>
              <a:t>=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59" y="2670048"/>
            <a:ext cx="749808" cy="411480"/>
          </a:xfrm>
          <a:prstGeom prst="roundRect">
            <a:avLst/>
          </a:prstGeom>
          <a:solidFill>
            <a:srgbClr val="D7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400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6609735" y="2689896"/>
            <a:ext cx="60625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400" b="1" noProof="0" dirty="0">
                <a:solidFill>
                  <a:srgbClr val="071927"/>
                </a:solidFill>
                <a:latin typeface="Aptos"/>
              </a:rPr>
              <a:t>&gt;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6889" y="3328303"/>
            <a:ext cx="176202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687E8A"/>
                </a:solidFill>
                <a:latin typeface="Aptos"/>
              </a:rPr>
              <a:t>condición relativa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1691640"/>
            <a:ext cx="3337560" cy="242316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9037165" y="1925925"/>
            <a:ext cx="108234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CUSUM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1425" y="2629453"/>
            <a:ext cx="3213829" cy="8309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tendencia acumulada
+ cambios de comportamiento
+ evidencia de ahorro o derroche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800600"/>
            <a:ext cx="9966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700" b="1" noProof="0" dirty="0">
                <a:solidFill>
                  <a:srgbClr val="071927"/>
                </a:solidFill>
                <a:latin typeface="Aptos"/>
              </a:rPr>
              <a:t>Lectura conjunta → condición + evolución</a:t>
            </a: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85CCCAA2-6C02-44FB-57D2-C3DF9B39047A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39B1A245-7EB0-CA0F-8BD2-2D18384C66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96"/>
    </mc:Choice>
    <mc:Fallback xmlns="">
      <p:transition spd="slow" advTm="2129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De la desviación a la oportunidad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467025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Dónde concentrar el esfuerzo de mejora.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6583680" cy="34356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078992" y="1350699"/>
            <a:ext cx="104233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600" b="1" noProof="0" dirty="0">
                <a:solidFill>
                  <a:srgbClr val="071927"/>
                </a:solidFill>
                <a:latin typeface="Aptos"/>
              </a:rPr>
              <a:t>IMPACTO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99085" y="5243593"/>
            <a:ext cx="201337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600" b="1" noProof="0" dirty="0">
                <a:solidFill>
                  <a:srgbClr val="071927"/>
                </a:solidFill>
                <a:latin typeface="Aptos"/>
              </a:rPr>
              <a:t>CONTROLABILIDAD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057400"/>
            <a:ext cx="1828800" cy="1005840"/>
          </a:xfrm>
          <a:prstGeom prst="roundRect">
            <a:avLst/>
          </a:prstGeom>
          <a:solidFill>
            <a:srgbClr val="F8FAFB"/>
          </a:solidFill>
          <a:ln>
            <a:solidFill>
              <a:srgbClr val="68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1849109" y="2291685"/>
            <a:ext cx="178818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687E8A"/>
                </a:solidFill>
                <a:latin typeface="Aptos"/>
              </a:rPr>
              <a:t>MONITOREAR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057400"/>
            <a:ext cx="2240280" cy="1005840"/>
          </a:xfrm>
          <a:prstGeom prst="roundRect">
            <a:avLst/>
          </a:prstGeom>
          <a:solidFill>
            <a:srgbClr val="F8FAFB"/>
          </a:solidFill>
          <a:ln>
            <a:solidFill>
              <a:srgbClr val="EF8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4547125" y="2291685"/>
            <a:ext cx="146706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PRIORIZAR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657600"/>
            <a:ext cx="1828800" cy="1005840"/>
          </a:xfrm>
          <a:prstGeom prst="roundRect">
            <a:avLst/>
          </a:prstGeom>
          <a:solidFill>
            <a:srgbClr val="F8FAFB"/>
          </a:solidFill>
          <a:ln>
            <a:solidFill>
              <a:srgbClr val="48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1987224" y="3891885"/>
            <a:ext cx="151195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489D69"/>
                </a:solidFill>
                <a:latin typeface="Aptos"/>
              </a:rPr>
              <a:t>MANTENER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657600"/>
            <a:ext cx="2240280" cy="1005840"/>
          </a:xfrm>
          <a:prstGeom prst="roundRect">
            <a:avLst/>
          </a:prstGeom>
          <a:solidFill>
            <a:srgbClr val="F8FAFB"/>
          </a:solidFill>
          <a:ln>
            <a:solidFill>
              <a:srgbClr val="2D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4711272" y="3891885"/>
            <a:ext cx="113877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ACTUAR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154680" cy="33832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8844806" y="2200245"/>
            <a:ext cx="146706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PRIORIZAR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71800"/>
            <a:ext cx="26060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La mejora empieza donde
la evidencia concentra
impacto y capacidad
de intervención.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011473-BD37-4C70-177E-00E41EA724A2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4B1EA487-D96A-9AE2-A460-F27FC465FE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429"/>
    </mc:Choice>
    <mc:Fallback xmlns="">
      <p:transition spd="slow" advTm="24429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La eficiencia debe traducirse en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510524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Medidas de mejora + evaluación económica.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2743200" cy="20116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713343" y="2287113"/>
            <a:ext cx="114531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MEJORA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168" y="3099703"/>
            <a:ext cx="148566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F8FAFB"/>
                </a:solidFill>
                <a:latin typeface="Aptos"/>
              </a:rPr>
              <a:t>acción técnica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670048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2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920240"/>
            <a:ext cx="2743200" cy="20116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329265" y="2287113"/>
            <a:ext cx="122867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489D69"/>
                </a:solidFill>
                <a:latin typeface="Aptos"/>
              </a:rPr>
              <a:t>AHORRO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0761" y="3099703"/>
            <a:ext cx="200567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F8FAFB"/>
                </a:solidFill>
                <a:latin typeface="Aptos"/>
              </a:rPr>
              <a:t>resultado energético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2670048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2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20240"/>
            <a:ext cx="2743200" cy="20116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9117253" y="2287113"/>
            <a:ext cx="96789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VALOR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0558" y="3099703"/>
            <a:ext cx="94128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F8FAFB"/>
                </a:solidFill>
                <a:latin typeface="Aptos"/>
              </a:rPr>
              <a:t>decisión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5330219"/>
            <a:ext cx="9875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700" b="1" noProof="0" dirty="0">
                <a:solidFill>
                  <a:srgbClr val="071927"/>
                </a:solidFill>
                <a:latin typeface="Aptos"/>
              </a:rPr>
              <a:t>La eficiencia adquiere sentido cuando sostiene una decisión.</a:t>
            </a: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2B5A224A-0928-8C8F-88DB-6205C772DBEF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1CA13FFF-B0F8-7CB4-2DAD-E713C0D48B2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6DC85B3-D19F-F985-E9DF-C066C154E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773328"/>
              </p:ext>
            </p:extLst>
          </p:nvPr>
        </p:nvGraphicFramePr>
        <p:xfrm>
          <a:off x="1828799" y="4117652"/>
          <a:ext cx="822960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335578808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26628573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57073327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8795865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noProof="0" dirty="0"/>
                        <a:t>VAN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noProof="0" dirty="0"/>
                        <a:t>TIR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noProof="0" dirty="0"/>
                        <a:t>PAYBACK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noProof="0" dirty="0"/>
                        <a:t>AHORRO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7292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noProof="0" dirty="0"/>
                        <a:t>$138,46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noProof="0" dirty="0"/>
                        <a:t>51,1 %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noProof="0" dirty="0"/>
                        <a:t>1,14 años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noProof="0" dirty="0"/>
                        <a:t>$21,30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2944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noProof="0" dirty="0"/>
                        <a:t>Valor presente neto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noProof="0" dirty="0"/>
                        <a:t>Rentabilidad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noProof="0" dirty="0"/>
                        <a:t>Recuperación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noProof="0" dirty="0"/>
                        <a:t>Ahorro de costos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427606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48"/>
    </mc:Choice>
    <mc:Fallback xmlns="">
      <p:transition spd="slow" advTm="3224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93192"/>
            <a:ext cx="10332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800" b="1" noProof="0" dirty="0">
                <a:solidFill>
                  <a:srgbClr val="F8FAFB"/>
                </a:solidFill>
                <a:latin typeface="Aptos"/>
              </a:rPr>
              <a:t>¿Podemos anticiparnos?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102965"/>
            <a:ext cx="1086528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CDDCE2"/>
                </a:solidFill>
                <a:latin typeface="Aptos"/>
              </a:rPr>
              <a:t>Hasta aquí podemos medir, entender y </a:t>
            </a:r>
            <a:r>
              <a:rPr lang="es-CL" sz="2000" noProof="0" dirty="0">
                <a:solidFill>
                  <a:srgbClr val="CDDCE2"/>
                </a:solidFill>
                <a:latin typeface="Aptos"/>
              </a:rPr>
              <a:t>gestionamos el desempeño energético en el caso OilMalal</a:t>
            </a:r>
            <a:endParaRPr lang="es-CL" sz="2000" b="0" noProof="0" dirty="0">
              <a:solidFill>
                <a:srgbClr val="CDDCE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AEC7D0"/>
                </a:solidFill>
                <a:latin typeface="Aptos"/>
              </a:rPr>
              <a:t>13</a:t>
            </a:r>
          </a:p>
        </p:txBody>
      </p:sp>
      <p:sp>
        <p:nvSpPr>
          <p:cNvPr id="16" name="TextBox 21">
            <a:extLst>
              <a:ext uri="{FF2B5EF4-FFF2-40B4-BE49-F238E27FC236}">
                <a16:creationId xmlns:a16="http://schemas.microsoft.com/office/drawing/2014/main" id="{D929AACC-4A72-F647-3A43-059CEE4B8265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79E7B5E5-F7C8-775B-3D87-62AB9EA1036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13" name="TextBox 4">
            <a:extLst>
              <a:ext uri="{FF2B5EF4-FFF2-40B4-BE49-F238E27FC236}">
                <a16:creationId xmlns:a16="http://schemas.microsoft.com/office/drawing/2014/main" id="{BBC57224-A735-DC71-F482-7CC16982FF06}"/>
              </a:ext>
            </a:extLst>
          </p:cNvPr>
          <p:cNvSpPr txBox="1"/>
          <p:nvPr/>
        </p:nvSpPr>
        <p:spPr>
          <a:xfrm>
            <a:off x="1078992" y="1565823"/>
            <a:ext cx="10647787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CDDCE2"/>
                </a:solidFill>
                <a:latin typeface="Aptos"/>
              </a:rPr>
              <a:t>Ahora damos un siguiente paso: explorar cómo los datos operacionales pueden  utilizarse para anticipar el comportamiento energético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64C062F4-5182-03DB-1FBF-A5744DC9F9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918" t="26051" r="14215" b="5728"/>
          <a:stretch>
            <a:fillRect/>
          </a:stretch>
        </p:blipFill>
        <p:spPr>
          <a:xfrm>
            <a:off x="3576174" y="2390285"/>
            <a:ext cx="7152078" cy="3985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72"/>
    </mc:Choice>
    <mc:Fallback xmlns="">
      <p:transition spd="slow" advTm="1567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Del dato al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864300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Flujo efectivamente implementado en el notebook Procesoinicialpgfenergia2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874519" cy="201168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031799" y="2253884"/>
            <a:ext cx="81676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071927"/>
                </a:solidFill>
                <a:latin typeface="Aptos"/>
              </a:rPr>
              <a:t>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692" y="3099703"/>
            <a:ext cx="56297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17526C"/>
                </a:solidFill>
                <a:latin typeface="Aptos"/>
              </a:rPr>
              <a:t>72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2670048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8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1965960"/>
            <a:ext cx="1874519" cy="201168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3171394" y="2253884"/>
            <a:ext cx="114614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071927"/>
                </a:solidFill>
                <a:latin typeface="Aptos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8994" y="3099703"/>
            <a:ext cx="135094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2DA9B8"/>
                </a:solidFill>
                <a:latin typeface="Aptos"/>
              </a:rPr>
              <a:t>lags + rolling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70048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8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1496" y="1965960"/>
            <a:ext cx="1874519" cy="201168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366774" y="2253884"/>
            <a:ext cx="1363964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071927"/>
                </a:solidFill>
                <a:latin typeface="Aptos"/>
              </a:rPr>
              <a:t>TRAIN /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6661" y="3099703"/>
            <a:ext cx="78418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071927"/>
                </a:solidFill>
                <a:latin typeface="Aptos"/>
              </a:rPr>
              <a:t>70 /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2670048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8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15784" y="1965960"/>
            <a:ext cx="1874519" cy="201168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7843866" y="2253884"/>
            <a:ext cx="101835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071927"/>
                </a:solidFill>
                <a:latin typeface="Aptos"/>
              </a:rPr>
              <a:t>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536" y="3099703"/>
            <a:ext cx="160101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EF8919"/>
                </a:solidFill>
                <a:latin typeface="Aptos"/>
              </a:rPr>
              <a:t>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2670048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8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20072" y="1965960"/>
            <a:ext cx="1874519" cy="201168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9974677" y="2253884"/>
            <a:ext cx="136531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071927"/>
                </a:solidFill>
                <a:latin typeface="Aptos"/>
              </a:rPr>
              <a:t>VALIDACIÓN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3647" y="3099703"/>
            <a:ext cx="162737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489D69"/>
                </a:solidFill>
                <a:latin typeface="Aptos"/>
              </a:rPr>
              <a:t>MAE · RMSE · R²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617720"/>
            <a:ext cx="10744200" cy="6858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2725963" y="4773055"/>
            <a:ext cx="666387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APLICACIÓN ML · Data Center sintético · 49 entrenamiento + 21 prueba</a:t>
            </a:r>
          </a:p>
        </p:txBody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63151B95-8255-009E-F3CF-BF12CD6CC75E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E1BAA3A9-8C83-540C-FB7C-46B21403158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28" name="TextBox 3">
            <a:extLst>
              <a:ext uri="{FF2B5EF4-FFF2-40B4-BE49-F238E27FC236}">
                <a16:creationId xmlns:a16="http://schemas.microsoft.com/office/drawing/2014/main" id="{3A47B0AB-44E4-8B02-51D1-D05524789CE8}"/>
              </a:ext>
            </a:extLst>
          </p:cNvPr>
          <p:cNvSpPr txBox="1"/>
          <p:nvPr/>
        </p:nvSpPr>
        <p:spPr>
          <a:xfrm>
            <a:off x="5924110" y="533695"/>
            <a:ext cx="5048690" cy="369332"/>
          </a:xfrm>
          <a:prstGeom prst="rect">
            <a:avLst/>
          </a:prstGeom>
          <a:solidFill>
            <a:srgbClr val="00B050"/>
          </a:solidFill>
        </p:spPr>
        <p:txBody>
          <a:bodyPr wrap="none" anchor="ctr">
            <a:spAutoFit/>
          </a:bodyPr>
          <a:lstStyle/>
          <a:p>
            <a:pPr algn="l"/>
            <a:r>
              <a:rPr lang="es-CL" b="0" noProof="0" dirty="0">
                <a:solidFill>
                  <a:schemeClr val="bg1"/>
                </a:solidFill>
                <a:latin typeface="Aptos Display"/>
              </a:rPr>
              <a:t>Ahora nos introducimos al desarrollo computacional</a:t>
            </a: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CDA9ADFC-CB1A-98D2-5E3C-ABDAE786BF7D}"/>
              </a:ext>
            </a:extLst>
          </p:cNvPr>
          <p:cNvSpPr txBox="1"/>
          <p:nvPr/>
        </p:nvSpPr>
        <p:spPr>
          <a:xfrm>
            <a:off x="7667243" y="3964927"/>
            <a:ext cx="1371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1150" b="0" noProof="0" dirty="0">
                <a:solidFill>
                  <a:srgbClr val="102D44"/>
                </a:solidFill>
                <a:latin typeface="Aptos"/>
              </a:rPr>
              <a:t>Predice consumo
futuro (kW)</a:t>
            </a: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6BE590FF-494D-1E93-D9F2-A6134F872A17}"/>
              </a:ext>
            </a:extLst>
          </p:cNvPr>
          <p:cNvSpPr txBox="1"/>
          <p:nvPr/>
        </p:nvSpPr>
        <p:spPr>
          <a:xfrm>
            <a:off x="754379" y="3984714"/>
            <a:ext cx="1371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1150" b="0" noProof="0" dirty="0">
                <a:solidFill>
                  <a:srgbClr val="102D44"/>
                </a:solidFill>
                <a:latin typeface="Aptos"/>
              </a:rPr>
              <a:t>21 observaciones
de prueba</a:t>
            </a:r>
          </a:p>
        </p:txBody>
      </p:sp>
      <p:sp>
        <p:nvSpPr>
          <p:cNvPr id="35" name="TextBox 14">
            <a:extLst>
              <a:ext uri="{FF2B5EF4-FFF2-40B4-BE49-F238E27FC236}">
                <a16:creationId xmlns:a16="http://schemas.microsoft.com/office/drawing/2014/main" id="{2FAC07F1-8051-8563-E195-559A605CFB02}"/>
              </a:ext>
            </a:extLst>
          </p:cNvPr>
          <p:cNvSpPr txBox="1"/>
          <p:nvPr/>
        </p:nvSpPr>
        <p:spPr>
          <a:xfrm>
            <a:off x="3058667" y="3984714"/>
            <a:ext cx="1371600" cy="4278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1150" b="0" noProof="0" dirty="0">
                <a:solidFill>
                  <a:srgbClr val="102D44"/>
                </a:solidFill>
                <a:latin typeface="Aptos"/>
              </a:rPr>
              <a:t>Ingeniería de variables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50"/>
    </mc:Choice>
    <mc:Fallback xmlns="">
      <p:transition spd="slow" advTm="445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 Display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81927"/>
                </a:solidFill>
                <a:latin typeface="Aptos Display"/>
              </a:rPr>
              <a:t>Predicción · Real vs. Predicho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499239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708590"/>
                </a:solidFill>
                <a:latin typeface="Aptos Display"/>
              </a:rPr>
              <a:t>Random Forest aplicado al conjunto de prueba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708590"/>
                </a:solidFill>
                <a:latin typeface="Aptos Display"/>
              </a:rPr>
              <a:t>15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315945"/>
              </p:ext>
            </p:extLst>
          </p:nvPr>
        </p:nvGraphicFramePr>
        <p:xfrm>
          <a:off x="640080" y="1463040"/>
          <a:ext cx="76352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49640" y="1783080"/>
            <a:ext cx="2788920" cy="2892437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9727534" y="2085945"/>
            <a:ext cx="43313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 Display"/>
              </a:rPr>
              <a:t>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560320"/>
            <a:ext cx="2240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3200" b="1" noProof="0" dirty="0">
                <a:solidFill>
                  <a:srgbClr val="EF8919"/>
                </a:solidFill>
                <a:latin typeface="Aptos Display"/>
              </a:rPr>
              <a:t>0.911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6440" y="3593812"/>
            <a:ext cx="2575320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F8FAFB"/>
                </a:solidFill>
                <a:latin typeface="Aptos Display"/>
              </a:rPr>
              <a:t>El modelo sigue la señal real,
pero mantiene error residual.</a:t>
            </a:r>
          </a:p>
        </p:txBody>
      </p:sp>
      <p:sp>
        <p:nvSpPr>
          <p:cNvPr id="13" name="TextBox 21">
            <a:extLst>
              <a:ext uri="{FF2B5EF4-FFF2-40B4-BE49-F238E27FC236}">
                <a16:creationId xmlns:a16="http://schemas.microsoft.com/office/drawing/2014/main" id="{6C477951-0F94-70B4-4D42-99170462A6FA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0030901-E4F2-A8D2-5347-597013D9350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14" name="TextBox 3">
            <a:extLst>
              <a:ext uri="{FF2B5EF4-FFF2-40B4-BE49-F238E27FC236}">
                <a16:creationId xmlns:a16="http://schemas.microsoft.com/office/drawing/2014/main" id="{1EA29E9F-4B0B-C70B-2F4F-CA787EFB8ABB}"/>
              </a:ext>
            </a:extLst>
          </p:cNvPr>
          <p:cNvSpPr txBox="1"/>
          <p:nvPr/>
        </p:nvSpPr>
        <p:spPr>
          <a:xfrm>
            <a:off x="6277588" y="899068"/>
            <a:ext cx="4836260" cy="369332"/>
          </a:xfrm>
          <a:prstGeom prst="rect">
            <a:avLst/>
          </a:prstGeom>
          <a:solidFill>
            <a:srgbClr val="00B050"/>
          </a:solidFill>
        </p:spPr>
        <p:txBody>
          <a:bodyPr wrap="none" anchor="ctr">
            <a:spAutoFit/>
          </a:bodyPr>
          <a:lstStyle/>
          <a:p>
            <a:pPr algn="l"/>
            <a:r>
              <a:rPr lang="es-CL" b="0" noProof="0" dirty="0">
                <a:solidFill>
                  <a:schemeClr val="bg1"/>
                </a:solidFill>
                <a:latin typeface="Aptos Display"/>
              </a:rPr>
              <a:t>Desarrollo Machine Learning – conjunto de prueba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941"/>
    </mc:Choice>
    <mc:Fallback xmlns="">
      <p:transition spd="slow" advTm="3594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60A6F7B-37A8-0928-3B19-545C3C998C02}"/>
              </a:ext>
            </a:extLst>
          </p:cNvPr>
          <p:cNvSpPr txBox="1"/>
          <p:nvPr/>
        </p:nvSpPr>
        <p:spPr>
          <a:xfrm>
            <a:off x="3046614" y="3292444"/>
            <a:ext cx="6938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s-CL" sz="1800" b="1" kern="100" noProof="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  <a:hlinkClick r:id="rId3" action="ppaction://hlinkfile"/>
              </a:rPr>
              <a:t>🖥️</a:t>
            </a:r>
            <a:r>
              <a:rPr lang="es-CL" sz="1800" b="1" kern="100" noProof="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 </a:t>
            </a:r>
            <a:r>
              <a:rPr lang="es-CL" b="1" kern="100" noProof="0" dirty="0">
                <a:ea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APLI</a:t>
            </a:r>
            <a:r>
              <a:rPr lang="es-CL" sz="1800" b="1" kern="100" noProof="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CACIÓN 1 — PREDECIR</a:t>
            </a:r>
            <a:endParaRPr lang="es-CL" sz="1400" b="1" kern="100" noProof="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1">
            <a:extLst>
              <a:ext uri="{FF2B5EF4-FFF2-40B4-BE49-F238E27FC236}">
                <a16:creationId xmlns:a16="http://schemas.microsoft.com/office/drawing/2014/main" id="{2430AB4F-6EC8-5935-6BB0-6C75240E1F08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CB96417-6BD3-5EA1-26F2-491FDCFF4E8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236857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15"/>
    </mc:Choice>
    <mc:Fallback xmlns="">
      <p:transition spd="slow" advTm="9915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 Display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81927"/>
                </a:solidFill>
                <a:latin typeface="Aptos Display"/>
              </a:rPr>
              <a:t>Validación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622798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708590"/>
                </a:solidFill>
                <a:latin typeface="Aptos Display"/>
              </a:rPr>
              <a:t>Métricas calculadas sobre las 21 observaciones de prueba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708590"/>
                </a:solidFill>
                <a:latin typeface="Aptos Display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971800" cy="265176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2057097" y="2131665"/>
            <a:ext cx="68640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 Display"/>
              </a:rPr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26060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3000" b="1" noProof="0" dirty="0">
                <a:solidFill>
                  <a:srgbClr val="2CAAB8"/>
                </a:solidFill>
                <a:latin typeface="Aptos Display"/>
              </a:rPr>
              <a:t>19.406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2094" y="3374023"/>
            <a:ext cx="47641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 Display"/>
              </a:rPr>
              <a:t>kW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828800"/>
            <a:ext cx="2971800" cy="265176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686678" y="2131665"/>
            <a:ext cx="83388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 Display"/>
              </a:rP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743200"/>
            <a:ext cx="26060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3000" b="1" noProof="0" dirty="0">
                <a:solidFill>
                  <a:srgbClr val="EF8919"/>
                </a:solidFill>
                <a:latin typeface="Aptos Display"/>
              </a:rPr>
              <a:t>23.353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5414" y="3374023"/>
            <a:ext cx="47641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 Display"/>
              </a:rPr>
              <a:t>kW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2971800" cy="265176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9590373" y="2131665"/>
            <a:ext cx="43313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 Display"/>
              </a:rPr>
              <a:t>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2743200"/>
            <a:ext cx="26060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3000" b="1" noProof="0" dirty="0">
                <a:solidFill>
                  <a:srgbClr val="459D69"/>
                </a:solidFill>
                <a:latin typeface="Aptos Display"/>
              </a:rPr>
              <a:t>0.911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342900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endParaRPr lang="es-CL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1316090" y="4852005"/>
            <a:ext cx="952934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081927"/>
                </a:solidFill>
                <a:latin typeface="Aptos Display"/>
              </a:rPr>
              <a:t>Referencia del mismo notebook: Regresión Lineal → MAE 11,66 · RMSE 13,10 · R² 0,972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105" y="5268057"/>
            <a:ext cx="1021330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0" noProof="0" dirty="0">
                <a:solidFill>
                  <a:srgbClr val="708590"/>
                </a:solidFill>
                <a:latin typeface="Aptos Display"/>
              </a:rPr>
              <a:t>Random Forest no se presenta como “mejor” sin una comparación homogénea y criterio explícito.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3B6FA8-0B21-6924-9296-C9917D91197D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A9752D4-3D9C-8B63-E03C-FE85C44590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" y="188675"/>
            <a:ext cx="3787960" cy="4770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chemeClr val="bg2"/>
                </a:solidFill>
                <a:latin typeface="Aptos"/>
              </a:rPr>
              <a:t>Predecir no es suficiente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611096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Una predicción útil también debe poder interpretarse.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2743200" cy="22402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427431" y="2245965"/>
            <a:ext cx="171713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4145" y="2706617"/>
            <a:ext cx="160370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qué ocurrirá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3790" y="2771745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74519"/>
            <a:ext cx="2743200" cy="22402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037358" y="2245965"/>
            <a:ext cx="181248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EXPLICACIÓN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7235" y="2706617"/>
            <a:ext cx="107273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por qué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1391" y="2771745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74519"/>
            <a:ext cx="2743200" cy="22402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8915756" y="2245965"/>
            <a:ext cx="137088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489D69"/>
                </a:solidFill>
                <a:latin typeface="Aptos"/>
              </a:rPr>
              <a:t>DECISIÓN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6977" y="2706617"/>
            <a:ext cx="134844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qué hacer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6929" y="4867394"/>
            <a:ext cx="690766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b="1" noProof="0" dirty="0">
                <a:solidFill>
                  <a:schemeClr val="bg2"/>
                </a:solidFill>
                <a:latin typeface="Aptos"/>
              </a:rPr>
              <a:t>La pregunta deja de ser solo “¿cuánto?” y pasa a ser “¿por qué?”</a:t>
            </a: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1FDF6452-A7D0-E1E9-B410-9D54A32BA02A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DFC5BCFC-E8A7-53D4-31EE-B1156C2568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19" name="Gráfico 18" descr="Futuro con relleno sólido">
            <a:extLst>
              <a:ext uri="{FF2B5EF4-FFF2-40B4-BE49-F238E27FC236}">
                <a16:creationId xmlns:a16="http://schemas.microsoft.com/office/drawing/2014/main" id="{BCDCF989-40CC-D07A-3699-7FE3D67853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8799" y="3234187"/>
            <a:ext cx="914400" cy="914400"/>
          </a:xfrm>
          <a:prstGeom prst="rect">
            <a:avLst/>
          </a:prstGeom>
        </p:spPr>
      </p:pic>
      <p:pic>
        <p:nvPicPr>
          <p:cNvPr id="23" name="Gráfico 22" descr="Maestro con relleno sólido">
            <a:extLst>
              <a:ext uri="{FF2B5EF4-FFF2-40B4-BE49-F238E27FC236}">
                <a16:creationId xmlns:a16="http://schemas.microsoft.com/office/drawing/2014/main" id="{0BC4086D-EE42-C027-32D3-3BD4719A47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6400" y="3230670"/>
            <a:ext cx="914400" cy="914400"/>
          </a:xfrm>
          <a:prstGeom prst="rect">
            <a:avLst/>
          </a:prstGeom>
        </p:spPr>
      </p:pic>
      <p:pic>
        <p:nvPicPr>
          <p:cNvPr id="27" name="Gráfico 26" descr="Tabla de decisiones con relleno sólido">
            <a:extLst>
              <a:ext uri="{FF2B5EF4-FFF2-40B4-BE49-F238E27FC236}">
                <a16:creationId xmlns:a16="http://schemas.microsoft.com/office/drawing/2014/main" id="{FC966024-27E4-981E-3AC2-A1E7BC03BF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0" y="3180106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 Display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81927"/>
                </a:solidFill>
                <a:latin typeface="Aptos Display"/>
              </a:rPr>
              <a:t>¿Por qué el modelo predijo eso?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685412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708590"/>
                </a:solidFill>
                <a:latin typeface="Aptos Display"/>
              </a:rPr>
              <a:t>SHAP · importancia global calculada sobre el conjunto de prueba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708590"/>
                </a:solidFill>
                <a:latin typeface="Aptos Display"/>
              </a:rPr>
              <a:t>18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35939"/>
              </p:ext>
            </p:extLst>
          </p:nvPr>
        </p:nvGraphicFramePr>
        <p:xfrm>
          <a:off x="777240" y="1508760"/>
          <a:ext cx="69037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97801" y="1780540"/>
            <a:ext cx="4007374" cy="37033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9204783" y="2025283"/>
            <a:ext cx="102143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EF8919"/>
                </a:solidFill>
                <a:latin typeface="Aptos Display"/>
              </a:rPr>
              <a:t>LECTURA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1813" y="2872204"/>
            <a:ext cx="4179350" cy="1631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0" noProof="0" dirty="0">
                <a:solidFill>
                  <a:srgbClr val="F8FAFB"/>
                </a:solidFill>
                <a:latin typeface="Aptos Display"/>
              </a:rPr>
              <a:t>IT load domina la explicación.
HVAC aparece como segunda variable.
Las demás aportan mucho menos.</a:t>
            </a:r>
          </a:p>
        </p:txBody>
      </p:sp>
      <p:sp>
        <p:nvSpPr>
          <p:cNvPr id="12" name="TextBox 21">
            <a:extLst>
              <a:ext uri="{FF2B5EF4-FFF2-40B4-BE49-F238E27FC236}">
                <a16:creationId xmlns:a16="http://schemas.microsoft.com/office/drawing/2014/main" id="{40AD4FCB-67CC-1254-81B0-AB91E281F756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C22706F-B771-E7BF-2710-8D3E7412213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4FA2F53-0549-40C1-078F-4FAA455B1C91}"/>
              </a:ext>
            </a:extLst>
          </p:cNvPr>
          <p:cNvSpPr txBox="1"/>
          <p:nvPr/>
        </p:nvSpPr>
        <p:spPr>
          <a:xfrm>
            <a:off x="3046615" y="3292444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s-CL" sz="1800" b="1" kern="100" noProof="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Segoe UI Emoji" panose="020B0502040204020203" pitchFamily="34" charset="0"/>
                <a:hlinkClick r:id="rId3" action="ppaction://hlinkfile"/>
              </a:rPr>
              <a:t>🖥️</a:t>
            </a:r>
            <a:r>
              <a:rPr lang="es-CL" sz="1800" b="1" kern="100" noProof="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 APLICACIÓN 2 — EXPLICAR</a:t>
            </a:r>
            <a:endParaRPr lang="es-CL" sz="1400" b="1" kern="100" noProof="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21">
            <a:extLst>
              <a:ext uri="{FF2B5EF4-FFF2-40B4-BE49-F238E27FC236}">
                <a16:creationId xmlns:a16="http://schemas.microsoft.com/office/drawing/2014/main" id="{2F32939A-C554-4757-EB77-6ED746F53ECE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7137F00-4EE6-F3A1-81DE-46A465A072E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967845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 Display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81927"/>
                </a:solidFill>
                <a:latin typeface="Aptos Display"/>
              </a:rPr>
              <a:t>Escenarios · explorar antes de actuar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778674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708590"/>
                </a:solidFill>
                <a:latin typeface="Aptos Display"/>
              </a:rPr>
              <a:t>Simulación demostrativa del notebook · no es una medición de ahorro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708590"/>
                </a:solidFill>
                <a:latin typeface="Aptos Display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6995160" cy="452628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958400"/>
              </p:ext>
            </p:extLst>
          </p:nvPr>
        </p:nvGraphicFramePr>
        <p:xfrm>
          <a:off x="960120" y="1874519"/>
          <a:ext cx="644652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46720" y="1737360"/>
            <a:ext cx="3246120" cy="37033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988632" y="2025283"/>
            <a:ext cx="136229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EF8919"/>
                </a:solidFill>
                <a:latin typeface="Aptos Display"/>
              </a:rPr>
              <a:t>SIMULACIÓN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2785" y="2623989"/>
            <a:ext cx="2393989" cy="10156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 Display"/>
              </a:rPr>
              <a:t>Base
→ respuesta reactiva
→ ajuste predictivo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9842" y="3888968"/>
            <a:ext cx="2279873" cy="13849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CL" sz="1400" b="0" noProof="0" dirty="0">
                <a:solidFill>
                  <a:srgbClr val="CDDCE2"/>
                </a:solidFill>
                <a:latin typeface="Aptos Display"/>
              </a:rPr>
              <a:t>El notebook genera escenarios sintéticos; deben presentarse como demostración metodológica, no como ahorro validado de Oil Malal.</a:t>
            </a: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042FFDDF-5067-C627-9CA1-AE257B0EB561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2A636570-F234-5C8B-A509-F43B900A96A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A8D46-642D-2652-6ECE-BACDA310D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365942-0D28-7A60-EE20-3F47360440F0}"/>
              </a:ext>
            </a:extLst>
          </p:cNvPr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 Display"/>
              </a:rPr>
              <a:t>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9136D8-FAA5-D446-303A-0B62E87B4957}"/>
              </a:ext>
            </a:extLst>
          </p:cNvPr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708590"/>
                </a:solidFill>
                <a:latin typeface="Aptos Display"/>
              </a:rPr>
              <a:t>19</a:t>
            </a: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ED95EB3C-C382-128B-6B4A-4CE44CF45A1D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54C4F42-7975-21CA-79F1-1CC3B103676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6416B373-A519-B47A-B154-42487986BF10}"/>
              </a:ext>
            </a:extLst>
          </p:cNvPr>
          <p:cNvSpPr txBox="1"/>
          <p:nvPr/>
        </p:nvSpPr>
        <p:spPr>
          <a:xfrm>
            <a:off x="3046615" y="3292444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s-CL" sz="1800" b="1" kern="100" noProof="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Segoe UI Emoji" panose="020B0502040204020203" pitchFamily="34" charset="0"/>
                <a:hlinkClick r:id="rId4" action="ppaction://hlinkfile"/>
              </a:rPr>
              <a:t>🖥️</a:t>
            </a:r>
            <a:r>
              <a:rPr lang="es-CL" sz="1800" b="1" kern="100" noProof="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 APLICACIÓN 3 — EXPLORAR</a:t>
            </a:r>
            <a:endParaRPr lang="es-CL" sz="1400" b="1" kern="100" noProof="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309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68965"/>
            <a:ext cx="4955203" cy="4770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chemeClr val="bg2"/>
                </a:solidFill>
                <a:latin typeface="Aptos"/>
              </a:rPr>
              <a:t>De la explicación a la simulación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652774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Comparar alternativas con una misma lógica de decisión.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240280" cy="205740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046801" y="2098287"/>
            <a:ext cx="146341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OBSERVAR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2320" y="2554803"/>
            <a:ext cx="71237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dato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5403" y="259343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1874519"/>
            <a:ext cx="2240280" cy="205740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3934418" y="2098287"/>
            <a:ext cx="139403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PREDECIR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3468" y="2554803"/>
            <a:ext cx="107593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8331" y="259343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1874519"/>
            <a:ext cx="2240280" cy="205740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810397" y="2098287"/>
            <a:ext cx="134793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EXPLICAR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4216" y="2554803"/>
            <a:ext cx="84029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SHAP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91259" y="259343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7152" y="1874519"/>
            <a:ext cx="2240280" cy="205740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9618121" y="2098287"/>
            <a:ext cx="143834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EXPLORAR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7076" y="2554803"/>
            <a:ext cx="134043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489D69"/>
                </a:solidFill>
                <a:latin typeface="Aptos"/>
              </a:rPr>
              <a:t>escenario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8207" y="4821674"/>
            <a:ext cx="817082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b="1" noProof="0" dirty="0">
                <a:solidFill>
                  <a:schemeClr val="bg2"/>
                </a:solidFill>
                <a:latin typeface="Aptos"/>
              </a:rPr>
              <a:t>El escenario no reemplaza la ingeniería: permite explorar antes de intervenir.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F88585AA-ECAD-2D6D-A04A-EBD1E9993D0C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7D1A4B81-C279-A9C5-57A1-5B8C74B1F5F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AFC6DEAB-80AE-45BE-CED4-56AC79B03E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24363" y="3069000"/>
            <a:ext cx="720000" cy="7200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7840A4E0-EAB5-1353-1D81-356E6A9FA5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450" t="16498" r="15748" b="13501"/>
          <a:stretch>
            <a:fillRect/>
          </a:stretch>
        </p:blipFill>
        <p:spPr>
          <a:xfrm>
            <a:off x="4287885" y="3054205"/>
            <a:ext cx="687101" cy="720000"/>
          </a:xfrm>
          <a:prstGeom prst="rect">
            <a:avLst/>
          </a:prstGeom>
        </p:spPr>
      </p:pic>
      <p:pic>
        <p:nvPicPr>
          <p:cNvPr id="29" name="Gráfico 28" descr="Estadísticas con relleno sólido">
            <a:extLst>
              <a:ext uri="{FF2B5EF4-FFF2-40B4-BE49-F238E27FC236}">
                <a16:creationId xmlns:a16="http://schemas.microsoft.com/office/drawing/2014/main" id="{F00D2F68-189E-C100-0303-2AFF1E9A7E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77292" y="3055261"/>
            <a:ext cx="720000" cy="720000"/>
          </a:xfrm>
          <a:prstGeom prst="rect">
            <a:avLst/>
          </a:prstGeom>
        </p:spPr>
      </p:pic>
      <p:pic>
        <p:nvPicPr>
          <p:cNvPr id="31" name="Gráfico 30" descr="Ábaco contorno">
            <a:extLst>
              <a:ext uri="{FF2B5EF4-FFF2-40B4-BE49-F238E27FC236}">
                <a16:creationId xmlns:a16="http://schemas.microsoft.com/office/drawing/2014/main" id="{728CEAC3-4A43-7951-8253-D145827120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2320" y="3054205"/>
            <a:ext cx="720000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SHAP convierte la caja negra en lectura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635622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Qué variables empujan la predicción y en qué dirección.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2580" y="1600200"/>
            <a:ext cx="7404100" cy="3977639"/>
          </a:xfrm>
          <a:prstGeom prst="roundRect">
            <a:avLst>
              <a:gd name="adj" fmla="val 5492"/>
            </a:avLst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1925925"/>
            <a:ext cx="101341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IT 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9420" y="2011679"/>
            <a:ext cx="3429000" cy="256032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Rectangle 9"/>
          <p:cNvSpPr/>
          <p:nvPr/>
        </p:nvSpPr>
        <p:spPr>
          <a:xfrm>
            <a:off x="2979420" y="2011679"/>
            <a:ext cx="2880360" cy="25603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506300" y="1956703"/>
            <a:ext cx="119616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EF8919"/>
                </a:solidFill>
                <a:latin typeface="Aptos"/>
              </a:rPr>
              <a:t>dominante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04917"/>
            <a:ext cx="85472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HVAC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9420" y="3090672"/>
            <a:ext cx="3429000" cy="256032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Rectangle 13"/>
          <p:cNvSpPr/>
          <p:nvPr/>
        </p:nvSpPr>
        <p:spPr>
          <a:xfrm>
            <a:off x="2979420" y="3090672"/>
            <a:ext cx="914400" cy="256032"/>
          </a:xfrm>
          <a:prstGeom prst="rect">
            <a:avLst/>
          </a:prstGeom>
          <a:solidFill>
            <a:srgbClr val="2D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489468" y="3035695"/>
            <a:ext cx="1229824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2DA9B8"/>
                </a:solidFill>
                <a:latin typeface="Aptos"/>
              </a:rPr>
              <a:t>secundaria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83909"/>
            <a:ext cx="240001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Hora / temperatura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9420" y="4169663"/>
            <a:ext cx="3429000" cy="256032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Rectangle 17"/>
          <p:cNvSpPr/>
          <p:nvPr/>
        </p:nvSpPr>
        <p:spPr>
          <a:xfrm>
            <a:off x="2979420" y="4169663"/>
            <a:ext cx="411480" cy="256032"/>
          </a:xfrm>
          <a:prstGeom prst="rect">
            <a:avLst/>
          </a:prstGeom>
          <a:solidFill>
            <a:srgbClr val="48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708277" y="4114687"/>
            <a:ext cx="79220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489D69"/>
                </a:solidFill>
                <a:latin typeface="Aptos"/>
              </a:rPr>
              <a:t>menor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2600" y="1737360"/>
            <a:ext cx="3154680" cy="36118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8376920" y="2148840"/>
            <a:ext cx="2606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XAI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6920" y="2834640"/>
            <a:ext cx="2606040" cy="1691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No basta saber
qué predijo el modelo.
Necesitamos saber
qué variables
contribuyeron.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21A2DF10-B59F-C5AA-6546-55EA403FBF63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544E9998-C2A9-53B4-8C64-36314B3708A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Una decisión cambia cuando podemos explicar el 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874519"/>
            <a:ext cx="10195560" cy="25146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473151" y="2200245"/>
            <a:ext cx="171713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PREDICCIÓN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183" y="2195673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8260" y="2200245"/>
            <a:ext cx="181331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EXPLICACIÓN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383" y="2195673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8862" y="2200245"/>
            <a:ext cx="159851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489D69"/>
                </a:solidFill>
                <a:latin typeface="Aptos"/>
              </a:rPr>
              <a:t>CONFIANZA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7583" y="2195673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1536" y="2200245"/>
            <a:ext cx="137088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DECISIÓN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9829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700" b="1" noProof="0" dirty="0">
                <a:solidFill>
                  <a:srgbClr val="071927"/>
                </a:solidFill>
                <a:latin typeface="Aptos"/>
              </a:rPr>
              <a:t>La explicabilidad conecta el modelo con la ingeniería.</a:t>
            </a:r>
          </a:p>
        </p:txBody>
      </p:sp>
      <p:sp>
        <p:nvSpPr>
          <p:cNvPr id="16" name="TextBox 21">
            <a:extLst>
              <a:ext uri="{FF2B5EF4-FFF2-40B4-BE49-F238E27FC236}">
                <a16:creationId xmlns:a16="http://schemas.microsoft.com/office/drawing/2014/main" id="{AA5FAFCE-AD37-7B68-9595-5EC3FF6EED01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85F76825-3567-5032-4FC7-38897D26DA7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6C39B64-A5DE-E137-F58B-9BEE68DD1FE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17450" t="16498" r="15748" b="13501"/>
          <a:stretch>
            <a:fillRect/>
          </a:stretch>
        </p:blipFill>
        <p:spPr>
          <a:xfrm>
            <a:off x="7018862" y="2707284"/>
            <a:ext cx="1374202" cy="1440000"/>
          </a:xfrm>
          <a:prstGeom prst="rect">
            <a:avLst/>
          </a:prstGeom>
        </p:spPr>
      </p:pic>
      <p:pic>
        <p:nvPicPr>
          <p:cNvPr id="34" name="Gráfico 33" descr="Marca de escudo con relleno sólido">
            <a:extLst>
              <a:ext uri="{FF2B5EF4-FFF2-40B4-BE49-F238E27FC236}">
                <a16:creationId xmlns:a16="http://schemas.microsoft.com/office/drawing/2014/main" id="{E01322DF-79A3-7BF3-EE08-14A8F7833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38463" y="2624522"/>
            <a:ext cx="540000" cy="540000"/>
          </a:xfrm>
          <a:prstGeom prst="rect">
            <a:avLst/>
          </a:prstGeom>
        </p:spPr>
      </p:pic>
      <p:pic>
        <p:nvPicPr>
          <p:cNvPr id="35" name="Imagen 34" descr="Machine Learning - Iconos gratis de electrónica">
            <a:extLst>
              <a:ext uri="{FF2B5EF4-FFF2-40B4-BE49-F238E27FC236}">
                <a16:creationId xmlns:a16="http://schemas.microsoft.com/office/drawing/2014/main" id="{FE747C8F-D712-3F2A-223B-5923B14E1B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1949" y="2707284"/>
            <a:ext cx="1440000" cy="1440000"/>
          </a:xfrm>
          <a:prstGeom prst="rect">
            <a:avLst/>
          </a:prstGeom>
        </p:spPr>
      </p:pic>
      <p:pic>
        <p:nvPicPr>
          <p:cNvPr id="36" name="Imagen 35" descr="Gráfico de líneas - Iconos gratis de flechas">
            <a:extLst>
              <a:ext uri="{FF2B5EF4-FFF2-40B4-BE49-F238E27FC236}">
                <a16:creationId xmlns:a16="http://schemas.microsoft.com/office/drawing/2014/main" id="{68B59808-F896-BD3D-CEE8-624FCF2163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0288" y="2707284"/>
            <a:ext cx="1440000" cy="1440000"/>
          </a:xfrm>
          <a:prstGeom prst="rect">
            <a:avLst/>
          </a:prstGeom>
        </p:spPr>
      </p:pic>
      <p:pic>
        <p:nvPicPr>
          <p:cNvPr id="37" name="Imagen 36" descr="Árbol de decisiones - Iconos gratis de electrónica">
            <a:extLst>
              <a:ext uri="{FF2B5EF4-FFF2-40B4-BE49-F238E27FC236}">
                <a16:creationId xmlns:a16="http://schemas.microsoft.com/office/drawing/2014/main" id="{F3D511E6-B4CD-1002-312D-13D9FAF087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137" y="2707284"/>
            <a:ext cx="1440000" cy="144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Escenarios: ¿qué alternativa conviene?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487986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La IA deja de responder solo “qué pasará”.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83080"/>
            <a:ext cx="2971800" cy="214884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2061906" y="1906411"/>
            <a:ext cx="67678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CDDCE2"/>
                </a:solidFill>
                <a:latin typeface="Aptos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350008"/>
            <a:ext cx="264261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700" b="1" noProof="0" dirty="0">
                <a:solidFill>
                  <a:srgbClr val="2DA9B8"/>
                </a:solidFill>
                <a:latin typeface="Aptos"/>
              </a:rPr>
              <a:t>predicción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5776" y="3260203"/>
            <a:ext cx="166904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CDDCE2"/>
                </a:solidFill>
                <a:latin typeface="Aptos"/>
              </a:rPr>
              <a:t>condición 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487168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4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783080"/>
            <a:ext cx="2971800" cy="214884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543279" y="1906411"/>
            <a:ext cx="130356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CDDCE2"/>
                </a:solidFill>
                <a:latin typeface="Aptos"/>
              </a:rPr>
              <a:t>ESCENARIO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496" y="2171807"/>
            <a:ext cx="1875129" cy="92333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700" b="1" noProof="0" dirty="0">
                <a:solidFill>
                  <a:srgbClr val="489D69"/>
                </a:solidFill>
                <a:latin typeface="Aptos"/>
              </a:rPr>
              <a:t>nueva</a:t>
            </a:r>
          </a:p>
          <a:p>
            <a:pPr algn="ctr"/>
            <a:r>
              <a:rPr lang="es-CL" sz="2700" b="1" noProof="0" dirty="0">
                <a:solidFill>
                  <a:srgbClr val="489D69"/>
                </a:solidFill>
                <a:latin typeface="Aptos"/>
              </a:rPr>
              <a:t>predicción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7719" y="3260203"/>
            <a:ext cx="211468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CDDCE2"/>
                </a:solidFill>
                <a:latin typeface="Aptos"/>
              </a:rPr>
              <a:t>condición modificada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87168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4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783080"/>
            <a:ext cx="2697480" cy="214884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9285037" y="1906411"/>
            <a:ext cx="113524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CDDCE2"/>
                </a:solidFill>
                <a:latin typeface="Aptos"/>
              </a:rPr>
              <a:t>DECISIÓN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2350008"/>
            <a:ext cx="23682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700" b="1" noProof="0" dirty="0">
                <a:solidFill>
                  <a:srgbClr val="EF8919"/>
                </a:solidFill>
                <a:latin typeface="Aptos"/>
              </a:rPr>
              <a:t>comparar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2639" y="3260203"/>
            <a:ext cx="156004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0" noProof="0" dirty="0">
                <a:solidFill>
                  <a:srgbClr val="CDDCE2"/>
                </a:solidFill>
                <a:latin typeface="Aptos"/>
              </a:rPr>
              <a:t>antes de actuar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4300" y="4867394"/>
            <a:ext cx="7152920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b="1" noProof="0" dirty="0">
                <a:solidFill>
                  <a:srgbClr val="071927"/>
                </a:solidFill>
                <a:latin typeface="Aptos"/>
              </a:rPr>
              <a:t>El valor está en poder comparar alternativas con el mismo modelo.</a:t>
            </a: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9FF357F3-54F5-E28D-5A4F-8DAC7B241AF0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F75EB3C8-F459-BAF9-46E3-9BEF7A19E47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5" name="Imagen 4" descr="Gráfico de líneas - Iconos gratis de márketing">
            <a:extLst>
              <a:ext uri="{FF2B5EF4-FFF2-40B4-BE49-F238E27FC236}">
                <a16:creationId xmlns:a16="http://schemas.microsoft.com/office/drawing/2014/main" id="{4E3C7146-3B84-8198-7EE1-AFA580793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198" y="4030611"/>
            <a:ext cx="609604" cy="609604"/>
          </a:xfrm>
          <a:prstGeom prst="rect">
            <a:avLst/>
          </a:prstGeom>
        </p:spPr>
      </p:pic>
      <p:pic>
        <p:nvPicPr>
          <p:cNvPr id="24" name="Imagen 23" descr="Gráfico de líneas - Iconos gratis de flechas">
            <a:extLst>
              <a:ext uri="{FF2B5EF4-FFF2-40B4-BE49-F238E27FC236}">
                <a16:creationId xmlns:a16="http://schemas.microsoft.com/office/drawing/2014/main" id="{8B598DD1-38C9-419A-5241-9183E6032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6099" y="3970987"/>
            <a:ext cx="608400" cy="608400"/>
          </a:xfrm>
          <a:prstGeom prst="rect">
            <a:avLst/>
          </a:prstGeom>
        </p:spPr>
      </p:pic>
      <p:pic>
        <p:nvPicPr>
          <p:cNvPr id="27" name="Imagen 26" descr="Gráfico de líneas - Iconos gratis de márketing">
            <a:extLst>
              <a:ext uri="{FF2B5EF4-FFF2-40B4-BE49-F238E27FC236}">
                <a16:creationId xmlns:a16="http://schemas.microsoft.com/office/drawing/2014/main" id="{565994F7-3B27-5657-1519-040131CF0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5481" y="4055251"/>
            <a:ext cx="609604" cy="609604"/>
          </a:xfrm>
          <a:prstGeom prst="rect">
            <a:avLst/>
          </a:prstGeom>
        </p:spPr>
      </p:pic>
      <p:pic>
        <p:nvPicPr>
          <p:cNvPr id="29" name="Imagen 28" descr="Gráfico de líneas - Iconos gratis de flechas">
            <a:extLst>
              <a:ext uri="{FF2B5EF4-FFF2-40B4-BE49-F238E27FC236}">
                <a16:creationId xmlns:a16="http://schemas.microsoft.com/office/drawing/2014/main" id="{549BBFEB-D251-0EBE-E3FA-3BB38A29FB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820" y="4030611"/>
            <a:ext cx="608400" cy="608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La decisión se construye comparando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708078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Resultado técnico + impacto operacional + criterio de negocio.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2926080" cy="22860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696770" y="2200245"/>
            <a:ext cx="126989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TÉCNICO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045" y="3099703"/>
            <a:ext cx="182934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predicción +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2760" y="2572137"/>
            <a:ext cx="458779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4000" b="1" noProof="0" dirty="0">
                <a:solidFill>
                  <a:srgbClr val="EF8919"/>
                </a:solidFill>
                <a:latin typeface="Aptos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2926080" cy="22860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077886" y="2200245"/>
            <a:ext cx="191430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489D69"/>
                </a:solidFill>
                <a:latin typeface="Aptos"/>
              </a:rPr>
              <a:t>OPERACIONAL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0510" y="3099703"/>
            <a:ext cx="124906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factibilidad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6080" y="2572137"/>
            <a:ext cx="458779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4000" b="1" noProof="0" dirty="0">
                <a:solidFill>
                  <a:srgbClr val="EF8919"/>
                </a:solidFill>
                <a:latin typeface="Aptos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19" y="1828800"/>
            <a:ext cx="2926080" cy="22860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9071350" y="2200245"/>
            <a:ext cx="133401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NEGOCIO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2790" y="3099703"/>
            <a:ext cx="65114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valor</a:t>
            </a: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AC52EC00-A29B-3556-FD85-D98F43A3E62D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9F1DF6E5-A268-84EC-1A2A-156654AC966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5" name="Imagen 4" descr="Icono De Línea De Predicción Vectorial PNG ,dibujos Análisis, Predicción,  Regresión PNG y Vector para Descargar Gratis | Pngtree">
            <a:extLst>
              <a:ext uri="{FF2B5EF4-FFF2-40B4-BE49-F238E27FC236}">
                <a16:creationId xmlns:a16="http://schemas.microsoft.com/office/drawing/2014/main" id="{CCA91CC8-C5BD-93DA-7419-8618AE23FB9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8953361" y="4114800"/>
            <a:ext cx="1800000" cy="1800000"/>
          </a:xfrm>
          <a:prstGeom prst="rect">
            <a:avLst/>
          </a:prstGeom>
        </p:spPr>
      </p:pic>
      <p:pic>
        <p:nvPicPr>
          <p:cNvPr id="22" name="Imagen 21" descr="Icono Lineal De Ia De Aprendizaje Profundo Esquema De Procesamiento Lineal  Vectorial PNG ,dibujos Describir, Lineal, Tratamiento Imagen de ilustración  en Pngtree, Libres de Derechos">
            <a:extLst>
              <a:ext uri="{FF2B5EF4-FFF2-40B4-BE49-F238E27FC236}">
                <a16:creationId xmlns:a16="http://schemas.microsoft.com/office/drawing/2014/main" id="{A27EF5A3-CE9C-F9FD-CA36-FAF744589F2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1625180" y="4232369"/>
            <a:ext cx="1613461" cy="1440000"/>
          </a:xfrm>
          <a:prstGeom prst="rect">
            <a:avLst/>
          </a:prstGeom>
        </p:spPr>
      </p:pic>
      <p:pic>
        <p:nvPicPr>
          <p:cNvPr id="23" name="Imagen 22" descr="Machine Learning - Iconos gratis de electrónica">
            <a:extLst>
              <a:ext uri="{FF2B5EF4-FFF2-40B4-BE49-F238E27FC236}">
                <a16:creationId xmlns:a16="http://schemas.microsoft.com/office/drawing/2014/main" id="{4A686016-AA26-FE4E-0EED-90FF125F8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5039" y="4294800"/>
            <a:ext cx="1440000" cy="144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0A2D1-1C6A-1F83-0CBF-7F1AD8F1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8017AA-3351-64D5-044B-FE79DFFA7D66}"/>
              </a:ext>
            </a:extLst>
          </p:cNvPr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1CF240-51C5-7B80-4244-A34C28946A01}"/>
              </a:ext>
            </a:extLst>
          </p:cNvPr>
          <p:cNvSpPr txBox="1"/>
          <p:nvPr/>
        </p:nvSpPr>
        <p:spPr>
          <a:xfrm>
            <a:off x="1078992" y="268965"/>
            <a:ext cx="1213089" cy="4770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Código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2E7F8A-320A-65A3-69D6-8F5448F2B2F6}"/>
              </a:ext>
            </a:extLst>
          </p:cNvPr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24</a:t>
            </a: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380F2A1C-1327-4050-F602-04F3C3A83A63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F9C62C5C-D033-8508-49D0-C940CC30065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9" name="Imagen 8">
            <a:hlinkClick r:id="rId4" action="ppaction://hlinkfile"/>
            <a:extLst>
              <a:ext uri="{FF2B5EF4-FFF2-40B4-BE49-F238E27FC236}">
                <a16:creationId xmlns:a16="http://schemas.microsoft.com/office/drawing/2014/main" id="{FC5DD931-0870-EF9A-BFF3-B1247B787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749" y="807727"/>
            <a:ext cx="9969231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98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Arquitectura integral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650690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Una cadena continua: dato → desempeño → IA → decisión.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331720" cy="242316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350492" y="2227677"/>
            <a:ext cx="81945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DATO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645" y="2916239"/>
            <a:ext cx="86914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medir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2835" y="2721453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74519"/>
            <a:ext cx="2331720" cy="242316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3789225" y="2227677"/>
            <a:ext cx="170271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DESEMPEÑO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7653" y="2916239"/>
            <a:ext cx="12458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entender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3194" y="2721453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874519"/>
            <a:ext cx="2331720" cy="242316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311588" y="2227677"/>
            <a:ext cx="41870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8985" y="2916239"/>
            <a:ext cx="234391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predecir + explicar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3555" y="2721453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874519"/>
            <a:ext cx="2331720" cy="242316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9715855" y="2227677"/>
            <a:ext cx="137088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489D69"/>
                </a:solidFill>
                <a:latin typeface="Aptos"/>
              </a:rPr>
              <a:t>DECISIÓN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8730" y="2916239"/>
            <a:ext cx="214513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explorar + actuar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7091" y="5785253"/>
            <a:ext cx="677781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b="1" noProof="0" dirty="0">
                <a:solidFill>
                  <a:srgbClr val="071927"/>
                </a:solidFill>
                <a:latin typeface="Aptos"/>
              </a:rPr>
              <a:t>El dashboard materializa esta cadena durante la demostración.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0CA3B576-BD45-B5A5-3D55-C616C7D2B909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7C4B84B1-6B96-FC47-8CA5-BAE9C3AAA5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30" name="Imagen 29" descr="Icono IA predicción analítica">
            <a:extLst>
              <a:ext uri="{FF2B5EF4-FFF2-40B4-BE49-F238E27FC236}">
                <a16:creationId xmlns:a16="http://schemas.microsoft.com/office/drawing/2014/main" id="{8975E4EB-FD5D-4A3C-8091-534CC54CBF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688" t="15407" r="10460" b="24059"/>
          <a:stretch>
            <a:fillRect/>
          </a:stretch>
        </p:blipFill>
        <p:spPr>
          <a:xfrm>
            <a:off x="6853211" y="4358069"/>
            <a:ext cx="1335458" cy="1080000"/>
          </a:xfrm>
          <a:prstGeom prst="rect">
            <a:avLst/>
          </a:prstGeom>
        </p:spPr>
      </p:pic>
      <p:pic>
        <p:nvPicPr>
          <p:cNvPr id="31" name="Imagen 30" descr="Icono IA toma de decisiones">
            <a:extLst>
              <a:ext uri="{FF2B5EF4-FFF2-40B4-BE49-F238E27FC236}">
                <a16:creationId xmlns:a16="http://schemas.microsoft.com/office/drawing/2014/main" id="{7A00444E-49C1-C642-AB28-C937B04B29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614" t="21974" r="20730" b="20405"/>
          <a:stretch>
            <a:fillRect/>
          </a:stretch>
        </p:blipFill>
        <p:spPr>
          <a:xfrm>
            <a:off x="9739151" y="4358069"/>
            <a:ext cx="1324295" cy="1080000"/>
          </a:xfrm>
          <a:prstGeom prst="rect">
            <a:avLst/>
          </a:prstGeom>
        </p:spPr>
      </p:pic>
      <p:pic>
        <p:nvPicPr>
          <p:cNvPr id="32" name="Imagen 31" descr="Icono IA rendimiento y entendimiento">
            <a:extLst>
              <a:ext uri="{FF2B5EF4-FFF2-40B4-BE49-F238E27FC236}">
                <a16:creationId xmlns:a16="http://schemas.microsoft.com/office/drawing/2014/main" id="{A5BF2819-8FB2-7E6A-6F77-D75203E1A1C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208" t="17675" r="10973" b="21348"/>
          <a:stretch>
            <a:fillRect/>
          </a:stretch>
        </p:blipFill>
        <p:spPr>
          <a:xfrm>
            <a:off x="3951421" y="4362324"/>
            <a:ext cx="1378318" cy="1080000"/>
          </a:xfrm>
          <a:prstGeom prst="rect">
            <a:avLst/>
          </a:prstGeom>
        </p:spPr>
      </p:pic>
      <p:pic>
        <p:nvPicPr>
          <p:cNvPr id="33" name="Imagen 32" descr="Icono IA recolección de datos y métricas">
            <a:extLst>
              <a:ext uri="{FF2B5EF4-FFF2-40B4-BE49-F238E27FC236}">
                <a16:creationId xmlns:a16="http://schemas.microsoft.com/office/drawing/2014/main" id="{BEAF7438-C554-FE39-D8F0-7BDE2917651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533" t="20444" r="7670" b="28469"/>
          <a:stretch>
            <a:fillRect/>
          </a:stretch>
        </p:blipFill>
        <p:spPr>
          <a:xfrm>
            <a:off x="885044" y="4362324"/>
            <a:ext cx="1750349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Del prototipo al entorno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698941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El valor aparece cuando el análisis entra en el flujo de trabajo.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240280" cy="214884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273548" y="2172813"/>
            <a:ext cx="97334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1758" y="2931765"/>
            <a:ext cx="117692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capturar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7971" y="259343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828800"/>
            <a:ext cx="2240280" cy="214884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3999839" y="2172813"/>
            <a:ext cx="122661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MODELO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2244" y="2931765"/>
            <a:ext cx="122180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procesar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899" y="259343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1828800"/>
            <a:ext cx="2240280" cy="214884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613919" y="2172813"/>
            <a:ext cx="170431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7501" y="2931765"/>
            <a:ext cx="129715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489D69"/>
                </a:solidFill>
                <a:latin typeface="Aptos"/>
              </a:rPr>
              <a:t>visualizar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3827" y="259343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3" y="1828800"/>
            <a:ext cx="2240280" cy="214884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9527761" y="2172813"/>
            <a:ext cx="158248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071927"/>
                </a:solidFill>
                <a:latin typeface="Aptos"/>
              </a:rPr>
              <a:t>INGENIERÍA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7904" y="2931765"/>
            <a:ext cx="100219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chemeClr val="tx2"/>
                </a:solidFill>
                <a:latin typeface="Aptos"/>
              </a:rPr>
              <a:t>decidir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0904" y="4775954"/>
            <a:ext cx="742543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b="1" noProof="0" dirty="0">
                <a:solidFill>
                  <a:srgbClr val="071927"/>
                </a:solidFill>
                <a:latin typeface="Aptos"/>
              </a:rPr>
              <a:t>La herramienta debe apoyar la decisión, no convertirse en el objetivo.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7498D84A-2408-6FB5-4CBD-010FB128A072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07FBAB71-5A29-6B32-CC99-F787D669AE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68965"/>
            <a:ext cx="7037504" cy="4770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chemeClr val="bg2"/>
                </a:solidFill>
                <a:latin typeface="Aptos"/>
              </a:rPr>
              <a:t>IA + ingeniería: una nueva capacidad de gestión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786465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La IA amplifica el conocimiento del proceso; no sustituye al ingeniero.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3657600" cy="28803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2533848" y="1998407"/>
            <a:ext cx="41870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647499"/>
            <a:ext cx="1531188" cy="10156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patrones
predicción
explicación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828800"/>
            <a:ext cx="3657600" cy="28803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8535638" y="1998407"/>
            <a:ext cx="158248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INGENIERÍA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79" y="2647929"/>
            <a:ext cx="1723549" cy="10156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contexto
restricciones
decisión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6082" y="2509689"/>
            <a:ext cx="595036" cy="10156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6000" b="1" noProof="0" dirty="0">
                <a:solidFill>
                  <a:srgbClr val="EF8919"/>
                </a:solidFill>
                <a:latin typeface="Aptos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7306" y="5215620"/>
            <a:ext cx="595036" cy="10156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6000" b="1" noProof="0" dirty="0">
                <a:solidFill>
                  <a:srgbClr val="489D69"/>
                </a:solidFill>
                <a:latin typeface="Aptos"/>
              </a:rPr>
              <a:t>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5328" y="6266759"/>
            <a:ext cx="279275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chemeClr val="bg2"/>
                </a:solidFill>
                <a:latin typeface="Aptos"/>
              </a:rPr>
              <a:t>capacidad aumentada</a:t>
            </a: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D1B752D5-9F64-9244-E1E6-E69C2C91021A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D4508842-C086-153F-6D7F-705BD792E5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5" name="Imagen 4" descr="Imagen generada por IA">
            <a:extLst>
              <a:ext uri="{FF2B5EF4-FFF2-40B4-BE49-F238E27FC236}">
                <a16:creationId xmlns:a16="http://schemas.microsoft.com/office/drawing/2014/main" id="{E5646FAF-0B49-4626-64DF-8ABB540DD1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211" t="14670" r="26268" b="14386"/>
          <a:stretch>
            <a:fillRect/>
          </a:stretch>
        </p:blipFill>
        <p:spPr>
          <a:xfrm>
            <a:off x="2789757" y="3429000"/>
            <a:ext cx="1269770" cy="1080000"/>
          </a:xfrm>
          <a:prstGeom prst="rect">
            <a:avLst/>
          </a:prstGeom>
        </p:spPr>
      </p:pic>
      <p:pic>
        <p:nvPicPr>
          <p:cNvPr id="16" name="Imagen 15" descr="Imagen generada por IA">
            <a:extLst>
              <a:ext uri="{FF2B5EF4-FFF2-40B4-BE49-F238E27FC236}">
                <a16:creationId xmlns:a16="http://schemas.microsoft.com/office/drawing/2014/main" id="{B9B0E174-729A-D80F-638A-A9B7C66743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081" t="11792" r="27545" b="11792"/>
          <a:stretch>
            <a:fillRect/>
          </a:stretch>
        </p:blipFill>
        <p:spPr>
          <a:xfrm>
            <a:off x="8043344" y="3429000"/>
            <a:ext cx="1123853" cy="1080000"/>
          </a:xfrm>
          <a:prstGeom prst="rect">
            <a:avLst/>
          </a:prstGeom>
        </p:spPr>
      </p:pic>
      <p:pic>
        <p:nvPicPr>
          <p:cNvPr id="18" name="Imagen 17" descr="Imagen generada por IA">
            <a:extLst>
              <a:ext uri="{FF2B5EF4-FFF2-40B4-BE49-F238E27FC236}">
                <a16:creationId xmlns:a16="http://schemas.microsoft.com/office/drawing/2014/main" id="{A8C23031-1B09-2898-635F-3C0857CCAF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9343" t="12183" r="27745" b="12444"/>
          <a:stretch>
            <a:fillRect/>
          </a:stretch>
        </p:blipFill>
        <p:spPr>
          <a:xfrm>
            <a:off x="5801942" y="5082951"/>
            <a:ext cx="1102459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rgbClr val="071927"/>
                </a:solidFill>
                <a:latin typeface="Aptos"/>
              </a:rPr>
              <a:t>El siguiente nivel: optimizar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701666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Después de predecir y explicar, podemos evaluar alternativas.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2148840" cy="20574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993091" y="2104503"/>
            <a:ext cx="171713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6551" y="263915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3592" y="1920240"/>
            <a:ext cx="2148840" cy="20574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3761353" y="2104503"/>
            <a:ext cx="181331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EXPLICACIÓN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903" y="263915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9944" y="1920240"/>
            <a:ext cx="2148840" cy="20574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6614573" y="2104503"/>
            <a:ext cx="173957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489D69"/>
                </a:solidFill>
                <a:latin typeface="Aptos"/>
              </a:rPr>
              <a:t>ESCENARIOS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9255" y="2639157"/>
            <a:ext cx="33855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6296" y="1920240"/>
            <a:ext cx="2148840" cy="20574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9317736" y="2098818"/>
            <a:ext cx="1965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OPTIMIZACIÓN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2195" y="4791343"/>
            <a:ext cx="683712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071927"/>
                </a:solidFill>
                <a:latin typeface="Aptos"/>
              </a:rPr>
              <a:t>La evolución propuesta es aumentar la capacidad de anticipar y decidir.</a:t>
            </a: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26E2660F-D763-B01E-DDA3-E853CAE4B2F1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AE49762-19F0-6AED-DC05-DCECA7DE440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5" name="Imagen 4" descr="Icono IA predicción y proyección futura">
            <a:extLst>
              <a:ext uri="{FF2B5EF4-FFF2-40B4-BE49-F238E27FC236}">
                <a16:creationId xmlns:a16="http://schemas.microsoft.com/office/drawing/2014/main" id="{68CE66AB-EC21-40E8-CD08-59F5433C26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859" t="26065" r="13331" b="31097"/>
          <a:stretch>
            <a:fillRect/>
          </a:stretch>
        </p:blipFill>
        <p:spPr>
          <a:xfrm>
            <a:off x="921235" y="2737515"/>
            <a:ext cx="1860848" cy="1080000"/>
          </a:xfrm>
          <a:prstGeom prst="rect">
            <a:avLst/>
          </a:prstGeom>
        </p:spPr>
      </p:pic>
      <p:pic>
        <p:nvPicPr>
          <p:cNvPr id="19" name="Imagen 18" descr="Icono IA explicación y claridad">
            <a:extLst>
              <a:ext uri="{FF2B5EF4-FFF2-40B4-BE49-F238E27FC236}">
                <a16:creationId xmlns:a16="http://schemas.microsoft.com/office/drawing/2014/main" id="{E694E0F9-965F-91A3-0826-AE93152E7D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322" t="23223" r="10265" b="28894"/>
          <a:stretch>
            <a:fillRect/>
          </a:stretch>
        </p:blipFill>
        <p:spPr>
          <a:xfrm>
            <a:off x="3779706" y="2737515"/>
            <a:ext cx="1813749" cy="1080000"/>
          </a:xfrm>
          <a:prstGeom prst="rect">
            <a:avLst/>
          </a:prstGeom>
        </p:spPr>
      </p:pic>
      <p:pic>
        <p:nvPicPr>
          <p:cNvPr id="21" name="Imagen 20" descr="Icono IA simulación de escenarios">
            <a:extLst>
              <a:ext uri="{FF2B5EF4-FFF2-40B4-BE49-F238E27FC236}">
                <a16:creationId xmlns:a16="http://schemas.microsoft.com/office/drawing/2014/main" id="{D4B63665-CA68-EBA6-43CE-45D39E7E4F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567" t="23223" r="14510" b="27226"/>
          <a:stretch>
            <a:fillRect/>
          </a:stretch>
        </p:blipFill>
        <p:spPr>
          <a:xfrm>
            <a:off x="6692071" y="2639157"/>
            <a:ext cx="1567639" cy="1080000"/>
          </a:xfrm>
          <a:prstGeom prst="rect">
            <a:avLst/>
          </a:prstGeom>
        </p:spPr>
      </p:pic>
      <p:pic>
        <p:nvPicPr>
          <p:cNvPr id="23" name="Imagen 22" descr="Icono IA optimización y máximo rendimiento">
            <a:extLst>
              <a:ext uri="{FF2B5EF4-FFF2-40B4-BE49-F238E27FC236}">
                <a16:creationId xmlns:a16="http://schemas.microsoft.com/office/drawing/2014/main" id="{F62942F4-C997-996D-31BF-2FCA44C424F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151" t="23223" r="13095" b="27374"/>
          <a:stretch>
            <a:fillRect/>
          </a:stretch>
        </p:blipFill>
        <p:spPr>
          <a:xfrm>
            <a:off x="9483617" y="2628861"/>
            <a:ext cx="1634198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93192"/>
            <a:ext cx="10332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800" b="1" noProof="0" dirty="0">
                <a:solidFill>
                  <a:srgbClr val="F8FAFB"/>
                </a:solidFill>
                <a:latin typeface="Aptos"/>
              </a:rPr>
              <a:t>La pregunta de investigación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102965"/>
            <a:ext cx="1032526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CDDCE2"/>
                </a:solidFill>
                <a:latin typeface="Aptos"/>
              </a:rPr>
              <a:t>¿Cómo transformar datos energéticos operacionales en capacidad predictiva y de decisión?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011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01168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5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057400"/>
            <a:ext cx="2377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PREDICCIÓN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01168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5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2377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EXPLICACIÓN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01168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5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057400"/>
            <a:ext cx="1554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489D69"/>
                </a:solidFill>
                <a:latin typeface="Aptos"/>
              </a:rPr>
              <a:t>DECISIÓN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703320"/>
            <a:ext cx="9829800" cy="960120"/>
          </a:xfrm>
          <a:prstGeom prst="roundRect">
            <a:avLst/>
          </a:prstGeom>
          <a:solidFill>
            <a:srgbClr val="0D2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1417320" y="3959352"/>
            <a:ext cx="9281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800" b="1" noProof="0" dirty="0">
                <a:solidFill>
                  <a:srgbClr val="F8FAFB"/>
                </a:solidFill>
                <a:latin typeface="Aptos"/>
              </a:rPr>
              <a:t>De la analítica retrospectiva a una capacidad de anticipación.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AEC7D0"/>
                </a:solidFill>
                <a:latin typeface="Aptos"/>
              </a:rPr>
              <a:t>29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B49C6E9-5247-FB87-2CC0-7EE8EB84979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68965"/>
            <a:ext cx="3929281" cy="4770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chemeClr val="bg2"/>
                </a:solidFill>
                <a:latin typeface="Aptos"/>
              </a:rPr>
              <a:t>Propuesta de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718222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La investigación surge naturalmente de la evolución del trabajo.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2331720" cy="25146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201012" y="1967331"/>
            <a:ext cx="124643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GESTIÓN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848" y="3681809"/>
            <a:ext cx="235673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medición + desempeño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1487" y="2752231"/>
            <a:ext cx="30809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828800"/>
            <a:ext cx="2331720" cy="25146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350095" y="1967331"/>
            <a:ext cx="52610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2281" y="3681809"/>
            <a:ext cx="1181734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predicción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1847" y="2752231"/>
            <a:ext cx="30809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828800"/>
            <a:ext cx="2331720" cy="25146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206410" y="1967331"/>
            <a:ext cx="57419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489D69"/>
                </a:solidFill>
                <a:latin typeface="Aptos"/>
              </a:rPr>
              <a:t>XAI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4169" y="3681809"/>
            <a:ext cx="125867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explicación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2207" y="2752231"/>
            <a:ext cx="30809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08007" y="1828800"/>
            <a:ext cx="2331720" cy="25146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9688423" y="1967331"/>
            <a:ext cx="137088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DECISIÓN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4798" y="3478718"/>
            <a:ext cx="1398139" cy="8309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escenarios </a:t>
            </a:r>
          </a:p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+ </a:t>
            </a:r>
          </a:p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optimización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0718" y="5112956"/>
            <a:ext cx="621035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b="1" noProof="0" dirty="0">
                <a:solidFill>
                  <a:schemeClr val="bg2"/>
                </a:solidFill>
                <a:latin typeface="Aptos"/>
              </a:rPr>
              <a:t>Continuidad: ingeniería energética + datos + IA + decisión.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0DC29BCE-60B9-B738-DE32-6AADA179253A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159CAB7B-37C0-A313-3B73-60BCF28BD2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5" name="Imagen 4" descr="Icono IA gestión tecnológica y medición de datos">
            <a:extLst>
              <a:ext uri="{FF2B5EF4-FFF2-40B4-BE49-F238E27FC236}">
                <a16:creationId xmlns:a16="http://schemas.microsoft.com/office/drawing/2014/main" id="{BAC053B6-4AD4-4C90-5446-D46C333FB2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322" t="20981" r="8379" b="30073"/>
          <a:stretch>
            <a:fillRect/>
          </a:stretch>
        </p:blipFill>
        <p:spPr>
          <a:xfrm>
            <a:off x="1040563" y="2471508"/>
            <a:ext cx="1513304" cy="900000"/>
          </a:xfrm>
          <a:prstGeom prst="rect">
            <a:avLst/>
          </a:prstGeom>
        </p:spPr>
      </p:pic>
      <p:pic>
        <p:nvPicPr>
          <p:cNvPr id="23" name="Imagen 22" descr="Imagen generada por IA">
            <a:extLst>
              <a:ext uri="{FF2B5EF4-FFF2-40B4-BE49-F238E27FC236}">
                <a16:creationId xmlns:a16="http://schemas.microsoft.com/office/drawing/2014/main" id="{A9473D7F-A975-2102-7B7B-C1A9BF1DB2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978" t="17909" r="19851" b="15135"/>
          <a:stretch>
            <a:fillRect/>
          </a:stretch>
        </p:blipFill>
        <p:spPr>
          <a:xfrm>
            <a:off x="3989712" y="2471508"/>
            <a:ext cx="1433504" cy="900000"/>
          </a:xfrm>
          <a:prstGeom prst="rect">
            <a:avLst/>
          </a:prstGeom>
        </p:spPr>
      </p:pic>
      <p:pic>
        <p:nvPicPr>
          <p:cNvPr id="25" name="Imagen 24" descr="Imagen generada por IA">
            <a:extLst>
              <a:ext uri="{FF2B5EF4-FFF2-40B4-BE49-F238E27FC236}">
                <a16:creationId xmlns:a16="http://schemas.microsoft.com/office/drawing/2014/main" id="{51B9FC0F-5C66-FA05-EA16-618792AF0E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610" t="17909" r="29193" b="16682"/>
          <a:stretch>
            <a:fillRect/>
          </a:stretch>
        </p:blipFill>
        <p:spPr>
          <a:xfrm>
            <a:off x="7049567" y="2505972"/>
            <a:ext cx="887882" cy="900000"/>
          </a:xfrm>
          <a:prstGeom prst="rect">
            <a:avLst/>
          </a:prstGeom>
        </p:spPr>
      </p:pic>
      <p:pic>
        <p:nvPicPr>
          <p:cNvPr id="27" name="Imagen 26" descr="Imagen generada por IA">
            <a:extLst>
              <a:ext uri="{FF2B5EF4-FFF2-40B4-BE49-F238E27FC236}">
                <a16:creationId xmlns:a16="http://schemas.microsoft.com/office/drawing/2014/main" id="{201578DA-E54C-7C84-D2CF-95E75048E6E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0141" t="14760" r="30165" b="12973"/>
          <a:stretch>
            <a:fillRect/>
          </a:stretch>
        </p:blipFill>
        <p:spPr>
          <a:xfrm>
            <a:off x="9920729" y="2529000"/>
            <a:ext cx="906275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000" b="1" noProof="0" dirty="0">
                <a:solidFill>
                  <a:srgbClr val="EF8919"/>
                </a:solidFill>
                <a:latin typeface="Aptos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68965"/>
            <a:ext cx="3487621" cy="4770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500" b="1" noProof="0" dirty="0">
                <a:solidFill>
                  <a:schemeClr val="bg2"/>
                </a:solidFill>
                <a:latin typeface="Aptos"/>
              </a:rPr>
              <a:t>La evolución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88081"/>
            <a:ext cx="801052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2000" b="0" noProof="0" dirty="0">
                <a:solidFill>
                  <a:srgbClr val="687E8A"/>
                </a:solidFill>
                <a:latin typeface="Aptos"/>
              </a:rPr>
              <a:t>No se trata de agregar IA. Se trata de aumentar la capacidad de decidir.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687E8A"/>
                </a:solidFill>
                <a:latin typeface="Aptos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1874519" cy="24688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023928" y="2195673"/>
            <a:ext cx="96051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MEDIR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8" y="3163711"/>
            <a:ext cx="124906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qué ocurrió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283" y="2752231"/>
            <a:ext cx="30809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783080"/>
            <a:ext cx="1874519" cy="24688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3099969" y="2195673"/>
            <a:ext cx="147187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ENTENDER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0112" y="3163711"/>
            <a:ext cx="89159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por qué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4003" y="2752231"/>
            <a:ext cx="30809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30368" y="1783080"/>
            <a:ext cx="1874519" cy="24688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394018" y="2195673"/>
            <a:ext cx="154721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F8FAFB"/>
                </a:solidFill>
                <a:latin typeface="Aptos"/>
              </a:rPr>
              <a:t>COMPARAR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4594" y="3163711"/>
            <a:ext cx="178606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contra referencia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5722" y="2752231"/>
            <a:ext cx="30809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1783080"/>
            <a:ext cx="1874519" cy="24688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7802682" y="2195673"/>
            <a:ext cx="139333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2DA9B8"/>
                </a:solidFill>
                <a:latin typeface="Aptos"/>
              </a:rPr>
              <a:t>PREDECIR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9670" y="3163711"/>
            <a:ext cx="161935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qué esperamos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7443" y="2752231"/>
            <a:ext cx="30809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93807" y="1783080"/>
            <a:ext cx="1874519" cy="24688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10238244" y="2195673"/>
            <a:ext cx="118564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2000" b="1" noProof="0" dirty="0">
                <a:solidFill>
                  <a:srgbClr val="EF8919"/>
                </a:solidFill>
                <a:latin typeface="Aptos"/>
              </a:rPr>
              <a:t>DECIDIR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0357" y="3163711"/>
            <a:ext cx="144142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rgbClr val="F8FAFB"/>
                </a:solidFill>
                <a:latin typeface="Aptos"/>
              </a:rPr>
              <a:t>qué hacemos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50918" y="4457530"/>
            <a:ext cx="803341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CL" sz="1600" b="1" noProof="0" dirty="0">
                <a:solidFill>
                  <a:schemeClr val="bg1"/>
                </a:solidFill>
                <a:latin typeface="Aptos"/>
              </a:rPr>
              <a:t>La tecnología cambia la pregunta: de “¿qué pasó?” a “¿qué podemos decidir antes?”.</a:t>
            </a: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622A518A-0F2D-64C8-6C1D-960DBCF3C397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6DC047B9-2C6E-D90B-2AF0-D96FFE1E946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429161" y="6106814"/>
            <a:ext cx="359460" cy="36000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232" y="594360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1100" b="1" noProof="0" dirty="0">
                <a:solidFill>
                  <a:srgbClr val="EF8919"/>
                </a:solidFill>
                <a:latin typeface="Apto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5250" y="1107565"/>
            <a:ext cx="295299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CL" sz="3300" b="1" noProof="0" dirty="0">
                <a:solidFill>
                  <a:srgbClr val="F8FAFB"/>
                </a:solidFill>
                <a:latin typeface="Aptos"/>
              </a:rPr>
              <a:t>De medir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250" y="1792357"/>
            <a:ext cx="52120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L" sz="3900" b="1" noProof="0" dirty="0">
                <a:solidFill>
                  <a:srgbClr val="2DA9B8"/>
                </a:solidFill>
                <a:latin typeface="Aptos"/>
              </a:rPr>
              <a:t>predecir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08431"/>
            <a:ext cx="6126480" cy="6924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CL" sz="3900" b="1" noProof="0" dirty="0">
                <a:solidFill>
                  <a:srgbClr val="FFC000"/>
                </a:solidFill>
                <a:latin typeface="Aptos"/>
              </a:rPr>
              <a:t>y de predecir a decidir.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984674"/>
            <a:ext cx="10222992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CL" sz="1800" b="1" noProof="0" dirty="0">
                <a:solidFill>
                  <a:srgbClr val="F8FAFB"/>
                </a:solidFill>
                <a:latin typeface="Aptos"/>
              </a:rPr>
              <a:t>La evolución de la gestión energética consiste en transformar datos operacionales en capacidad de predicción y decisión.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lang="es-CL" sz="800" b="1" noProof="0" dirty="0">
                <a:solidFill>
                  <a:srgbClr val="AEC7D0"/>
                </a:solidFill>
                <a:latin typeface="Aptos"/>
              </a:rPr>
              <a:t>32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A1841622-A246-B46F-33C9-3B1842F82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81" y="4819232"/>
            <a:ext cx="1437838" cy="1440000"/>
          </a:xfrm>
          <a:prstGeom prst="rect">
            <a:avLst/>
          </a:prstGeom>
        </p:spPr>
      </p:pic>
      <p:sp>
        <p:nvSpPr>
          <p:cNvPr id="19" name="TextBox 21">
            <a:extLst>
              <a:ext uri="{FF2B5EF4-FFF2-40B4-BE49-F238E27FC236}">
                <a16:creationId xmlns:a16="http://schemas.microsoft.com/office/drawing/2014/main" id="{E8DCE2F9-FFBB-5562-892E-CD826F17B35B}"/>
              </a:ext>
            </a:extLst>
          </p:cNvPr>
          <p:cNvSpPr txBox="1"/>
          <p:nvPr/>
        </p:nvSpPr>
        <p:spPr>
          <a:xfrm>
            <a:off x="322580" y="6466814"/>
            <a:ext cx="260520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s-CL" sz="800" noProof="0" dirty="0">
                <a:solidFill>
                  <a:schemeClr val="bg1">
                    <a:lumMod val="65000"/>
                  </a:schemeClr>
                </a:solidFill>
              </a:rPr>
              <a:t>Ingeniería PGF · Paul Gálvez (Ingeniero Electrónico · USM) </a:t>
            </a:r>
            <a:endParaRPr lang="es-CL" sz="800" b="1" noProof="0" dirty="0">
              <a:solidFill>
                <a:schemeClr val="bg1">
                  <a:lumMod val="65000"/>
                </a:schemeClr>
              </a:solidFill>
              <a:latin typeface="Aptos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C29F6C8-E25C-62E0-C8D0-F6BCBE1238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02" t="4403" r="20706" b="3899"/>
          <a:stretch>
            <a:fillRect/>
          </a:stretch>
        </p:blipFill>
        <p:spPr>
          <a:xfrm>
            <a:off x="6935638" y="323439"/>
            <a:ext cx="3538780" cy="36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4552</Words>
  <Application>Microsoft Office PowerPoint</Application>
  <PresentationFormat>Panorámica</PresentationFormat>
  <Paragraphs>736</Paragraphs>
  <Slides>36</Slides>
  <Notes>36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Galvez</cp:lastModifiedBy>
  <cp:revision>122</cp:revision>
  <dcterms:created xsi:type="dcterms:W3CDTF">2013-01-27T09:14:16Z</dcterms:created>
  <dcterms:modified xsi:type="dcterms:W3CDTF">2026-09-01T20:33:13Z</dcterms:modified>
  <cp:category/>
</cp:coreProperties>
</file>