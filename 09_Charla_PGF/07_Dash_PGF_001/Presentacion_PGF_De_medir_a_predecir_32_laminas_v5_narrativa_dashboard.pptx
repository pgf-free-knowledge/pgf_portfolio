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8" r:id="rId17"/>
    <p:sldId id="271" r:id="rId18"/>
    <p:sldId id="272" r:id="rId19"/>
    <p:sldId id="273" r:id="rId20"/>
    <p:sldId id="289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154" autoAdjust="0"/>
  </p:normalViewPr>
  <p:slideViewPr>
    <p:cSldViewPr snapToGrid="0" snapToObjects="1">
      <p:cViewPr varScale="1">
        <p:scale>
          <a:sx n="79" d="100"/>
          <a:sy n="79" d="100"/>
        </p:scale>
        <p:origin x="10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496.5080443633704</c:v>
                </c:pt>
                <c:pt idx="1">
                  <c:v>552.47197493313911</c:v>
                </c:pt>
                <c:pt idx="2">
                  <c:v>568.58955674673268</c:v>
                </c:pt>
                <c:pt idx="3">
                  <c:v>547.99406508241987</c:v>
                </c:pt>
                <c:pt idx="4">
                  <c:v>613.84417170598647</c:v>
                </c:pt>
                <c:pt idx="5">
                  <c:v>357.65466284813164</c:v>
                </c:pt>
                <c:pt idx="6">
                  <c:v>412.79550169143698</c:v>
                </c:pt>
                <c:pt idx="7">
                  <c:v>375.63541951982393</c:v>
                </c:pt>
                <c:pt idx="8">
                  <c:v>434.23347285553831</c:v>
                </c:pt>
                <c:pt idx="9">
                  <c:v>427.91486646105238</c:v>
                </c:pt>
                <c:pt idx="10">
                  <c:v>408.30723504364079</c:v>
                </c:pt>
                <c:pt idx="11">
                  <c:v>583.0826185076188</c:v>
                </c:pt>
                <c:pt idx="12">
                  <c:v>443.57601161403511</c:v>
                </c:pt>
                <c:pt idx="13">
                  <c:v>428.2178116271993</c:v>
                </c:pt>
                <c:pt idx="14">
                  <c:v>503.66535406369246</c:v>
                </c:pt>
                <c:pt idx="15">
                  <c:v>401.00981891387954</c:v>
                </c:pt>
                <c:pt idx="16">
                  <c:v>598.37446035368487</c:v>
                </c:pt>
                <c:pt idx="17">
                  <c:v>450.71369601524327</c:v>
                </c:pt>
                <c:pt idx="18">
                  <c:v>549.28369618645672</c:v>
                </c:pt>
                <c:pt idx="19">
                  <c:v>545.53918108899609</c:v>
                </c:pt>
                <c:pt idx="20">
                  <c:v>396.94843991341548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57-43E0-B1F5-8F2F57F45E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Predicho</c:v>
                </c:pt>
              </c:strCache>
            </c:strRef>
          </c:tx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536.51985323405188</c:v>
                </c:pt>
                <c:pt idx="1">
                  <c:v>547.54357131839697</c:v>
                </c:pt>
                <c:pt idx="2">
                  <c:v>565.2144762897077</c:v>
                </c:pt>
                <c:pt idx="3">
                  <c:v>531.24451957316251</c:v>
                </c:pt>
                <c:pt idx="4">
                  <c:v>560.39960166434491</c:v>
                </c:pt>
                <c:pt idx="5">
                  <c:v>381.4891267600201</c:v>
                </c:pt>
                <c:pt idx="6">
                  <c:v>429.13317163745398</c:v>
                </c:pt>
                <c:pt idx="7">
                  <c:v>404.33809237555084</c:v>
                </c:pt>
                <c:pt idx="8">
                  <c:v>440.81182193074221</c:v>
                </c:pt>
                <c:pt idx="9">
                  <c:v>439.14894258005478</c:v>
                </c:pt>
                <c:pt idx="10">
                  <c:v>436.70802448225299</c:v>
                </c:pt>
                <c:pt idx="11">
                  <c:v>549.34998903814198</c:v>
                </c:pt>
                <c:pt idx="12">
                  <c:v>435.35746217545056</c:v>
                </c:pt>
                <c:pt idx="13">
                  <c:v>448.71351921758668</c:v>
                </c:pt>
                <c:pt idx="14">
                  <c:v>511.11135042366897</c:v>
                </c:pt>
                <c:pt idx="15">
                  <c:v>418.33383343165661</c:v>
                </c:pt>
                <c:pt idx="16">
                  <c:v>563.81876922074514</c:v>
                </c:pt>
                <c:pt idx="17">
                  <c:v>438.95896113813353</c:v>
                </c:pt>
                <c:pt idx="18">
                  <c:v>559.05676009934894</c:v>
                </c:pt>
                <c:pt idx="19">
                  <c:v>551.74643842910302</c:v>
                </c:pt>
                <c:pt idx="20">
                  <c:v>421.37784793747727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57-43E0-B1F5-8F2F57F45E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s-ES"/>
                  <a:t>Hora del conjunto de prueba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s-CL"/>
                  <a:t>Consumo [kW]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|SHAP|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it load roll3</c:v>
                </c:pt>
                <c:pt idx="1">
                  <c:v>it load lag1</c:v>
                </c:pt>
                <c:pt idx="2">
                  <c:v>temperature C</c:v>
                </c:pt>
                <c:pt idx="3">
                  <c:v>hour sin</c:v>
                </c:pt>
                <c:pt idx="4">
                  <c:v>hvac</c:v>
                </c:pt>
                <c:pt idx="5">
                  <c:v>it load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0.96144019746301812</c:v>
                </c:pt>
                <c:pt idx="1">
                  <c:v>1.0815845303255991</c:v>
                </c:pt>
                <c:pt idx="2">
                  <c:v>1.1397494550087302</c:v>
                </c:pt>
                <c:pt idx="3">
                  <c:v>1.9784802457458492</c:v>
                </c:pt>
                <c:pt idx="4">
                  <c:v>9.4134601166159229</c:v>
                </c:pt>
                <c:pt idx="5">
                  <c:v>53.05161636636366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5-447F-A3E7-F0706A24E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s-CL"/>
                  <a:t>Impacto medio absoluto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medio simulado [kW]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ISO reactivo</c:v>
                </c:pt>
                <c:pt idx="2">
                  <c:v>IA predictiva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476.43584554226152</c:v>
                </c:pt>
                <c:pt idx="1">
                  <c:v>472.62435877792342</c:v>
                </c:pt>
                <c:pt idx="2">
                  <c:v>468.81287201358532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1A-4D2F-974B-71C882702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s-CL"/>
                  <a:t>kW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42363-EB33-411F-938A-FB8AB7FD5C91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E6F47-1321-4ACF-9290-C07A1F2DD6F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42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“Buenas tardes.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 comenzar con una pregunta bastante simple: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hacemos realmente con toda la información energética que estamos midiendo?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Porque hoy tenemos más capacidad que nunca para medir consumo, variables de operación y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disponer de datos no significa necesariamente que estemos gestionando mejor la energía.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Entonces, la pregunta que quiero plantear en esta charla es: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¿cómo podemos evolucionar desde simplemente medir lo que ocurrió, hacia anticipar lo que puede ocurrir y utilizar esa información para tomar mejores decisiones?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en ese recorrido es donde aparece Machine Learning.”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989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“Medir es necesario, pero medir por sí solo no cambia una decisión.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Podemos saber cuánto consumimos, pero necesitamos entender qué ocurrió, bajo qué condiciones ocurrió y si ese comportamiento era el esperado.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gestión comienza cuando el dato se transforma en información útil para decidir.”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“Por eso, durante esta presentación no quiero hablar de inteligencia artificial como una tecnología aislada.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 mostrarla como una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evolución de una capacidad de gestión que ya existe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 que queda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Necesidad de gestión → datos → anticipación → ML.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9518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ese va a ser el recorrido de esta conversación.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 medir.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entender.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Comparar contra una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 avanzar hacia la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utilizar esa información para decidir.”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 ancla: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tecnología aparece cuando la capacidad de gestión necesita dar el siguiente paso.”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717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“Hay una condición fundamental: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energía no existe aislada del proceso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consumo está asociado a una condición operacional: producción, cargas, equipos, temperatura, horarios y otras variables.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eso, si queremos gestionar desempeño energético, no basta con mirar solamente el medidor.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Tenemos que relacionar la energía con el contexto en el cual fue utilizada.”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eso nos lleva a transformar una medición en una lectura de desempeño.”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3550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necesitamos interpretar la energía en su contexto, el primer paso es transformar el dato medido en una lectura de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Medimos.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Identificamos los usos significativos de energía.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Construimos una referencia mediante la línea base.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podemos evaluar dónde tiene sentido intervenir.”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línea base no es solamente un gráfico; es una referencia para juzgar el desempeño.”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 aparece una pregunta más útil que simplemente saber cuánto consumimos: ¿cuánto estamos consumiendo y cuánto deberíamos consumir?”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1481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aparece la comparación.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consumo observado nos dice qué ocurrió.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referencia nos permite establecer qué esperaríamos bajo determinadas condiciones.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la diferencia entre ambos nos permite identificar una desviación.”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 ancla: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“Sin referencia, el consumo es solo un número. Con referencia, se transforma en desempeño.”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1179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“Esta lógica la llevamos a un caso real: la planta Oil Malal.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trabajamos con datos de consumo y condiciones de operación para evaluar el desempeño.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Medimos, contextualizamos, construimos indicadores y utilizamos esa información para identificar oportunidades de mejora.”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cuando hacemos esa lectura sobre el caso real, aparece algo especialmente interesante: podemos empezar a identificar dónde está la oportunidad.”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8802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revisión energética permitió estimar un ahorro potencial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575,88 kilowatt-hora al mes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equivalente al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6,08 % del consumo mensual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más importante que el número global es dónde se concentra la oportunidad.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41 % corresponde a iluminación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un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26 % a aire acondicionado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“Esto nos permite pasar de un diagnóstico general a una priorización de oportunidades.”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2772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“Para poder hablar de desempeño necesitamos una referencia suficientemente robusta.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podemos comparar consumos brutos sin considerar las condiciones bajo las cuales opera el proceso.”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este caso, la LBEn presenta un R²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0,84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mientras que la referencia objetivo alcanza un R²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0,9508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 importante es que ahora tenemos una referencia contra la cual podemos juzgar el comportamiento.”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6526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sola lectura no necesariamente cuenta toda la historia.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IB100 nos permite observar la condición relativa respecto de la referencia.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CUSUM nos permite observar cómo esa desviación se acumula y evoluciona.”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lectura nos ayuda a entender dónde estamos y la otra cómo está evolucionando el comportamiento.”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3838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toda desviación merece la misma respuesta.”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“Una desviación puede ser importante, pero si no tenemos capacidad de intervenir, probablemente debemos monitorearla.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Cuando combinamos impacto y controlabilidad podemos identificar dónde realmente conviene actuar.”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“Pasamos de detectar desviaciones a priorizar oportunidades.”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0024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eficiencia energética no termina cuando identificamos una mejora técnica.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mejora tiene que producir un resultado energético que pueda ser evaluado y finalmente traducido en valor para la organización.”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“Porque la eficiencia adquiere sentido cuando sostiene una decisión.”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🔥 TRANSICIÓN 12 → 13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comienza el cambio fundamental.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“Hasta aquí hemos construido una capacidad para medir, entender, comparar y detectar oportunidades.”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todavía estamos mirando principalmente hacia atrás.”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“Sabemos qué ocurrió.”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 aparece una pregunta diferente.”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1717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“¿Podemos anticiparnos?”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pregunta pasa: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PASADO → FUTURO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“Hasta aquí hemos podido medir, entender y comparar.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Ahora cambia la pregunta: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comportamiento energético esperamos?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210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“Para responder esta pregunta, llevamos los datos operacionales a un modelo predictivo.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Partimos de los datos.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Construimos variables derivadas, incluyendo retardos y ventanas móviles.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Separamos los datos en entrenamiento y prueba, utilizando 70% para entrenamiento y 30% para prueba.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Entrenamos un Random Forest.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finalmente evaluamos el comportamiento mediante MAE, RMSE y R².”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3372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modelo sigue razonablemente la señal real, aunque todavía mantiene un error residual.”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estamos observando el comportamiento del modelo sobre el conjunto de prueba.”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“Ahora quiero llevar este resultado global a una predicción concreta.”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“Vamos a revisar una observación específica.”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Aplicación 1 — Predicción.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4635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podemos ver la comparación entre los valores reales y los valores predichos por el modelo.”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comportamiento general confirma lo que acabamos de observar en la lámina: el modelo sigue razonablemente la señal real.”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ahora vamos a bajar desde este comportamiento global a un caso concreto.”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 a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Detalle de prueba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Seleccionar: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Observación 21 — índice 20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Resultado de la observación 21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Real: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396,95 kW</a:t>
            </a:r>
            <a:b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Predicho: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421,38 kW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“Tomemos la observación 21.”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tenemos un valor real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396,95 kW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una predicción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421,38 kW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“Por lo tanto, ya no estamos hablando solamente del comportamiento global del modelo; estamos viendo una predicción concreta.”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Salida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“Tenemos entonces una predicción concreta.”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todavía nos falta responder una pregunta.”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“¿Por qué el modelo llegó a esos 421,38 kW?”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Acción final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Cerrar Aplicación 1 — Predicción.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2775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“Sobre las 21 observaciones de prueba obtenemos un MAE de 19,406 kW, un RMSE de 23,353 kW y un R² de 0,911.”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“Estos valores nos permiten cuantificar el desempeño del modelo, pero no significan que el modelo sea perfecto.”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“Existe error residual, y precisamente por eso necesitamos poder interpretar las predicciones.”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4689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“Tenemos una predicción.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 para que esa predicción sea útil para ingeniería, necesitamos entenderla.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pregunta deja de ser solamente cuánto va a ocurrir y pasa a ser: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qué el modelo está entregando ese resultado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ahí entra XAI.”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1465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“Ahora podemos abrir la caja negra.”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“SHAP nos permite observar qué variables tienen mayor peso en las predicciones del conjunto de prueba.”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“IT Load domina claramente la explicación.”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“HVAC aparece como segunda variable.”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las demás variables tienen una contribución bastante menor.”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Aquí hablamos de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global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confundirlo todavía con los valores locales de la Observación 21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4103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esto todavía es una lectura global.”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vamos a cambiar de ejemplo.”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“Vamos a mantener la Observación 21.”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Aplicación 2: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podemos ver cómo las diferentes variables desplazan la predicción desde el valor base hasta los </a:t>
            </a:r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421,38 kW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“IT Load es la principal contribución en esta observación.”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“HVAC aparece como la segunda contribución.”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“Las demás variables tienen una influencia menor en este caso.”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Salida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pasamos de saber cuánto predice el modelo a entender qué variables están influyendo en esa predicción.”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podemos dar un paso más.”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sabemos qué variables están influyendo, podemos preguntarnos qué pasaría si modificamos una de ellas.”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“Pasamos de explicar una situación a explorar una alternativa.”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5190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“Vamos a </a:t>
            </a:r>
            <a:r>
              <a:rPr lang="es-CL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mantenuevamente</a:t>
            </a:r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contexto de la Observación 21.”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“Como IT Load aparece como una variable de alta influencia, vamos a explorar qué estima el modelo si reducimos esta condición en un 10 %.”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Resultado: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modelo estima una reducción de 421,38 a 408,34 kW respecto de la referencia.”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“Esto corresponde a una variación estimada de aproximadamente un 3,1 %.”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Precisión obligatoria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 importante aclarar que estamos ante una simulación del modelo, no ante una medición de ahorro real.”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material deja expresamente establecido que Aplicación 3 explora una alternativa mediante el modelo y no demuestra ahorro físico. 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6571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volver del Aplicación 3: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ahora podemos volver a mirar esta cadena.”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 que acabamos de hacer no fueron  demostraciones independientes.”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 una misma cadena de trabajo.”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“Primero observamos los datos.”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PREDECIR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“Después utilizamos el modelo para anticipar el comportamiento.”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“Luego buscamos entender qué variables están influyendo en esa predicción.”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finalmente modificamos una condición para explorar cómo podría responder el sistema.”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“Cada etapa agrega una capacidad a la anterior.”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742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 que buscamos entonces no es solamente tener una predicción.”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“Queremos que esa predicción pueda ser interpretada desde la perspectiva de ingeniería.”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Señalar: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Load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nuestro caso, IT Load aparece como la variable dominante.”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HVAC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“HVAC aparece como la segunda variable.”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“Esto nos permite pasar desde el resultado del modelo hacia una lectura de qué variables están influyendo.”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Precisión: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“SHAP explica la contribución de las variables dentro del modelo; no demuestra causalidad física.”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66906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¿qué cambia realmente cuando podemos explicar una predicción?”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“Cambia la forma en que podemos utilizar esa información.”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“Primero tenemos una predicción.”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“Después podemos revisar qué variables están contribuyendo.”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CONFIANZA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“Eso nos permite evaluar el resultado con mayor contexto.”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recién entonces podemos utilizar esa información como apoyo para una decisión de ingeniería.”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 fuerte: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IA no toma la decisión por nosotros. La IA aporta evidencia para que el ingeniero pueda decidir mejor.”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2219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“Aquí está el siguiente paso.”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“Tenemos una condición base, tenemos una predicción y podemos modificar una condición para construir un escenario.”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modelo vuelve a estimar el comportamiento bajo esa condición modificada.”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 podemos comparar ambas situaciones antes de intervenir físicamente.”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Precisión: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simulación nos permite explorar el efecto estimado de una modificación.”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76794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aquí hay una distinción fundamental.”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“Ninguna de estas herramientas toma por sí sola la decisión.”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TÉCNICO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“Qué predice el modelo y con qué nivel de error.”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OPERACIONAL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“Si esa alternativa es operacionalmente factible.”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NEGOCIO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“Qué valor tiene para la organización.”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decisión se construye considerando las tres dimensiones.”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IA no toma la decisión por nosotros.”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“Nos entrega una capacidad adicional para anticipar, explicar y evaluar alternativas.”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0476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si llevamos todo lo que acabamos de demostrar a una arquitectura, aparece una cadena continua.”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“Partimos del dato: medir.”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DESEMPEÑO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“Ese dato se contextualiza para entender el desempeño.”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“Sobre esa información incorporamos inteligencia artificial para predecir y explicar.”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finalmente utilizamos esa capacidad para explorar alternativas y apoyar la acción.”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inteligencia artificial no aparece aislada.”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82494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una demostración como la que acabamos de ver no es todavía una solución industrial.”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valor aparece cuando este análisis entra realmente en el flujo de trabajo.”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“Capturar los datos del proceso.”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“Procesarlos y generar predicciones y explicaciones.”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“Visualizar la información.”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INGENIERÍA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finalmente llevarla al usuario que tiene que evaluarla y tomar una decisión.”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herramienta debe apoyar la decisión, no convertirse en el objetivo.”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29834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aquí llegamos a una idea central de esta propuesta.”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inteligencia artificial no reemplaza el conocimiento de ingeniería. Lo amplifica.”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IA puede identificar patrones, generar predicciones y ayudarnos a explicar los resultados.”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“Pero el ingeniero aporta el contexto del proceso, conoce las restricciones y finalmente debe evaluar qué decisión tiene sentido.”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IA aporta capacidad analítica; la ingeniería aporta contexto y criterio para decidir.”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809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si ya podemos predecir, explicar y explorar escenarios, aparece naturalmente el siguiente desafío.”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“¿Podemos utilizar esa capacidad para buscar mejores alternativas?”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“Primero anticipamos el comportamiento.”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“Después entendemos qué variables están influyendo.”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“Luego podemos modificar condiciones y comparar alternativas.”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el siguiente paso es utilizar esa capacidad para buscar una combinación de condiciones que resulte más conveniente.”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optimización es el siguiente nivel que proponemos.”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afirmar que ya existe un optimizador implementado.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0397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esta evolución nos lleva naturalmente a una pregunta de investigación.”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“¿Cómo transformar datos energéticos operacionales en capacidad predictiva y de decisión?”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Luego: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“Porque hasta ahora hemos utilizado los datos principalmente para analizar lo que ocurrió.”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“Con Machine Learning comenzamos a utilizarlos para anticipar.”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“Con XAI incorporamos la capacidad de explicar el resultado.”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con los escenarios comenzamos a evaluar alternativas.”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desafío entonces es pasar de una analítica retrospectiva a una capacidad de anticipación.”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56348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esta pregunta de investigación no aparece de manera aislada.”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“Surge naturalmente de la evolución del trabajo que acabamos de recorrer.”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“Partimos desde la gestión energética: medición y evaluación del desempeño.”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“Sobre esa base incorporamos Machine Learning para anticipar el comportamiento.”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XAI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“Luego incorporamos explicabilidad para entender qué está influyendo en las predicciones.”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finalmente exploramos escenarios para evaluar alternativas antes de intervenir.”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“Entonces, la propuesta doctoral no parte desde cero. Es una continuidad de esta línea de trabajo.”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desafío es profundizar la integración entre ingeniería energética, datos, inteligencia artificial y decisión.”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3691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si miramos todo el recorrido desde el principio, podemos resumirlo en una sola evolución.”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“Primero: medir qué ocurrió.”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ENTENDER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“Después: entender por qué ocurrió.”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“Compararlo contra una referencia.”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PREDECIR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“Avanzar hacia qué esperamos que ocurra.”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DECIDIR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finalmente: qué hacemos con esa información.”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Frase central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se trata de agregar inteligencia artificial por agregar tecnología.”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 trata de aumentar la capacidad de decidir.”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90504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Guion final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con esto podemos volver a la pregunta con la que comenzamos.”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“¿Qué hacemos realmente con toda la información energética que estamos midiendo?”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“Los datos nos permiten observar y entender lo que está ocurriendo.”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PREDICCIÓN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“La inteligencia artificial nos permite avanzar desde lo que ocurrió hacia lo que esperamos que ocurra.”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DECISIÓN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“Y cuando incorporamos explicación y exploración de escenarios, esa información puede convertirse en apoyo para decidir.”</a:t>
            </a: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Cierre definitivo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“Por eso, el objetivo no es simplemente agregar inteligencia artificial a la gestión energética.”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“El objetivo es transformar los datos operacionales en capacidad de predicción y decisión.”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Pausa.</a:t>
            </a: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 otras palabras: pasar de medir, a predecir; y de predecir, a decidir.”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FIN.</a:t>
            </a:r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E6F47-1321-4ACF-9290-C07A1F2DD6F1}" type="slidenum">
              <a:rPr lang="es-CL" smtClean="0"/>
              <a:t>34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53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48640"/>
            <a:ext cx="3657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EF8919"/>
                </a:solidFill>
                <a:latin typeface="Aptos"/>
              </a:rPr>
              <a:t>SEMINARIO · INGENIERÍA +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5212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 dirty="0">
                <a:solidFill>
                  <a:srgbClr val="F8FAFB"/>
                </a:solidFill>
                <a:latin typeface="Aptos"/>
              </a:rPr>
              <a:t>De </a:t>
            </a:r>
            <a:r>
              <a:rPr sz="3400" b="1" dirty="0" err="1">
                <a:solidFill>
                  <a:srgbClr val="F8FAFB"/>
                </a:solidFill>
                <a:latin typeface="Aptos"/>
              </a:rPr>
              <a:t>medir</a:t>
            </a:r>
            <a:r>
              <a:rPr sz="3400" b="1" dirty="0">
                <a:solidFill>
                  <a:srgbClr val="F8FAFB"/>
                </a:solidFill>
                <a:latin typeface="Aptos"/>
              </a:rPr>
              <a:t>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93392"/>
            <a:ext cx="52120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200" b="1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07792"/>
            <a:ext cx="6675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8FAFB"/>
                </a:solidFill>
                <a:latin typeface="Aptos"/>
              </a:rPr>
              <a:t>Evolución de la gestión del desempeño energético
con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069080"/>
            <a:ext cx="6309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CDDCE2"/>
                </a:solidFill>
                <a:latin typeface="Aptos"/>
              </a:rPr>
              <a:t>ISO 50001 · Analítica de datos · Inteligencia Artificial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143000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74152" y="1216152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5564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075688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74152" y="2148840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688336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008376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3081528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621024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941064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74152" y="4014216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55371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87A6B0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4873752"/>
            <a:ext cx="3063240" cy="621792"/>
          </a:xfrm>
          <a:prstGeom prst="roundRect">
            <a:avLst/>
          </a:prstGeom>
          <a:solidFill>
            <a:srgbClr val="0F2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4946904"/>
            <a:ext cx="272491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EC7D0"/>
                </a:solidFill>
                <a:latin typeface="Aptos"/>
              </a:rPr>
              <a:t>PAUL GÁLVEZ · USM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EC7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B"/>
                </a:solidFill>
                <a:latin typeface="Aptos"/>
              </a:rPr>
              <a:t>¿Estamos midiendo energía o realmente gestionándola?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9728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CDDCE2"/>
                </a:solidFill>
                <a:latin typeface="Aptos"/>
              </a:rPr>
              <a:t>La pregunta que abre la conversación.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194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B9D3DC"/>
                </a:solidFill>
                <a:latin typeface="Aptos"/>
              </a:rPr>
              <a:t>DEL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3852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AL DESEMPEÑO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938528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2560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DA9B8"/>
                </a:solidFill>
                <a:latin typeface="Aptos"/>
              </a:rPr>
              <a:t>A LA DECISIÓN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063240"/>
            <a:ext cx="10012680" cy="1600200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401568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10128"/>
            <a:ext cx="62636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AFB"/>
                </a:solidFill>
                <a:latin typeface="Aptos"/>
              </a:rPr>
              <a:t>no basta si el dato no cambia
la forma de decidir.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EC7D0"/>
                </a:solidFill>
                <a:latin typeface="Aptos"/>
              </a:rPr>
              <a:t>PAUL GÁLVEZ · USM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EC7D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Una misma pregunta evoluciona desde la medición hasta la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58775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58775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58775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0375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587752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2240280"/>
            <a:ext cx="1783080" cy="1143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48088" y="2523744"/>
            <a:ext cx="1600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51960"/>
            <a:ext cx="10058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71927"/>
                </a:solidFill>
                <a:latin typeface="Aptos"/>
              </a:rPr>
              <a:t>La tecnología aparece cuando la capacidad de gestión necesita dar el siguiente paso.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El desempeño energético se interpreta en contexto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965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ENERGÍA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7526C"/>
                </a:solidFill>
                <a:latin typeface="Aptos"/>
              </a:rPr>
              <a:t>consumo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69748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2267712"/>
            <a:ext cx="1965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OPERACIÓN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907792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2DA9B8"/>
                </a:solidFill>
                <a:latin typeface="Aptos"/>
              </a:rPr>
              <a:t>variables de proceso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1" y="269748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1965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DESEMPEÑO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07792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489D69"/>
                </a:solidFill>
                <a:latin typeface="Aptos"/>
              </a:rPr>
              <a:t>comparación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69748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874519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2267712"/>
            <a:ext cx="1965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907792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F8919"/>
                </a:solidFill>
                <a:latin typeface="Aptos"/>
              </a:rPr>
              <a:t>acción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metodología transforma datos en una lectura del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26080"/>
            <a:ext cx="202082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D2E0E5"/>
                </a:solidFill>
                <a:latin typeface="Aptos"/>
              </a:rPr>
              <a:t>dato observado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706624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926080"/>
            <a:ext cx="202082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D2E0E5"/>
                </a:solidFill>
                <a:latin typeface="Aptos"/>
              </a:rPr>
              <a:t>uso significativo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1" y="2706624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LBEn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926080"/>
            <a:ext cx="202082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D2E0E5"/>
                </a:solidFill>
                <a:latin typeface="Aptos"/>
              </a:rPr>
              <a:t>referencia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706624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828800"/>
            <a:ext cx="22402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62287" y="2194560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"/>
              </a:rPr>
              <a:t>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7" y="2926080"/>
            <a:ext cx="202082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D2E0E5"/>
                </a:solidFill>
                <a:latin typeface="Aptos"/>
              </a:rPr>
              <a:t>acción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058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línea base no es un gráfico: es una referencia para juzgar desempeño.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referencia convierte un registro en una pregunta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6426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CONSUMO OBSERVADO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26426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lo que ocurrió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87168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vs.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1" y="1993392"/>
            <a:ext cx="26426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239572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489D69"/>
                </a:solidFill>
                <a:latin typeface="Aptos"/>
              </a:rPr>
              <a:t>LBEn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063240"/>
            <a:ext cx="26426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lo esperable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87168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828800"/>
            <a:ext cx="29718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93392"/>
            <a:ext cx="26426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39572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EF8919"/>
                </a:solidFill>
                <a:latin typeface="Aptos"/>
              </a:rPr>
              <a:t>desviación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3063240"/>
            <a:ext cx="26426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lo que importa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34840"/>
            <a:ext cx="85496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071927"/>
                </a:solidFill>
                <a:latin typeface="Aptos"/>
              </a:rPr>
              <a:t>Sin referencia, el consumo es solo un número.
Con referencia, se transforma en desempeño.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evidencia industrial permite pasar de conceptos a desempeño observado.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3108960" cy="32461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"/>
              </a:rPr>
              <a:t>CASO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65176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8FAFB"/>
                </a:solidFill>
                <a:latin typeface="Aptos"/>
              </a:rPr>
              <a:t>medición
análisis
mejora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73936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64792"/>
            <a:ext cx="4709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7526C"/>
                </a:solidFill>
                <a:latin typeface="Aptos"/>
              </a:rPr>
              <a:t>consumo + operación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724912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852928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71927"/>
                </a:solidFill>
                <a:latin typeface="Aptos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43784"/>
            <a:ext cx="4709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DA9B8"/>
                </a:solidFill>
                <a:latin typeface="Aptos"/>
              </a:rPr>
              <a:t>indicadores + 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03904"/>
            <a:ext cx="6903720" cy="804672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71927"/>
                </a:solidFill>
                <a:latin typeface="Aptos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922776"/>
            <a:ext cx="4709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F8919"/>
                </a:solidFill>
                <a:latin typeface="Aptos"/>
              </a:rPr>
              <a:t>medidas +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¿Dónde está la oportunidad energética?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Resultados verificables del caso Oil Malal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15468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901952"/>
            <a:ext cx="282549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AHORRO POTENCIAL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04288"/>
            <a:ext cx="28254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EF8919"/>
                </a:solidFill>
                <a:latin typeface="Aptos"/>
              </a:rPr>
              <a:t>575,88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71800"/>
            <a:ext cx="28254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kWh/mes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15468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901952"/>
            <a:ext cx="282549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EQUIVALENTE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04288"/>
            <a:ext cx="28254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DA9B8"/>
                </a:solidFill>
                <a:latin typeface="Aptos"/>
              </a:rPr>
              <a:t>6,08 %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71800"/>
            <a:ext cx="28254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del consumo mensual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737360"/>
            <a:ext cx="3063240" cy="22402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993392"/>
            <a:ext cx="2633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71927"/>
                </a:solidFill>
                <a:latin typeface="Aptos"/>
              </a:rPr>
              <a:t>CONCENTRACIÓN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468880"/>
            <a:ext cx="1188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EF8919"/>
                </a:solidFill>
                <a:latin typeface="Aptos"/>
              </a:rPr>
              <a:t>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542032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71927"/>
                </a:solidFill>
                <a:latin typeface="Aptos"/>
              </a:rPr>
              <a:t>Iluminación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127248"/>
            <a:ext cx="1188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DA9B8"/>
                </a:solidFill>
                <a:latin typeface="Aptos"/>
              </a:rPr>
              <a:t>26 %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200400"/>
            <a:ext cx="1600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71927"/>
                </a:solidFill>
                <a:latin typeface="Aptos"/>
              </a:rPr>
              <a:t>Aire acondicionado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378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revisión energética deja de ser diagnóstico y se convierte en cartera de 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Resultados reales del estudio · sin página de tesis ni captura.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24612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901952"/>
            <a:ext cx="29169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LBEn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304288"/>
            <a:ext cx="291693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DA9B8"/>
                </a:solidFill>
                <a:latin typeface="Aptos"/>
              </a:rPr>
              <a:t>R² = 0,84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71800"/>
            <a:ext cx="291693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modelo de línea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901952"/>
            <a:ext cx="29169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LBEn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04288"/>
            <a:ext cx="291693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489D69"/>
                </a:solidFill>
                <a:latin typeface="Aptos"/>
              </a:rPr>
              <a:t>R² = 0,9508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971800"/>
            <a:ext cx="291693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referencia objetivo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154680" cy="233172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"/>
              </a:rPr>
              <a:t>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260604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comparar consumo
real vs. referencia
sin confundir
producción con consumo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referencia permite juzgar desempeño, no solamente observar consumo.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Dos lecturas complementarias del desempeño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IB100 muestra condición relativa; CUSUM muestra tendencia acumulada.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33756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856232"/>
            <a:ext cx="300837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IB100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58568"/>
            <a:ext cx="300837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EF8919"/>
                </a:solidFill>
                <a:latin typeface="Aptos"/>
              </a:rPr>
              <a:t>45,8 %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926080"/>
            <a:ext cx="300837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datos bajo la línea base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91640"/>
            <a:ext cx="3063240" cy="242316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71927"/>
                </a:solidFill>
                <a:latin typeface="Aptos"/>
              </a:rPr>
              <a:t>IB100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70048"/>
            <a:ext cx="749808" cy="411480"/>
          </a:xfrm>
          <a:prstGeom prst="roundRect">
            <a:avLst/>
          </a:prstGeom>
          <a:solidFill>
            <a:srgbClr val="EFDA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706624"/>
            <a:ext cx="74980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71927"/>
                </a:solidFill>
                <a:latin typeface="Aptos"/>
              </a:rPr>
              <a:t>&lt; 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670048"/>
            <a:ext cx="749808" cy="411480"/>
          </a:xfrm>
          <a:prstGeom prst="roundRect">
            <a:avLst/>
          </a:prstGeom>
          <a:solidFill>
            <a:srgbClr val="DC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2706624"/>
            <a:ext cx="74980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71927"/>
                </a:solidFill>
                <a:latin typeface="Aptos"/>
              </a:rPr>
              <a:t>=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59" y="2670048"/>
            <a:ext cx="749808" cy="411480"/>
          </a:xfrm>
          <a:prstGeom prst="roundRect">
            <a:avLst/>
          </a:prstGeom>
          <a:solidFill>
            <a:srgbClr val="D7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706624"/>
            <a:ext cx="74980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71927"/>
                </a:solidFill>
                <a:latin typeface="Aptos"/>
              </a:rPr>
              <a:t>&gt;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37560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687E8A"/>
                </a:solidFill>
                <a:latin typeface="Aptos"/>
              </a:rPr>
              <a:t>condición relativa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91640"/>
            <a:ext cx="333756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1965960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CUSUM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42032"/>
            <a:ext cx="27889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tendencia acumulada
+ cambios de comportamiento
+ evidencia de ahorro o derroche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71927"/>
                </a:solidFill>
                <a:latin typeface="Aptos"/>
              </a:rPr>
              <a:t>Lectura conjunta → condición + evolución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De la desviación a 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Dónde concentrar el esfuerzo de mejora.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6583680" cy="38404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41732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71927"/>
                </a:solidFill>
                <a:latin typeface="Aptos"/>
              </a:rPr>
              <a:t>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5468112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71927"/>
                </a:solidFill>
                <a:latin typeface="Aptos"/>
              </a:rPr>
              <a:t>CONTROLABILIDAD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057400"/>
            <a:ext cx="182880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68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228600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687E8A"/>
                </a:solidFill>
                <a:latin typeface="Aptos"/>
              </a:rPr>
              <a:t>MONITOREAR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057400"/>
            <a:ext cx="224028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EF8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59" y="2286000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"/>
              </a:rPr>
              <a:t>PRIORIZAR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657600"/>
            <a:ext cx="182880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48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3886200"/>
            <a:ext cx="1645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89D69"/>
                </a:solidFill>
                <a:latin typeface="Aptos"/>
              </a:rPr>
              <a:t>MANTENER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657600"/>
            <a:ext cx="2240280" cy="1005840"/>
          </a:xfrm>
          <a:prstGeom prst="roundRect">
            <a:avLst/>
          </a:prstGeom>
          <a:solidFill>
            <a:srgbClr val="F8FAFB"/>
          </a:solidFill>
          <a:ln>
            <a:solidFill>
              <a:srgbClr val="2D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3886200"/>
            <a:ext cx="2057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A9B8"/>
                </a:solidFill>
                <a:latin typeface="Aptos"/>
              </a:rPr>
              <a:t>ACTUAR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154680" cy="3383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240280"/>
            <a:ext cx="2606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F8919"/>
                </a:solidFill>
                <a:latin typeface="Aptos"/>
              </a:rPr>
              <a:t>PRIORIZAR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71800"/>
            <a:ext cx="26060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La mejora empieza donde
la evidencia concentra
impacto y capacidad
de intervención.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Medidas de mejora + evaluación económica.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DA9B8"/>
                </a:solidFill>
                <a:latin typeface="Aptos"/>
              </a:rPr>
              <a:t>MEJORA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2468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"/>
              </a:rPr>
              <a:t>acción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67004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3042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89D69"/>
                </a:solidFill>
                <a:latin typeface="Aptos"/>
              </a:rPr>
              <a:t>AHORRO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17520"/>
            <a:ext cx="2468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"/>
              </a:rPr>
              <a:t>resultado energético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67004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2743200" cy="20116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3042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"/>
              </a:rPr>
              <a:t>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17520"/>
            <a:ext cx="24688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00600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71927"/>
                </a:solidFill>
                <a:latin typeface="Aptos"/>
              </a:rPr>
              <a:t>La eficiencia adquiere sentido cuando sostiene una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B"/>
                </a:solidFill>
                <a:latin typeface="Aptos"/>
              </a:rPr>
              <a:t>¿Podemos anticiparnos?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9728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CDDCE2"/>
                </a:solidFill>
                <a:latin typeface="Aptos"/>
              </a:rPr>
              <a:t>Hasta aquí podemos medir, entender y comparar. Ahora cambia la pregunta.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8FAFB"/>
                </a:solidFill>
                <a:latin typeface="Aptos"/>
              </a:rPr>
              <a:t>PASADO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8600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3317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2DA9B8"/>
                </a:solidFill>
                <a:latin typeface="Aptos"/>
              </a:rPr>
              <a:t>FUTURO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3977639" cy="1965960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50608" y="2286000"/>
            <a:ext cx="3474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F8FAFB"/>
                </a:solidFill>
                <a:latin typeface="Aptos"/>
              </a:rPr>
              <a:t>¿Qué comportamiento
energético esperamos?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EC7D0"/>
                </a:solidFill>
                <a:latin typeface="Aptos"/>
              </a:rPr>
              <a:t>PAUL GÁLVEZ · USM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EC7D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Del dato al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Flujo efectivamente implementado en el notebook Procesoinicialpgfenergia2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7526C"/>
                </a:solidFill>
                <a:latin typeface="Aptos"/>
              </a:rPr>
              <a:t>72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71927"/>
                </a:solidFill>
                <a:latin typeface="Apto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A9B8"/>
                </a:solidFill>
                <a:latin typeface="Aptos"/>
              </a:rPr>
              <a:t>lags + 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1496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21224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71927"/>
                </a:solidFill>
                <a:latin typeface="Aptos"/>
              </a:rPr>
              <a:t>TRAIN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70 /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71927"/>
                </a:solidFill>
                <a:latin typeface="Aptos"/>
              </a:rPr>
              <a:t>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20072" y="1965960"/>
            <a:ext cx="1874519" cy="201168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655064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71927"/>
                </a:solidFill>
                <a:latin typeface="Aptos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017520"/>
            <a:ext cx="165506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89D69"/>
                </a:solidFill>
                <a:latin typeface="Aptos"/>
              </a:rPr>
              <a:t>MAE · RMSE · R²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17720"/>
            <a:ext cx="10744200" cy="6858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8847" y="4811527"/>
            <a:ext cx="479810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s-ES" sz="1100" b="1" dirty="0">
                <a:solidFill>
                  <a:srgbClr val="F8FAFB"/>
                </a:solidFill>
                <a:latin typeface="Aptos"/>
              </a:rPr>
              <a:t>APLICACIÓN </a:t>
            </a:r>
            <a:r>
              <a:rPr sz="1100" b="1" dirty="0">
                <a:solidFill>
                  <a:srgbClr val="F8FAFB"/>
                </a:solidFill>
                <a:latin typeface="Aptos"/>
              </a:rPr>
              <a:t>ML · Data Center </a:t>
            </a:r>
            <a:r>
              <a:rPr sz="1100" b="1" dirty="0" err="1">
                <a:solidFill>
                  <a:srgbClr val="F8FAFB"/>
                </a:solidFill>
                <a:latin typeface="Aptos"/>
              </a:rPr>
              <a:t>sintético</a:t>
            </a:r>
            <a:r>
              <a:rPr sz="1100" b="1" dirty="0">
                <a:solidFill>
                  <a:srgbClr val="F8FAFB"/>
                </a:solidFill>
                <a:latin typeface="Aptos"/>
              </a:rPr>
              <a:t> · 49 </a:t>
            </a:r>
            <a:r>
              <a:rPr sz="1100" b="1" dirty="0" err="1">
                <a:solidFill>
                  <a:srgbClr val="F8FAFB"/>
                </a:solidFill>
                <a:latin typeface="Aptos"/>
              </a:rPr>
              <a:t>entrenamiento</a:t>
            </a:r>
            <a:r>
              <a:rPr sz="1100" b="1" dirty="0">
                <a:solidFill>
                  <a:srgbClr val="F8FAFB"/>
                </a:solidFill>
                <a:latin typeface="Aptos"/>
              </a:rPr>
              <a:t> + 21 prueba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Predicción · Real vs. Predicho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Random Forest aplicado al conjunto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63040"/>
          <a:ext cx="7635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788920" cy="36118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60320"/>
            <a:ext cx="2240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EF8919"/>
                </a:solidFill>
                <a:latin typeface="Aptos Display"/>
              </a:rPr>
              <a:t>0.911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383280"/>
            <a:ext cx="22402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8FAFB"/>
                </a:solidFill>
                <a:latin typeface="Aptos Display"/>
              </a:rPr>
              <a:t>El modelo sigue la señal real,
pero mantiene error residual.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0A6F7B-37A8-0928-3B19-545C3C998C02}"/>
              </a:ext>
            </a:extLst>
          </p:cNvPr>
          <p:cNvSpPr txBox="1"/>
          <p:nvPr/>
        </p:nvSpPr>
        <p:spPr>
          <a:xfrm>
            <a:off x="3046615" y="329244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s-CL" sz="1800" b="1" kern="1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Segoe UI Emoji" panose="020B0502040204020203" pitchFamily="34" charset="0"/>
              </a:rPr>
              <a:t>🖥️</a:t>
            </a:r>
            <a:r>
              <a:rPr lang="es-CL" sz="1800" b="1" kern="1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APLICACIÓN 1 — PREDECIR</a:t>
            </a:r>
            <a:endParaRPr lang="es-CL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5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Validación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Métricas calculadas sobre las 21 observaciones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2CAAB8"/>
                </a:solidFill>
                <a:latin typeface="Aptos Display"/>
              </a:rPr>
              <a:t>19.406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23.353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kW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2971800" cy="26517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219456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6060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459D69"/>
                </a:solidFill>
                <a:latin typeface="Aptos Display"/>
              </a:rPr>
              <a:t>0.911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42900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Referencia del mismo notebook: Regresión Lineal → MAE 11,66 · RMSE 13,10 · R² 0,972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21808"/>
            <a:ext cx="10332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Random Forest no se presenta como “mejor” sin una comparación homogénea y criterio explícito.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Una predicción útil también debe poder interpretarse.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74320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2468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B"/>
                </a:solidFill>
                <a:latin typeface="Aptos"/>
              </a:rPr>
              <a:t>qué ocurrirá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788920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74320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63240"/>
            <a:ext cx="2468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B"/>
                </a:solidFill>
                <a:latin typeface="Aptos"/>
              </a:rPr>
              <a:t>por 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2788920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743200" cy="22402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2468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63240"/>
            <a:ext cx="2468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B"/>
                </a:solidFill>
                <a:latin typeface="Aptos"/>
              </a:rPr>
              <a:t>qué hacer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149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pregunta deja de ser solo “¿cuánto?” y pasa a ser “¿por qué?”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SHAP · importancia global calculada sobre el conjunto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0876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92440" y="1737360"/>
            <a:ext cx="3246120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2606040" cy="2057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IT load domina la explicación.
HVAC aparece como segunda variable.
Las demás aportan mucho menos.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4FA2F53-0549-40C1-078F-4FAA455B1C91}"/>
              </a:ext>
            </a:extLst>
          </p:cNvPr>
          <p:cNvSpPr txBox="1"/>
          <p:nvPr/>
        </p:nvSpPr>
        <p:spPr>
          <a:xfrm>
            <a:off x="3046615" y="329244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s-CL" sz="1800" b="1" kern="1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Segoe UI Emoji" panose="020B0502040204020203" pitchFamily="34" charset="0"/>
              </a:rPr>
              <a:t>🖥️</a:t>
            </a:r>
            <a:r>
              <a:rPr lang="es-CL" sz="1800" b="1" kern="1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APLICACIÓN 2 — EXPLICAR</a:t>
            </a:r>
            <a:endParaRPr lang="es-CL" sz="1400" b="1" kern="100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45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 · explorar antes de actuar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Simulación demostrativa del notebook · no es una medición de ahorro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699516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1874519"/>
          <a:ext cx="6446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737360"/>
            <a:ext cx="3246120" cy="37033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2057400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SIMULACIÓN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651760"/>
            <a:ext cx="26060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Base
→ respuesta reactiva
→ ajuste predictivo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6670" y="3756838"/>
            <a:ext cx="2279873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CDDCE2"/>
                </a:solidFill>
                <a:latin typeface="Aptos Display"/>
              </a:rPr>
              <a:t>El notebook genera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escenarios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sintéticos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;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deben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presentarse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como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demostración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metodológica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, no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como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ahorro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</a:t>
            </a:r>
            <a:r>
              <a:rPr sz="1100" b="0" dirty="0" err="1">
                <a:solidFill>
                  <a:srgbClr val="CDDCE2"/>
                </a:solidFill>
                <a:latin typeface="Aptos Display"/>
              </a:rPr>
              <a:t>validado</a:t>
            </a:r>
            <a:r>
              <a:rPr sz="1100" b="0" dirty="0">
                <a:solidFill>
                  <a:srgbClr val="CDDCE2"/>
                </a:solidFill>
                <a:latin typeface="Aptos Display"/>
              </a:rPr>
              <a:t> de Oil Malal.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Comparar alternativas con una misma lógica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267712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7180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633472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2267712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PREDECIR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97180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2DA9B8"/>
                </a:solidFill>
                <a:latin typeface="Aptos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2633472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2267712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EXPLICAR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97180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"/>
              </a:rPr>
              <a:t>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633472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874519"/>
            <a:ext cx="2240280" cy="205740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267712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71927"/>
                </a:solidFill>
                <a:latin typeface="Aptos"/>
              </a:rPr>
              <a:t>EXPLORAR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489D69"/>
                </a:solidFill>
                <a:latin typeface="Aptos"/>
              </a:rPr>
              <a:t>escenario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784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El escenario no reemplaza la ingeniería: permite explorar antes de intervenir.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Qué variables empujan la predicción y en qué dirección.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6583680" cy="3977639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71927"/>
                </a:solidFill>
                <a:latin typeface="Aptos"/>
              </a:rPr>
              <a:t>IT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11679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2011679"/>
            <a:ext cx="2880360" cy="25603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96596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"/>
              </a:rPr>
              <a:t>dominante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71927"/>
                </a:solidFill>
                <a:latin typeface="Aptos"/>
              </a:rPr>
              <a:t>HVAC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090672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3090672"/>
            <a:ext cx="914400" cy="256032"/>
          </a:xfrm>
          <a:prstGeom prst="rect">
            <a:avLst/>
          </a:prstGeom>
          <a:solidFill>
            <a:srgbClr val="2D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044952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DA9B8"/>
                </a:solidFill>
                <a:latin typeface="Aptos"/>
              </a:rPr>
              <a:t>secundaria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23944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71927"/>
                </a:solidFill>
                <a:latin typeface="Aptos"/>
              </a:rPr>
              <a:t>Hora / temperatura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169663"/>
            <a:ext cx="3429000" cy="256032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4169663"/>
            <a:ext cx="411480" cy="256032"/>
          </a:xfrm>
          <a:prstGeom prst="rect">
            <a:avLst/>
          </a:prstGeom>
          <a:solidFill>
            <a:srgbClr val="48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4123944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489D69"/>
                </a:solidFill>
                <a:latin typeface="Aptos"/>
              </a:rPr>
              <a:t>menor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737360"/>
            <a:ext cx="3154680" cy="3611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148840"/>
            <a:ext cx="26060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834640"/>
            <a:ext cx="260604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No basta saber
qué predijo el modelo.
Necesitamos saber
qué variables
contribuyeron.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Una decisión cambia cuando podemos 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1019556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2402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21284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1284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89D69"/>
                </a:solidFill>
                <a:latin typeface="Aptos"/>
              </a:rPr>
              <a:t>CONFIANZA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21284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24028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9829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71927"/>
                </a:solidFill>
                <a:latin typeface="Aptos"/>
              </a:rPr>
              <a:t>La explicabilidad conecta el modelo con la ingeniería.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IA deja de responder solo “qué pasará”.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297180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947672"/>
            <a:ext cx="26426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17520"/>
            <a:ext cx="26426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condición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8716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783080"/>
            <a:ext cx="297180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73752" y="1947672"/>
            <a:ext cx="264261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ESCENARIO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350008"/>
            <a:ext cx="264261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489D69"/>
                </a:solidFill>
                <a:latin typeface="Aptos"/>
              </a:rPr>
              <a:t>predicción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017520"/>
            <a:ext cx="264261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condición modificada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8716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697480" cy="214884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1947672"/>
            <a:ext cx="236829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CDDCE2"/>
                </a:solidFill>
                <a:latin typeface="Aptos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350008"/>
            <a:ext cx="23682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EF8919"/>
                </a:solidFill>
                <a:latin typeface="Aptos"/>
              </a:rPr>
              <a:t>comparar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017520"/>
            <a:ext cx="2368296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CDDCE2"/>
                </a:solidFill>
                <a:latin typeface="Aptos"/>
              </a:rPr>
              <a:t>antes de actuar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El valor está en poder comparar alternativas con el mismo modelo.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Resultado técnico + impacto operacional + criterio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22402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301752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predicción +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89D69"/>
                </a:solidFill>
                <a:latin typeface="Aptos"/>
              </a:rPr>
              <a:t>OPERACIONAL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1752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factibilidad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4320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828800"/>
            <a:ext cx="2926080" cy="22860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"/>
              </a:rPr>
              <a:t>NEGOCIO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2651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"/>
              </a:rPr>
              <a:t>valor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Una cadena continua: dato → desempeño → IA →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267712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A9B8"/>
                </a:solidFill>
                <a:latin typeface="Aptos"/>
              </a:rPr>
              <a:t>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17520"/>
            <a:ext cx="21122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761488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267712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DESEMPEÑO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017520"/>
            <a:ext cx="21122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7" y="2761488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2267712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"/>
              </a:rPr>
              <a:t>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017520"/>
            <a:ext cx="21122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predecir + 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761488"/>
            <a:ext cx="475488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74519"/>
            <a:ext cx="2331720" cy="24231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5167" y="2267712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3017520"/>
            <a:ext cx="2112264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"/>
              </a:rPr>
              <a:t>explorar + 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9875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El dashboard materializa esta cadena durante la demostración.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El valor aparece cuando el análisis entra en el flujo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71927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DA9B8"/>
                </a:solidFill>
                <a:latin typeface="Aptos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63347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2212848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71927"/>
                </a:solidFill>
                <a:latin typeface="Aptos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92608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EF8919"/>
                </a:solidFill>
                <a:latin typeface="Aptos"/>
              </a:rPr>
              <a:t>procesar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1576" y="263347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2212848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71927"/>
                </a:solidFill>
                <a:latin typeface="Aptos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92608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89D69"/>
                </a:solidFill>
                <a:latin typeface="Aptos"/>
              </a:rPr>
              <a:t>visualizar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633472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3" y="1828800"/>
            <a:ext cx="2240280" cy="2148840"/>
          </a:xfrm>
          <a:prstGeom prst="roundRect">
            <a:avLst/>
          </a:prstGeom>
          <a:solidFill>
            <a:srgbClr val="ED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1" y="2212848"/>
            <a:ext cx="202082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71927"/>
                </a:solidFill>
                <a:latin typeface="Aptos"/>
              </a:rPr>
              <a:t>INGENIERÍA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1" y="2926080"/>
            <a:ext cx="2020824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"/>
              </a:rPr>
              <a:t>decidir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78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herramienta debe apoyar la decisión, no convertirse en el objetivo.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IA amplifica el conocimiento del proceso; no sustituye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657600" cy="28803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2DA9B8"/>
                </a:solidFill>
                <a:latin typeface="Aptos"/>
              </a:rPr>
              <a:t>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31089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"/>
              </a:rPr>
              <a:t>patrones
predicción
explicación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3657600" cy="288036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INGENIERÍA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17520"/>
            <a:ext cx="31089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"/>
              </a:rPr>
              <a:t>contexto
restricciones
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4320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EF8919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914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489D69"/>
                </a:solidFill>
                <a:latin typeface="Aptos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15968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71927"/>
                </a:solidFill>
                <a:latin typeface="Aptos"/>
              </a:rPr>
              <a:t>capacidad aumentada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Después de predecir y explicar, podemos evaluar alternativas.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67919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233172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7919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3" y="233172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489D69"/>
                </a:solidFill>
                <a:latin typeface="Aptos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7919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920240"/>
            <a:ext cx="2148840" cy="20574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17736" y="2331720"/>
            <a:ext cx="1965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8FAFB"/>
                </a:solidFill>
                <a:latin typeface="Aptos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0149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evolución propuesta es aumentar la capacidad de anticipar y decidir.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93192"/>
            <a:ext cx="103327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B"/>
                </a:solidFill>
                <a:latin typeface="Aptos"/>
              </a:rPr>
              <a:t>La pregunta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9728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CDDCE2"/>
                </a:solidFill>
                <a:latin typeface="Aptos"/>
              </a:rPr>
              <a:t>¿Cómo transformar datos energéticos operacionales en capacidad predictiva y de decisión?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011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DA9B8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574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8FAFB"/>
                </a:solidFill>
                <a:latin typeface="Aptos"/>
              </a:rPr>
              <a:t>PREDICCIÓN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EXPLICACIÓN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01168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057400"/>
            <a:ext cx="1554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489D69"/>
                </a:solidFill>
                <a:latin typeface="Aptos"/>
              </a:rPr>
              <a:t>DECISIÓN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03320"/>
            <a:ext cx="9829800" cy="960120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959352"/>
            <a:ext cx="9281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"/>
              </a:rPr>
              <a:t>De la analítica retrospectiva a una capacidad de anticipación.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EC7D0"/>
                </a:solidFill>
                <a:latin typeface="Aptos"/>
              </a:rPr>
              <a:t>PAUL GÁLVEZ · USM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EC7D0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Propuesta doctoral · línea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La investigación surge naturalmente de la evolución del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33172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240280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DA9B8"/>
                </a:solidFill>
                <a:latin typeface="Aptos"/>
              </a:rPr>
              <a:t>GESTIÓN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999232"/>
            <a:ext cx="2112264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medición + desempeño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76148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28800"/>
            <a:ext cx="233172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7016" y="2240280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"/>
              </a:rP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999232"/>
            <a:ext cx="2112264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predicción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276148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28800"/>
            <a:ext cx="233172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240280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89D69"/>
                </a:solidFill>
                <a:latin typeface="Aptos"/>
              </a:rPr>
              <a:t>XAI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999232"/>
            <a:ext cx="2112264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explicación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276148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7" y="1828800"/>
            <a:ext cx="2331720" cy="251460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17735" y="2240280"/>
            <a:ext cx="2112264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5" y="2999232"/>
            <a:ext cx="2112264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escenarios + optimización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00600"/>
            <a:ext cx="10058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71927"/>
                </a:solidFill>
                <a:latin typeface="Aptos"/>
              </a:rPr>
              <a:t>Continuidad: ingeniería energética + datos + IA + decisión.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71927"/>
                </a:solidFill>
                <a:latin typeface="Aptos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87E8A"/>
                </a:solidFill>
                <a:latin typeface="Aptos"/>
              </a:rPr>
              <a:t>No se trata de agregar IA. Se trata de aumentar la capacidad de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87E8A"/>
                </a:solidFill>
                <a:latin typeface="Aptos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87E8A"/>
                </a:solidFill>
                <a:latin typeface="Aptos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874519" cy="2468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212848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MEDIR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35808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qué ocurrió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27614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783080"/>
            <a:ext cx="1874519" cy="2468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2212848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ENTENDER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035808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por qué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7614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783080"/>
            <a:ext cx="1874519" cy="2468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21807" y="2212848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COMPARAR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3035808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contra referencia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7614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1783080"/>
            <a:ext cx="1874519" cy="2468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53527" y="2212848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3035808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qué esperamos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761488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93807" y="1783080"/>
            <a:ext cx="1874519" cy="2468880"/>
          </a:xfrm>
          <a:prstGeom prst="round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85247" y="2212848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"/>
              </a:rPr>
              <a:t>DECIDIR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7" y="3035808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"/>
              </a:rPr>
              <a:t>qué hacemos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378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71927"/>
                </a:solidFill>
                <a:latin typeface="Aptos"/>
              </a:rPr>
              <a:t>La tecnología cambia la pregunta: de “¿qué pasó?” a “¿qué podemos decidir antes?”.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94360"/>
            <a:ext cx="1005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8919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5212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300" b="1">
                <a:solidFill>
                  <a:srgbClr val="F8FAFB"/>
                </a:solidFill>
                <a:latin typeface="Aptos"/>
              </a:rPr>
              <a:t>De medir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57400"/>
            <a:ext cx="52120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900" b="1">
                <a:solidFill>
                  <a:srgbClr val="2DA9B8"/>
                </a:solidFill>
                <a:latin typeface="Aptos"/>
              </a:rPr>
              <a:t>predecir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6583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8FAFB"/>
                </a:solidFill>
                <a:latin typeface="Aptos"/>
              </a:rPr>
              <a:t>y de predecir a decidir.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417320"/>
            <a:ext cx="3886200" cy="2423160"/>
          </a:xfrm>
          <a:prstGeom prst="roundRect">
            <a:avLst/>
          </a:prstGeom>
          <a:solidFill>
            <a:srgbClr val="0D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1783080"/>
            <a:ext cx="3337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"/>
              </a:rPr>
              <a:t>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17627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783080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DA9B8"/>
                </a:solidFill>
                <a:latin typeface="Aptos"/>
              </a:rPr>
              <a:t>PREDICCIÓN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578608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EF891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487168"/>
            <a:ext cx="1417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F8919"/>
                </a:solidFill>
                <a:latin typeface="Aptos"/>
              </a:rPr>
              <a:t>DECISIÓN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25974"/>
            <a:ext cx="1022299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8FAFB"/>
                </a:solidFill>
                <a:latin typeface="Aptos"/>
              </a:rPr>
              <a:t>La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evolución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de la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gestión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energética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consiste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en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transformar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datos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operacionales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en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capacidad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de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predicción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 y </a:t>
            </a:r>
            <a:r>
              <a:rPr sz="1800" b="1" dirty="0" err="1">
                <a:solidFill>
                  <a:srgbClr val="F8FAFB"/>
                </a:solidFill>
                <a:latin typeface="Aptos"/>
              </a:rPr>
              <a:t>decisión</a:t>
            </a:r>
            <a:r>
              <a:rPr sz="1800" b="1" dirty="0">
                <a:solidFill>
                  <a:srgbClr val="F8FAFB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EC7D0"/>
                </a:solidFill>
                <a:latin typeface="Aptos"/>
              </a:rPr>
              <a:t>PAUL GÁLVEZ · USM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AEC7D0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4513</Words>
  <Application>Microsoft Office PowerPoint</Application>
  <PresentationFormat>Panorámica</PresentationFormat>
  <Paragraphs>864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Galvez</cp:lastModifiedBy>
  <cp:revision>20</cp:revision>
  <dcterms:created xsi:type="dcterms:W3CDTF">2013-01-27T09:14:16Z</dcterms:created>
  <dcterms:modified xsi:type="dcterms:W3CDTF">2026-08-31T11:29:45Z</dcterms:modified>
  <cp:category/>
</cp:coreProperties>
</file>