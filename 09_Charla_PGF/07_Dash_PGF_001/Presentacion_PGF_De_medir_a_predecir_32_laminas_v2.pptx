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4114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SEMINARIO · INGENIERÍA +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5943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F8FAFB"/>
                </a:solidFill>
                <a:latin typeface="Aptos Display"/>
              </a:rPr>
              <a:t>De medir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20240"/>
            <a:ext cx="621792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600" b="1">
                <a:solidFill>
                  <a:srgbClr val="EF8919"/>
                </a:solidFill>
                <a:latin typeface="Aptos Display"/>
              </a:rPr>
              <a:t>predecir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852928"/>
            <a:ext cx="5669280" cy="7498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D6E3E8"/>
                </a:solidFill>
                <a:latin typeface="Aptos Display"/>
              </a:rPr>
              <a:t>Evolución de la gestión del desempeño energético con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5504688"/>
            <a:ext cx="6400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D6E3E8"/>
                </a:solidFill>
                <a:latin typeface="Aptos Display"/>
              </a:rPr>
              <a:t>ISO 50001 · Analítica de datos · Inteligencia Artificial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870448"/>
            <a:ext cx="5943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08590"/>
                </a:solidFill>
                <a:latin typeface="Aptos Display"/>
              </a:rPr>
              <a:t>Paul Gálvez · Universidad Técnica Federico Santa María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8732520" y="1143000"/>
            <a:ext cx="1325880" cy="132588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618488"/>
            <a:ext cx="1051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ENERGÍA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0" y="4343400"/>
            <a:ext cx="658368" cy="658368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074920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DATOS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949440" y="1828800"/>
            <a:ext cx="2423160" cy="2834640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229600" y="4892040"/>
            <a:ext cx="658368" cy="658368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5623559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ML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8549640" y="1828800"/>
            <a:ext cx="822960" cy="3383279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738360" y="4251960"/>
            <a:ext cx="658368" cy="658368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4983480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XAI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72600" y="1828800"/>
            <a:ext cx="685800" cy="2743200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0378440" y="2606040"/>
            <a:ext cx="658368" cy="658368"/>
          </a:xfrm>
          <a:prstGeom prst="rect">
            <a:avLst/>
          </a:prstGeom>
          <a:solidFill>
            <a:srgbClr val="F8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3337560"/>
            <a:ext cx="1143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DECISIÓN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72600" y="1828800"/>
            <a:ext cx="1325880" cy="1097280"/>
          </a:xfrm>
          <a:prstGeom prst="line">
            <a:avLst/>
          </a:prstGeom>
          <a:ln w="16510">
            <a:solidFill>
              <a:srgbClr val="4165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¿Estamos midiendo energía o realmente gestionándola?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DEL DATO A LA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F8FAFB"/>
                </a:solidFill>
                <a:latin typeface="Aptos Display"/>
              </a:rPr>
              <a:t>MEDIR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176272"/>
            <a:ext cx="594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EF8919"/>
                </a:solidFill>
                <a:latin typeface="Aptos Display"/>
              </a:rPr>
              <a:t>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19456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100" b="1">
                <a:solidFill>
                  <a:srgbClr val="F8FAFB"/>
                </a:solidFill>
                <a:latin typeface="Aptos Display"/>
              </a:rPr>
              <a:t>GESTIONAR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703320"/>
            <a:ext cx="8778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D6E3E8"/>
                </a:solidFill>
                <a:latin typeface="Aptos Display"/>
              </a:rPr>
              <a:t>Gestionar implica comprender el desempeño y actuar sobre él.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El recorrido de la charla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Una misma pregunta evoluciona desde la medición hasta la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731520" cy="7315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MEDIR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12848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2807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ENTENDER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77056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7056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COMPARAR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41264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1264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1224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PREDECIR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5472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2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EXPLICAR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423160"/>
            <a:ext cx="731520" cy="7315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EXPLORAR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33888" y="2423160"/>
            <a:ext cx="731520" cy="7315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33888" y="2615184"/>
            <a:ext cx="7315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3848" y="3310128"/>
            <a:ext cx="14173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081927"/>
                </a:solidFill>
                <a:latin typeface="Aptos Display"/>
              </a:rPr>
              <a:t>DECIDIR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7712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0336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544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88752" y="2596896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708590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energía no existe aislada del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El desempeño energético se interpreta en contexto operacional.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86000"/>
            <a:ext cx="841248" cy="841248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ENERGÍA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2286000"/>
            <a:ext cx="841248" cy="841248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34056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OPERACIÓN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94376" y="2286000"/>
            <a:ext cx="841248" cy="841248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46904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PRODUCCIÓN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07223" y="2286000"/>
            <a:ext cx="841248" cy="841248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9751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COSTO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20072" y="2286000"/>
            <a:ext cx="841248" cy="841248"/>
          </a:xfrm>
          <a:prstGeom prst="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599" y="3364992"/>
            <a:ext cx="155448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CONTINUIDAD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1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79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7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94776" y="2542032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708590"/>
                </a:solidFill>
                <a:latin typeface="Aptos Display"/>
              </a:rPr>
              <a:t>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Medir no es todavía gestionar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metodología transforma datos en una lectura del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1572768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ISO 50001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423160"/>
            <a:ext cx="1572768" cy="960120"/>
          </a:xfrm>
          <a:prstGeom prst="round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631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Revisión energética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423160"/>
            <a:ext cx="1572768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23160"/>
            <a:ext cx="1572768" cy="960120"/>
          </a:xfrm>
          <a:prstGeom prst="round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Indicadores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423160"/>
            <a:ext cx="1572768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LBEn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2423160"/>
            <a:ext cx="1572768" cy="960120"/>
          </a:xfrm>
          <a:prstGeom prst="round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77272" y="2670048"/>
            <a:ext cx="1426464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Desempeño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3055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0791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724912"/>
            <a:ext cx="25603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¿Cuánto estamos consumiendo… y cuánto deberíamos consumir?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referencia convierte un registro en una pregunta de desempeño.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7269480" cy="448056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234440" y="5257800"/>
            <a:ext cx="6035040" cy="0"/>
          </a:xfrm>
          <a:prstGeom prst="line">
            <a:avLst/>
          </a:prstGeom>
          <a:ln w="15240">
            <a:solidFill>
              <a:srgbClr val="0819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234440" y="2011680"/>
            <a:ext cx="0" cy="3246120"/>
          </a:xfrm>
          <a:prstGeom prst="line">
            <a:avLst/>
          </a:prstGeom>
          <a:ln w="15240">
            <a:solidFill>
              <a:srgbClr val="0819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417320" y="4800600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4519" y="4480559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4160520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3840479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3959352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03320" y="3639311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3319272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999232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74920" y="3118104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32120" y="2798063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2478024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157984"/>
            <a:ext cx="91440" cy="9144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1325880" y="2148840"/>
            <a:ext cx="5715000" cy="2834640"/>
          </a:xfrm>
          <a:prstGeom prst="line">
            <a:avLst/>
          </a:prstGeom>
          <a:ln w="38100">
            <a:solidFill>
              <a:srgbClr val="EF8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325880" y="5422392"/>
            <a:ext cx="18288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0">
                <a:solidFill>
                  <a:srgbClr val="708590"/>
                </a:solidFill>
                <a:latin typeface="Aptos Display"/>
              </a:rPr>
              <a:t>consumo observado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1828800"/>
            <a:ext cx="21031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EF8919"/>
                </a:solidFill>
                <a:latin typeface="Aptos Display"/>
              </a:rPr>
              <a:t>referencia / línea base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828800"/>
            <a:ext cx="3063240" cy="333756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2121408"/>
            <a:ext cx="2377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IDEA CLAVE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606040"/>
            <a:ext cx="2331720" cy="21488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F8FAFB"/>
                </a:solidFill>
                <a:latin typeface="Aptos Display"/>
              </a:rPr>
              <a:t>Sin referencia,
el consumo es solo
un número.
Con referencia,
se transforma en
desempeño.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Caso real · Planta Oil Malal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La evidencia industrial permite pasar de conceptos a desempeño observado.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3657600" cy="4251960"/>
          </a:xfrm>
          <a:prstGeom prst="roundRect">
            <a:avLst/>
          </a:prstGeom>
          <a:solidFill>
            <a:srgbClr val="0F2B3C"/>
          </a:solidFill>
          <a:ln>
            <a:solidFill>
              <a:srgbClr val="3053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30175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400" b="1">
                <a:solidFill>
                  <a:srgbClr val="F8FAFB"/>
                </a:solidFill>
                <a:latin typeface="Aptos Display"/>
              </a:rPr>
              <a:t>OIL MALAL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21945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EF8919"/>
                </a:solidFill>
                <a:latin typeface="Aptos Display"/>
              </a:rPr>
              <a:t>CASO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292608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D6E3E8"/>
                </a:solidFill>
                <a:latin typeface="Aptos Display"/>
              </a:rPr>
              <a:t>Gestión energética
medición · análisis · mejora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600200"/>
            <a:ext cx="457200" cy="45720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581912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8FAFB"/>
                </a:solidFill>
                <a:latin typeface="Aptos Display"/>
              </a:rPr>
              <a:t>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947672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6E3E8"/>
                </a:solidFill>
                <a:latin typeface="Aptos Display"/>
              </a:rPr>
              <a:t>consumo y operación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2971800"/>
            <a:ext cx="457200" cy="45720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953512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8FAFB"/>
                </a:solidFill>
                <a:latin typeface="Aptos Display"/>
              </a:rPr>
              <a:t>DESEMPEÑO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319272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6E3E8"/>
                </a:solidFill>
                <a:latin typeface="Aptos Display"/>
              </a:rPr>
              <a:t>indicadores y LBEn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4343400"/>
            <a:ext cx="457200" cy="45720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4325112"/>
            <a:ext cx="1828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F8FAFB"/>
                </a:solidFill>
                <a:latin typeface="Aptos Display"/>
              </a:rPr>
              <a:t>MEJORA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690872"/>
            <a:ext cx="43891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0">
                <a:solidFill>
                  <a:srgbClr val="D6E3E8"/>
                </a:solidFill>
                <a:latin typeface="Aptos Display"/>
              </a:rPr>
              <a:t>medidas y evaluación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¿Dónde está la oportunidad energética?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Resultados verificables del caso Oil Malal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3063240" cy="434340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2514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800" b="1">
                <a:solidFill>
                  <a:srgbClr val="EF8919"/>
                </a:solidFill>
                <a:latin typeface="Aptos Display"/>
              </a:rPr>
              <a:t>575,88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42032"/>
            <a:ext cx="2514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kWh/mes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71800"/>
            <a:ext cx="2514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8FAFB"/>
                </a:solidFill>
                <a:latin typeface="Aptos Display"/>
              </a:rPr>
              <a:t>6,08 % del consumo energético mensual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160520"/>
            <a:ext cx="2514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CAAB8"/>
                </a:solidFill>
                <a:latin typeface="Aptos Display"/>
              </a:rPr>
              <a:t>AHORRO POTENCIAL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26280"/>
            <a:ext cx="2514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D6E3E8"/>
                </a:solidFill>
                <a:latin typeface="Aptos Display"/>
              </a:rPr>
              <a:t>análisis del punto de quiebre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463040"/>
            <a:ext cx="7178040" cy="43434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783080"/>
            <a:ext cx="6355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081927"/>
                </a:solidFill>
                <a:latin typeface="Aptos Display"/>
              </a:rPr>
              <a:t>Concentración del potencial identificado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06040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81927"/>
                </a:solidFill>
                <a:latin typeface="Aptos Display"/>
              </a:rPr>
              <a:t>Iluminación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2633472"/>
            <a:ext cx="3749039" cy="329184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20" y="2587752"/>
            <a:ext cx="9144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EF8919"/>
                </a:solidFill>
                <a:latin typeface="Aptos Display"/>
              </a:rPr>
              <a:t>41 %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49039"/>
            <a:ext cx="18288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>
                <a:solidFill>
                  <a:srgbClr val="081927"/>
                </a:solidFill>
                <a:latin typeface="Aptos Display"/>
              </a:rPr>
              <a:t>Aire acondicionado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776472"/>
            <a:ext cx="2377440" cy="329184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3730752"/>
            <a:ext cx="9144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2CAAB8"/>
                </a:solidFill>
                <a:latin typeface="Aptos Display"/>
              </a:rPr>
              <a:t>26 %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983480"/>
            <a:ext cx="61722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081927"/>
                </a:solidFill>
                <a:latin typeface="Aptos Display"/>
              </a:rPr>
              <a:t>La revisión energética deja de ser diagnóstico y se convierte en cartera de acciones.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línea base convierte consumo en referencia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Resultados verificados de los modelos LBEn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28800"/>
            <a:ext cx="4800600" cy="324612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4251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LBEn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42519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185B74"/>
                </a:solidFill>
                <a:latin typeface="Aptos Display"/>
              </a:rPr>
              <a:t>R² = 0,84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703320"/>
            <a:ext cx="39776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708590"/>
                </a:solidFill>
                <a:latin typeface="Aptos Display"/>
              </a:rPr>
              <a:t>modelo de línea base energética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4800600" cy="324612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148840"/>
            <a:ext cx="4251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LBEn META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97480"/>
            <a:ext cx="42519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EF8919"/>
                </a:solidFill>
                <a:latin typeface="Aptos Display"/>
              </a:rPr>
              <a:t>R² = 0,9508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703320"/>
            <a:ext cx="3977639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708590"/>
                </a:solidFill>
                <a:latin typeface="Aptos Display"/>
              </a:rPr>
              <a:t>referencia de desempeño objetivo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40680"/>
            <a:ext cx="9692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081927"/>
                </a:solidFill>
                <a:latin typeface="Aptos Display"/>
              </a:rPr>
              <a:t>La referencia permite comparar desempeño sin confundir producción con consumo.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Dos lecturas complementarias del desempeño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IB100 muestra condición relativa; CUSUM muestra tendencia acumulada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5349240" cy="416052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709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185B74"/>
                </a:solidFill>
                <a:latin typeface="Aptos Display"/>
              </a:rPr>
              <a:t>IB100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47091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>
                <a:solidFill>
                  <a:srgbClr val="EF8919"/>
                </a:solidFill>
                <a:latin typeface="Aptos Display"/>
              </a:rPr>
              <a:t>45,8 %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47091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081927"/>
                </a:solidFill>
                <a:latin typeface="Aptos Display"/>
              </a:rPr>
              <a:t>de los datos de consumo están por debajo
de la línea base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349240" cy="41605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709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2CAAB8"/>
                </a:solidFill>
                <a:latin typeface="Aptos Display"/>
              </a:rPr>
              <a:t>CUSUM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06040"/>
            <a:ext cx="47091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EF8919"/>
                </a:solidFill>
                <a:latin typeface="Aptos Display"/>
              </a:rPr>
              <a:t>DERROCHE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83280"/>
            <a:ext cx="470916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F8FAFB"/>
                </a:solidFill>
                <a:latin typeface="Aptos Display"/>
              </a:rPr>
              <a:t>El período evaluado no muestra trazas de ahorro;
se identifican cambios de tendencia del desempeño.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897880"/>
            <a:ext cx="85039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081927"/>
                </a:solidFill>
                <a:latin typeface="Aptos Display"/>
              </a:rPr>
              <a:t>Lectura conjunta → condición + evolución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De la desviación a la oportunidad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Dónde concentrar el esfuerzo de mejora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731520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6766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5B74"/>
                </a:solidFill>
                <a:latin typeface="Aptos Display"/>
              </a:rPr>
              <a:t>PRIORIZACIÓN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4160520"/>
            <a:ext cx="868680" cy="822960"/>
          </a:xfrm>
          <a:prstGeom prst="rect">
            <a:avLst/>
          </a:prstGeom>
          <a:solidFill>
            <a:srgbClr val="CD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23160" y="3611880"/>
            <a:ext cx="868680" cy="1371600"/>
          </a:xfrm>
          <a:prstGeom prst="rect">
            <a:avLst/>
          </a:prstGeom>
          <a:solidFill>
            <a:srgbClr val="AFCD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3063240"/>
            <a:ext cx="868680" cy="1920240"/>
          </a:xfrm>
          <a:prstGeom prst="rect">
            <a:avLst/>
          </a:prstGeom>
          <a:solidFill>
            <a:srgbClr val="87B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3479" y="2423160"/>
            <a:ext cx="868680" cy="25603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257800"/>
            <a:ext cx="52120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EF8919"/>
                </a:solidFill>
                <a:latin typeface="Aptos Display"/>
              </a:rPr>
              <a:t>PRIORIZAR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063240" cy="33832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148840"/>
            <a:ext cx="2377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LECTURA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651760"/>
            <a:ext cx="233172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F8FAFB"/>
                </a:solidFill>
                <a:latin typeface="Aptos Display"/>
              </a:rPr>
              <a:t>La mejora empieza donde la evidencia concentra impacto.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eficiencia debe traducirse en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Medidas de mejora + evaluación económica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731520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6766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5B74"/>
                </a:solidFill>
                <a:latin typeface="Aptos Display"/>
              </a:rPr>
              <a:t>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1554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81927"/>
                </a:solidFill>
                <a:latin typeface="Aptos Display"/>
              </a:rPr>
              <a:t>MEJORA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74320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743200"/>
            <a:ext cx="1554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459D69"/>
                </a:solidFill>
                <a:latin typeface="Aptos Display"/>
              </a:rPr>
              <a:t>AHORRO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743200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743200"/>
            <a:ext cx="13716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85B74"/>
                </a:solidFill>
                <a:latin typeface="Aptos Display"/>
              </a:rPr>
              <a:t>VALOR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828800"/>
            <a:ext cx="3063240" cy="338328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2148840"/>
            <a:ext cx="23774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LECTURA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651760"/>
            <a:ext cx="233172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F8FAFB"/>
                </a:solidFill>
                <a:latin typeface="Aptos Display"/>
              </a:rPr>
              <a:t>La eficiencia adquiere sentido cuando sostiene una decisión.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¿Podemos anticiparnos?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Hasta aquí podemos medir, entender y comparar. Ahora cambia la pregunta.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3172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D6E3E8"/>
                </a:solidFill>
                <a:latin typeface="Aptos Display"/>
              </a:rPr>
              <a:t>PASADO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267712"/>
            <a:ext cx="6400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331720"/>
            <a:ext cx="2560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F8FAFB"/>
                </a:solidFill>
                <a:latin typeface="Aptos Display"/>
              </a:rPr>
              <a:t>FUTURO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039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¿Qué comportamiento energético esperamos?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De la analítica descriptiva a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No es una clase de algoritmos: es una evolución de capacidad.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RELACIONES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MULTIVARIABLE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063240" cy="214884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PREDICCIÓN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Predicción · observar vs. anticipar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demostración debe mostrar el resultado, no el código.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7360920" cy="452628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143000" y="2240280"/>
            <a:ext cx="6126480" cy="2834640"/>
          </a:xfrm>
          <a:prstGeom prst="line">
            <a:avLst/>
          </a:prstGeom>
          <a:ln w="27940">
            <a:solidFill>
              <a:srgbClr val="2CA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143000" y="2560320"/>
            <a:ext cx="6126480" cy="2697480"/>
          </a:xfrm>
          <a:prstGeom prst="line">
            <a:avLst/>
          </a:prstGeom>
          <a:ln w="27940">
            <a:solidFill>
              <a:srgbClr val="EF8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234440" y="4983480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34440" y="5212080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64208" y="4782312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64208" y="5020056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93976" y="4581144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93976" y="4828032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23744" y="4379976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23744" y="4636008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3512" y="4178808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53512" y="4443984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79" y="4983480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79" y="5212080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13048" y="4782312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13048" y="5020056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42816" y="4581144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2816" y="4828032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72583" y="4379976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72583" y="4636008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02352" y="4178808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02352" y="4443984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32119" y="4983480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32119" y="5212080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61888" y="4782312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1888" y="5020056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91656" y="4581144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91656" y="4828032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21423" y="4379976"/>
            <a:ext cx="73152" cy="73152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21423" y="4636008"/>
            <a:ext cx="73152" cy="73152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366760" y="1874519"/>
            <a:ext cx="2971800" cy="342900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2926080"/>
            <a:ext cx="2514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8FAFB"/>
                </a:solidFill>
                <a:latin typeface="Aptos Display"/>
              </a:rPr>
              <a:t>REAL  ↔  PREDICHO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Validación del modelo: aquí no se inventa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Los valores finales deben provenir del notebook/proyecto ML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2971800" cy="251460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240280"/>
            <a:ext cx="2514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 Display"/>
              </a:rPr>
              <a:t>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907792"/>
            <a:ext cx="2514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2CAAB8"/>
                </a:solidFill>
                <a:latin typeface="Aptos Display"/>
              </a:rPr>
              <a:t>PENDIENTE DE
EXTRACCIÓN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874519"/>
            <a:ext cx="2971800" cy="251460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240280"/>
            <a:ext cx="2514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 Display"/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907792"/>
            <a:ext cx="2514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EF8919"/>
                </a:solidFill>
                <a:latin typeface="Aptos Display"/>
              </a:rPr>
              <a:t>PENDIENTE DE
EXTRACCIÓN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874519"/>
            <a:ext cx="2971800" cy="251460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240280"/>
            <a:ext cx="2514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8FAFB"/>
                </a:solidFill>
                <a:latin typeface="Aptos Display"/>
              </a:rPr>
              <a:t>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907792"/>
            <a:ext cx="25146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459D69"/>
                </a:solidFill>
                <a:latin typeface="Aptos Display"/>
              </a:rPr>
              <a:t>PENDIENTE DE
EXTRACCIÓN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101498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EF8919"/>
                </a:solidFill>
                <a:latin typeface="Aptos Display"/>
              </a:rPr>
              <a:t>El material maestro confirma Real vs. Predicho, RMSE/MAE/R², SHAP y escenarios como parte del flujo ML; los valores concretos aún deben extraerse del notebook.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Predecir no es suficiente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Una predicción útil también debe poder interpretarse.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22860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500" b="1">
                <a:solidFill>
                  <a:srgbClr val="EF8919"/>
                </a:solidFill>
                <a:latin typeface="Aptos Display"/>
              </a:rPr>
              <a:t>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24688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F8FAFB"/>
                </a:solidFill>
                <a:latin typeface="Aptos Display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2286000"/>
            <a:ext cx="731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EF8919"/>
                </a:solidFill>
                <a:latin typeface="Aptos Display"/>
              </a:rPr>
              <a:t>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286000"/>
            <a:ext cx="2468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8FAFB"/>
                </a:solidFill>
                <a:latin typeface="Aptos Display"/>
              </a:rPr>
              <a:t>DECISIÓN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343400"/>
            <a:ext cx="81381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¿por qué el modelo llegó a ese resultado?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¿Por qué el modelo predijo eso?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XAI / SHAP: pasar de resultado a explicación.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1065276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Producción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92807"/>
            <a:ext cx="4297680" cy="2743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569463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Temperatura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587751"/>
            <a:ext cx="3200400" cy="2743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64408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Carga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282696"/>
            <a:ext cx="2194560" cy="27432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959352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Hora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3977639"/>
            <a:ext cx="1280160" cy="27432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54296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Otros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672583"/>
            <a:ext cx="457200" cy="274320"/>
          </a:xfrm>
          <a:prstGeom prst="rect">
            <a:avLst/>
          </a:prstGeom>
          <a:solidFill>
            <a:srgbClr val="708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¿Qué pasa si cambiamos las condiciones?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Escenarios: explorar antes de actuar.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CAMBIO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063240" cy="214884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RESULTADO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De la explicación a la simulación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Comparar alternativas con una misma lógica de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ALTERNATIVA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063240" cy="214884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ALTERNATIVA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892040"/>
            <a:ext cx="8138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EF8919"/>
                </a:solidFill>
                <a:latin typeface="Aptos Display"/>
              </a:rPr>
              <a:t>La simulación permite evaluar antes de intervenir.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SHAP convierte la caja negra en lectura de ingeniería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Qué variables empujan la predicción y en qué dirección.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10652760" cy="4434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Producción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938528"/>
            <a:ext cx="4480560" cy="2743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15184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Temperatura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2633472"/>
            <a:ext cx="3291840" cy="2743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310128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Carga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3328416"/>
            <a:ext cx="2286000" cy="27432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005072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Hora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023360"/>
            <a:ext cx="1371600" cy="27432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0016"/>
            <a:ext cx="16002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081927"/>
                </a:solidFill>
                <a:latin typeface="Aptos Display"/>
              </a:rPr>
              <a:t>Otros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718304"/>
            <a:ext cx="457200" cy="274320"/>
          </a:xfrm>
          <a:prstGeom prst="rect">
            <a:avLst/>
          </a:prstGeom>
          <a:solidFill>
            <a:srgbClr val="708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Una decisión cambia cuando podemos explicar el resultado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40280"/>
            <a:ext cx="658368" cy="658368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12724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PREDICCIÓN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240280"/>
            <a:ext cx="658368" cy="658368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60520" y="312724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SHAP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240280"/>
            <a:ext cx="658368" cy="658368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3127248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3172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331720"/>
            <a:ext cx="6400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>
                <a:solidFill>
                  <a:srgbClr val="EF8919"/>
                </a:solidFill>
                <a:latin typeface="Aptos Display"/>
              </a:rPr>
              <a:t>+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Escenarios: ¿qué alternativa conviene?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La IA deja de responder solo “qué pasará”.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2971800" cy="26060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ESCENARIO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07792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185B74"/>
                </a:solidFill>
                <a:latin typeface="Aptos Display"/>
              </a:rPr>
              <a:t>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708590"/>
                </a:solidFill>
                <a:latin typeface="Aptos Display"/>
              </a:rPr>
              <a:t>comparar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874519"/>
            <a:ext cx="2971800" cy="26060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212848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ESCENARIO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2CAAB8"/>
                </a:solidFill>
                <a:latin typeface="Aptos Display"/>
              </a:rPr>
              <a:t>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70332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708590"/>
                </a:solidFill>
                <a:latin typeface="Aptos Display"/>
              </a:rPr>
              <a:t>comparar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74519"/>
            <a:ext cx="2971800" cy="26060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212848"/>
            <a:ext cx="2606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1">
                <a:solidFill>
                  <a:srgbClr val="081927"/>
                </a:solidFill>
                <a:latin typeface="Aptos Display"/>
              </a:rPr>
              <a:t>ESCENARIO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07792"/>
            <a:ext cx="26060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459D69"/>
                </a:solidFill>
                <a:latin typeface="Aptos Display"/>
              </a:rPr>
              <a:t>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703320"/>
            <a:ext cx="2606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0">
                <a:solidFill>
                  <a:srgbClr val="708590"/>
                </a:solidFill>
                <a:latin typeface="Aptos Display"/>
              </a:rPr>
              <a:t>comparar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La decisión se construye comparando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Resultado técnico + impacto operacional + criterio de negocio.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48840"/>
            <a:ext cx="685800" cy="68580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TÉCNICO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148840"/>
            <a:ext cx="685800" cy="68580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3063240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OPERACIONAL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148840"/>
            <a:ext cx="685800" cy="68580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3063240"/>
            <a:ext cx="1417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NEGOCIO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51960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100" b="1">
                <a:solidFill>
                  <a:srgbClr val="081927"/>
                </a:solidFill>
                <a:latin typeface="Aptos Display"/>
              </a:rPr>
              <a:t>DECISIÓN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Arquitectura integral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Una cadena continua: dato → desempeño → IA →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DATOS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DESEMPEÑO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312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764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XAI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2331720"/>
            <a:ext cx="1463040" cy="96012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ESCENARIOS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68128" y="2331720"/>
            <a:ext cx="1463040" cy="960120"/>
          </a:xfrm>
          <a:prstGeom prst="round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13848" y="2624328"/>
            <a:ext cx="13716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00" b="1">
                <a:solidFill>
                  <a:srgbClr val="F8FAFB"/>
                </a:solidFill>
                <a:latin typeface="Aptos Display"/>
              </a:rPr>
              <a:t>DECISIÓN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568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9592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3640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65176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Del prototipo al entorno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El valor aparece cuando el análisis entra en el flujo de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08760" y="2267712"/>
            <a:ext cx="640080" cy="64008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CAPTURAR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datos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267712"/>
            <a:ext cx="640080" cy="64008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ANALIZAR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Python /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8040" y="2267712"/>
            <a:ext cx="640080" cy="64008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EXPLICAR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XAI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965960"/>
            <a:ext cx="2331720" cy="228600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12680" y="2267712"/>
            <a:ext cx="640080" cy="64008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063240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081927"/>
                </a:solidFill>
                <a:latin typeface="Aptos Display"/>
              </a:rPr>
              <a:t>ACTUAR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456432"/>
            <a:ext cx="20574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00" b="0">
                <a:solidFill>
                  <a:srgbClr val="708590"/>
                </a:solidFill>
                <a:latin typeface="Aptos Display"/>
              </a:rPr>
              <a:t>operación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IA + ingeniería: una nueva capacidad de gestión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La IA amplifica el conocimiento del proceso; no sustituye al ingeniero.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8FAFB"/>
                </a:solidFill>
                <a:latin typeface="Aptos Display"/>
              </a:rPr>
              <a:t>INGENIERÍA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121408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EF8919"/>
                </a:solidFill>
                <a:latin typeface="Aptos Display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488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8FAFB"/>
                </a:solidFill>
                <a:latin typeface="Aptos Display"/>
              </a:rPr>
              <a:t>DATOS +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121408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EF8919"/>
                </a:solidFill>
                <a:latin typeface="Aptos Display"/>
              </a:rP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148840"/>
            <a:ext cx="29260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EF8919"/>
                </a:solidFill>
                <a:latin typeface="Aptos Display"/>
              </a:rPr>
              <a:t>DECISIÓN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160520"/>
            <a:ext cx="93268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D6E3E8"/>
                </a:solidFill>
                <a:latin typeface="Aptos Display"/>
              </a:rPr>
              <a:t>La tecnología aumenta la capacidad de anticipar, explicar y evaluar.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081927"/>
                </a:solidFill>
                <a:latin typeface="Aptos Display"/>
              </a:rPr>
              <a:t>El siguiente nivel: optimizar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708590"/>
                </a:solidFill>
                <a:latin typeface="Aptos Display"/>
              </a:rPr>
              <a:t>Después de predecir y explicar, podemos evaluar alternativas.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70859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708590"/>
                </a:solidFill>
                <a:latin typeface="Aptos Display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935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148840"/>
            <a:ext cx="3063240" cy="2148840"/>
          </a:xfrm>
          <a:prstGeom prst="roundRect">
            <a:avLst/>
          </a:prstGeom>
          <a:solidFill>
            <a:srgbClr val="E8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081927"/>
                </a:solidFill>
                <a:latin typeface="Aptos Display"/>
              </a:rPr>
              <a:t>EXPLICACIÓN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2862072"/>
            <a:ext cx="4114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148840"/>
            <a:ext cx="3063240" cy="2148840"/>
          </a:xfrm>
          <a:prstGeom prst="roundRect">
            <a:avLst/>
          </a:prstGeom>
          <a:solidFill>
            <a:srgbClr val="081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2743200"/>
            <a:ext cx="2697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OPTIMIZACIÓN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La pregunta de investigación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¿Cómo transformar datos energéticos operacionales en capacidad predictiva y de decisión?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2CAAB8"/>
                </a:solidFill>
                <a:latin typeface="Aptos Display"/>
              </a:rPr>
              <a:t>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F8FAFB"/>
                </a:solidFill>
                <a:latin typeface="Aptos Display"/>
              </a:rPr>
              <a:t>MODELOS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459D69"/>
                </a:solidFill>
                <a:latin typeface="Aptos Display"/>
              </a:rPr>
              <a:t>EXPLICACIÓN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39" y="2487168"/>
            <a:ext cx="1965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EF8919"/>
                </a:solidFill>
                <a:latin typeface="Aptos Display"/>
              </a:rPr>
              <a:t>DECISIÓN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46888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1848" y="246888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7" y="2468880"/>
            <a:ext cx="502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3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Propuesta doctoral · línea de continuidad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La investigación surge naturalmente de la evolución del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2CAAB8"/>
                </a:solidFill>
                <a:latin typeface="Aptos Display"/>
              </a:rPr>
              <a:t>PREDICCIÓN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anticipar desempeño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459D69"/>
                </a:solidFill>
                <a:latin typeface="Aptos Display"/>
              </a:rPr>
              <a:t>XAI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comprender variables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5936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EF8919"/>
                </a:solidFill>
                <a:latin typeface="Aptos Display"/>
              </a:rPr>
              <a:t>ESCENARIOS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evaluar alternativas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98863" y="1920240"/>
            <a:ext cx="2423160" cy="2423160"/>
          </a:xfrm>
          <a:prstGeom prst="roundRect">
            <a:avLst/>
          </a:prstGeom>
          <a:solidFill>
            <a:srgbClr val="1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2331720"/>
            <a:ext cx="21488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8FAFB"/>
                </a:solidFill>
                <a:latin typeface="Aptos Display"/>
              </a:rPr>
              <a:t>OPTIMIZACIÓN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63455" y="3063240"/>
            <a:ext cx="2084831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D6E3E8"/>
                </a:solidFill>
                <a:latin typeface="Aptos Display"/>
              </a:rPr>
              <a:t>orientar decisiones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1148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56032"/>
            <a:ext cx="105156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>
                <a:solidFill>
                  <a:srgbClr val="F8FAFB"/>
                </a:solidFill>
                <a:latin typeface="Aptos Display"/>
              </a:rPr>
              <a:t>La evolución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789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>
                <a:solidFill>
                  <a:srgbClr val="D6E3E8"/>
                </a:solidFill>
                <a:latin typeface="Aptos Display"/>
              </a:rPr>
              <a:t>No se trata de agregar IA. Se trata de aumentar la capacidad de decidir.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92240"/>
            <a:ext cx="20116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91A6B0"/>
                </a:solidFill>
                <a:latin typeface="Aptos Display"/>
              </a:rPr>
              <a:t>PAUL GÁLVEZ · USM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943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91A6B0"/>
                </a:solidFill>
                <a:latin typeface="Aptos Display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2CAAB8"/>
                </a:solidFill>
                <a:latin typeface="Aptos Display"/>
              </a:rPr>
              <a:t>DATO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CONOCIMIENTO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F8FAFB"/>
                </a:solidFill>
                <a:latin typeface="Aptos Display"/>
              </a:rPr>
              <a:t>PREDICCIÓN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459D69"/>
                </a:solidFill>
                <a:latin typeface="Aptos Display"/>
              </a:rPr>
              <a:t>EXPLICACIÓN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2487168"/>
            <a:ext cx="173736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EF8919"/>
                </a:solidFill>
                <a:latin typeface="Aptos Display"/>
              </a:rPr>
              <a:t>ACCIÓN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2468880"/>
            <a:ext cx="411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EF8919"/>
                </a:solidFill>
                <a:latin typeface="Aptos Display"/>
              </a:rPr>
              <a:t>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9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9144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1">
                <a:solidFill>
                  <a:srgbClr val="EF8919"/>
                </a:solidFill>
                <a:latin typeface="Aptos Display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25880"/>
            <a:ext cx="658368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000" b="1">
                <a:solidFill>
                  <a:srgbClr val="F8FAFB"/>
                </a:solidFill>
                <a:latin typeface="Aptos Display"/>
              </a:rPr>
              <a:t>De medir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01952"/>
            <a:ext cx="6858000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4600" b="1">
                <a:solidFill>
                  <a:srgbClr val="EF8919"/>
                </a:solidFill>
                <a:latin typeface="Aptos Display"/>
              </a:rPr>
              <a:t>predecir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78608"/>
            <a:ext cx="7589520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100" b="1">
                <a:solidFill>
                  <a:srgbClr val="F8FAFB"/>
                </a:solidFill>
                <a:latin typeface="Aptos Display"/>
              </a:rPr>
              <a:t>y de predecir a decidir.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3401568"/>
            <a:ext cx="76809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0">
                <a:solidFill>
                  <a:srgbClr val="D6E3E8"/>
                </a:solidFill>
                <a:latin typeface="Aptos Display"/>
              </a:rPr>
              <a:t>La evolución de la gestión energética consiste en transformar datos operacionales en capacidad de predicción y decisión.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6144768"/>
            <a:ext cx="530352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708590"/>
                </a:solidFill>
                <a:latin typeface="Aptos Display"/>
              </a:rPr>
              <a:t>Paul Gálvez · Universidad Técnica Federico Santa María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4892040"/>
            <a:ext cx="502920" cy="502920"/>
          </a:xfrm>
          <a:prstGeom prst="rect">
            <a:avLst/>
          </a:prstGeom>
          <a:solidFill>
            <a:srgbClr val="2CA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MEDIR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42248" y="4892040"/>
            <a:ext cx="502920" cy="502920"/>
          </a:xfrm>
          <a:prstGeom prst="rect">
            <a:avLst/>
          </a:prstGeom>
          <a:solidFill>
            <a:srgbClr val="185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ENTENDER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83496" y="4892040"/>
            <a:ext cx="502920" cy="502920"/>
          </a:xfrm>
          <a:prstGeom prst="rect">
            <a:avLst/>
          </a:prstGeom>
          <a:solidFill>
            <a:srgbClr val="459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0616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PREDECIR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24744" y="4892040"/>
            <a:ext cx="502920" cy="502920"/>
          </a:xfrm>
          <a:prstGeom prst="rect">
            <a:avLst/>
          </a:prstGeom>
          <a:solidFill>
            <a:srgbClr val="EF8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41864" y="5504688"/>
            <a:ext cx="8686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8FAFB"/>
                </a:solidFill>
                <a:latin typeface="Aptos Display"/>
              </a:rPr>
              <a:t>DECIDIR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