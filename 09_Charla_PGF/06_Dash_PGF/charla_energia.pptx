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Ahorro potencial anual por sistema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Ahorro potencial anual (US$)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Quemadores</c:v>
                  </c:pt>
                  <c:pt idx="1">
                    <c:v>Aire acond.</c:v>
                  </c:pt>
                  <c:pt idx="2">
                    <c:v>Luminarias</c:v>
                  </c:pt>
                  <c:pt idx="3">
                    <c:v>Motores</c:v>
                  </c:pt>
                  <c:pt idx="4">
                    <c:v>Tuberías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13481662</c:v>
                </c:pt>
                <c:pt idx="1">
                  <c:v>4088779</c:v>
                </c:pt>
                <c:pt idx="2">
                  <c:v>2092103</c:v>
                </c:pt>
                <c:pt idx="3">
                  <c:v>1150385</c:v>
                </c:pt>
                <c:pt idx="4">
                  <c:v>490342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7DE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deliberada tras la pregunta. Esta diapositiva debe generar la primera pausa real de la charla — no seguir hablando de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Hasta aquí hemos utilizado los datos para entender lo ocurrido, establecer una referencia y evaluar el desempeño. Pausa. Pero podemos hacernos una pregunta adicional: ¿podemos anticiparnos al comportamiento energético? Aquí incorporamos Machine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¿Qué estamos comparando? Real vs. predicho. ¿Con qué evaluamos? R² + MAE + RMSE. ¿Qué queremos saber? Si el modelo representa adecuadamente el comportamiento observado. Dataset piloto de validación (3 días, Data Center sintético) — el mismo enfoque se aplica sobre datos reales de planta al escalar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Tenemos una predicción. Pero para utilizarla en un contexto de ingeniería necesitamos entender qué está detrás de ese resultado. Por eso incorporamos explicabilidad.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permite analizar cómo las diferentes variables contribuyen a las predicciones. A nivel global: qué variables tienen mayor importancia (aquí, carga TI y climatización). A nivel local: qué variables contribuyen a una predicción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 es, finalmente, el paso que estamos buscando: pasar de medir lo que ocurrió a utilizar la información para decidir mejor. Silencio.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18872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182880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37744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00584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92608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109728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73736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237744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0" y="118872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2834640"/>
            <a:ext cx="82296" cy="82296"/>
          </a:xfrm>
          <a:prstGeom prst="ellipse">
            <a:avLst/>
          </a:prstGeom>
          <a:solidFill>
            <a:srgbClr val="0E7C8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MODELOS Y ARQUITECTURAS INTELIGENTES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MEDIR A PREDECIR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645920" y="3520440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Gestión, predicción, explicación y optimización del desempeño energético en infraestructuras críticas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   ·   ANALÍTICA DE DATOS   ·   MACHINE LEARNING   ·   XAI / SHAP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Gálvez  |  Universidad Técnica Federico Santa María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¿ESTAMOS MIDIENDO ENERGÍA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REALMENTE GESTIONÁNDOLA?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a la decisión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MEDIR A DECIDIR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287083" cy="822960"/>
          </a:xfrm>
          <a:prstGeom prst="roundRect">
            <a:avLst>
              <a:gd name="adj" fmla="val 888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17520"/>
            <a:ext cx="1195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35723" y="301752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83195" y="3017520"/>
            <a:ext cx="1287083" cy="822960"/>
          </a:xfrm>
          <a:prstGeom prst="roundRect">
            <a:avLst>
              <a:gd name="adj" fmla="val 888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8915" y="3017520"/>
            <a:ext cx="1195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0279" y="301752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7751" y="3017520"/>
            <a:ext cx="1287083" cy="822960"/>
          </a:xfrm>
          <a:prstGeom prst="roundRect">
            <a:avLst>
              <a:gd name="adj" fmla="val 888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3471" y="3017520"/>
            <a:ext cx="1195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04834" y="301752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52306" y="3017520"/>
            <a:ext cx="1287083" cy="822960"/>
          </a:xfrm>
          <a:prstGeom prst="roundRect">
            <a:avLst>
              <a:gd name="adj" fmla="val 888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8026" y="3017520"/>
            <a:ext cx="1195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39389" y="301752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86861" y="3017520"/>
            <a:ext cx="1287083" cy="822960"/>
          </a:xfrm>
          <a:prstGeom prst="roundRect">
            <a:avLst>
              <a:gd name="adj" fmla="val 888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581" y="3017520"/>
            <a:ext cx="1195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3945" y="301752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21417" y="3017520"/>
            <a:ext cx="1287083" cy="822960"/>
          </a:xfrm>
          <a:prstGeom prst="roundRect">
            <a:avLst>
              <a:gd name="adj" fmla="val 888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67137" y="3017520"/>
            <a:ext cx="1195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08500" y="3017520"/>
            <a:ext cx="292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355972" y="3017520"/>
            <a:ext cx="1287083" cy="822960"/>
          </a:xfrm>
          <a:prstGeom prst="roundRect">
            <a:avLst>
              <a:gd name="adj" fmla="val 888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01692" y="3017520"/>
            <a:ext cx="1195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etapa se construye sobre la anterior — no reemplaza, complementa.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ENERGÉTICO E INDUSTRIAL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ENERGÍA NO EXISTE AISLADA DEL PROCESO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94090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43200"/>
            <a:ext cx="1849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89545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7017" y="2743200"/>
            <a:ext cx="194090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2737" y="2743200"/>
            <a:ext cx="1849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7923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5395" y="2743200"/>
            <a:ext cx="194090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1115" y="2743200"/>
            <a:ext cx="1849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66300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13772" y="2743200"/>
            <a:ext cx="194090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9492" y="2743200"/>
            <a:ext cx="1849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54678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02150" y="2743200"/>
            <a:ext cx="194090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47870" y="2743200"/>
            <a:ext cx="18494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 operacionales → comportamiento energético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ENERGÉTICA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NO ES TODAVÍA GESTIONAR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8149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55621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1341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15130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2602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8322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22112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9584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5304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9093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76565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2285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36074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83546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29266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 → análisis → referencia → evaluación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AL DESEMPEÑO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CONSUMIMOS... Y CUÁNTO DEBERÍAMOS CONSUMIR?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5595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17520"/>
            <a:ext cx="14680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8149" y="3017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55621" y="3017520"/>
            <a:ext cx="15595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1341" y="3017520"/>
            <a:ext cx="14680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15130" y="3017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2602" y="3017520"/>
            <a:ext cx="15595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8322" y="3017520"/>
            <a:ext cx="14680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22112" y="3017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9584" y="3017520"/>
            <a:ext cx="15595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5304" y="3017520"/>
            <a:ext cx="14680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9093" y="3017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76565" y="3017520"/>
            <a:ext cx="15595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2285" y="3017520"/>
            <a:ext cx="14680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36074" y="3017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83546" y="3017520"/>
            <a:ext cx="15595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29266" y="3017520"/>
            <a:ext cx="14680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referencia permite comparar el comportamiento observado con el esperado.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MALAL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datos a la gestión energética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de una planta industrial, usado como evidencia concreta de gestión energética bajo ISO 50001 — la base sobre la que luego evaluamos qué aporta una capa predictiva.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2513000" cy="640080"/>
          </a:xfrm>
          <a:prstGeom prst="roundRect">
            <a:avLst>
              <a:gd name="adj" fmla="val 1142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0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1640" y="51206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09112" y="5120640"/>
            <a:ext cx="2513000" cy="640080"/>
          </a:xfrm>
          <a:prstGeom prst="roundRect">
            <a:avLst>
              <a:gd name="adj" fmla="val 1142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4832" y="5120640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22112" y="51206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9584" y="5120640"/>
            <a:ext cx="2513000" cy="640080"/>
          </a:xfrm>
          <a:prstGeom prst="roundRect">
            <a:avLst>
              <a:gd name="adj" fmla="val 1142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5304" y="5120640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82583" y="51206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30055" y="5120640"/>
            <a:ext cx="2513000" cy="640080"/>
          </a:xfrm>
          <a:prstGeom prst="roundRect">
            <a:avLst>
              <a:gd name="adj" fmla="val 11429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5775" y="5120640"/>
            <a:ext cx="242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MALAL — EVIDENCIA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ESTÁ LA ENERGÍA?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14884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2148840"/>
            <a:ext cx="43434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43800" y="237744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dónde se concentra el consumo permite priorizar la gestión.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43800" y="374904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de combustión (quemadores) concentran la mayor parte del ahorro potencial identificado, seguidos por climatización.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MALAL — EVIDENCIA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ES EL COMPORTAMIENTO ESPERADO?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5577840"/>
            <a:ext cx="5760720" cy="0"/>
          </a:xfrm>
          <a:prstGeom prst="line">
            <a:avLst/>
          </a:prstGeom>
          <a:noFill/>
          <a:ln w="15875">
            <a:solidFill>
              <a:srgbClr val="5B6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651760"/>
            <a:ext cx="0" cy="2926080"/>
          </a:xfrm>
          <a:prstGeom prst="line">
            <a:avLst/>
          </a:prstGeom>
          <a:noFill/>
          <a:ln w="15875">
            <a:solidFill>
              <a:srgbClr val="5B6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394960"/>
            <a:ext cx="5394960" cy="-237744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LBEn: consumo esperado según condición de operación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conceptual — reemplazar por regresión real de la planta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09560" y="219456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4688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consumo por sí solo no permite determinar si estamos funcionando adecuadamente. Necesitamos relacionarlo con las condiciones que lo explican.”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MALAL — EVIDENCIA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¿ESTAMOS FUNCIONANDO COMO DEBERÍAMOS?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05156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5394960"/>
            <a:ext cx="9875520" cy="0"/>
          </a:xfrm>
          <a:prstGeom prst="line">
            <a:avLst/>
          </a:prstGeom>
          <a:noFill/>
          <a:ln w="15875">
            <a:solidFill>
              <a:srgbClr val="5B6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60320"/>
            <a:ext cx="0" cy="2834640"/>
          </a:xfrm>
          <a:prstGeom prst="line">
            <a:avLst/>
          </a:prstGeom>
          <a:noFill/>
          <a:ln w="15875">
            <a:solidFill>
              <a:srgbClr val="5B6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4572000"/>
            <a:ext cx="1371600" cy="-36576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4206240"/>
            <a:ext cx="1371600" cy="27432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4480560"/>
            <a:ext cx="1371600" cy="-109728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3383280"/>
            <a:ext cx="1371600" cy="-36576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017520"/>
            <a:ext cx="1371600" cy="54864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566160"/>
            <a:ext cx="1371600" cy="-73152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0" y="2834640"/>
            <a:ext cx="1371600" cy="-18288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572000"/>
            <a:ext cx="9052560" cy="0"/>
          </a:xfrm>
          <a:prstGeom prst="line">
            <a:avLst/>
          </a:prstGeom>
          <a:noFill/>
          <a:ln w="12700">
            <a:solidFill>
              <a:srgbClr val="5B647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104120" y="4416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(0)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— desviación acumulada respecto de la línea 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conceptual — reemplazar por CUSUM real de la planta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MALAL — EVIDENCIA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DIAGNÓSTICO A LA OPORTUNIDAD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sobre línea 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7432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0,11 años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228600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ACONDICIONADO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2880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34340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sobre línea 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4343400"/>
            <a:ext cx="27432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2,64 años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228600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QUEMADORES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2880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95528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 equipos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4343400"/>
            <a:ext cx="27432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0,6 años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diagnóstico energético se transforma en alternativas concretas de mejora.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MALAL — EVIDENCIA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 MEJORA ES CONVENIENTE?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$138,46 MM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2697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51,1 %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10712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2697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 años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81344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0536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1976" y="2697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$21,30 MM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51976" y="39319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COSTOS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no solo medimos consumo: tenemos información para evaluar una decisión de inversión.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¿PODEMOS ANTICIPARNOS?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comparar → a predecir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COMPARAR A PREDECIR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89545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7017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2737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7923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5395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1115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66300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13772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9492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54678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02150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47870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reemplaza la gestión energética: agrega una capacidad predictiva sobre la información histórica.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DESARROLLO REAL (PROYECTO_ML_ENERGIA_PGF)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APRENDE EL MODELO?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85216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utilizadas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5486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TI (it_load_kW)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climatización (hvac_kW)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TI — hora anterior (lag 1h)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total — hora anterior (lag 1h)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móvil 3h de carga TI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exterior (°C)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día (codificación cíclica)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la semana (codificación cíclica)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2148840"/>
            <a:ext cx="5166360" cy="3886200"/>
          </a:xfrm>
          <a:prstGeom prst="roundRect">
            <a:avLst>
              <a:gd name="adj" fmla="val 2353"/>
            </a:avLst>
          </a:prstGeom>
          <a:solidFill>
            <a:srgbClr val="0B1F3B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3291840"/>
            <a:ext cx="1338072" cy="1280160"/>
          </a:xfrm>
          <a:prstGeom prst="roundRect">
            <a:avLst>
              <a:gd name="adj" fmla="val 5714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3291840"/>
            <a:ext cx="1246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58912" y="3291840"/>
            <a:ext cx="292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06384" y="3291840"/>
            <a:ext cx="1338072" cy="1280160"/>
          </a:xfrm>
          <a:prstGeom prst="roundRect">
            <a:avLst>
              <a:gd name="adj" fmla="val 5714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2104" y="3291840"/>
            <a:ext cx="1246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44456" y="3291840"/>
            <a:ext cx="292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91928" y="3291840"/>
            <a:ext cx="1338072" cy="1280160"/>
          </a:xfrm>
          <a:prstGeom prst="roundRect">
            <a:avLst>
              <a:gd name="adj" fmla="val 5714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37648" y="3291840"/>
            <a:ext cx="1246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4846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objetivo: consumo total (kW)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DESARROLLO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AL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8149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55621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1341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15130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2602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8322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22112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9584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5304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9093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76565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2285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36074" y="27432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83546" y="2743200"/>
            <a:ext cx="155950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29266" y="2743200"/>
            <a:ext cx="14680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debe generalizar — no simplemente reproducir los datos con los que fue entrenado.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DESARROLLO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¿EL MODELO FUNCIONA?</a:t>
            </a:r>
            <a:endParaRPr lang="en-US" sz="3000" dirty="0"/>
          </a:p>
        </p:txBody>
      </p:sp>
      <p:pic>
        <p:nvPicPr>
          <p:cNvPr id="4" name="Image 0" descr="/home/claude/ppt/img/rf_real_vs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949440" cy="2807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real vs. predicho — Random Forest (set de validación)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35240" y="210312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(mejor ajuste)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0,979   ·   MAE 10,18 kW   ·   RMSE 11,22 kW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63840" y="3246120"/>
            <a:ext cx="356616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(usado para XAI/SHAP)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0,911   ·   MAE 19,41 kW   ·   RMSE 23,35 kW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63840" y="44348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ajusta mejor en este dataset (70 h de entrenamiento). Se eligió Random Forest para el bloque de explicabilidad por su compatibilidad directa con SHAP.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6291072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62910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 1 — Predecir (dashboard)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NO ES SUFICIENTE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461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¿PODEMOS ENTENDER POR QUÉ?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(XAI) — DESARROLLO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MODELO PREDICE ESO?</a:t>
            </a:r>
            <a:endParaRPr lang="en-US" sz="3000" dirty="0"/>
          </a:p>
        </p:txBody>
      </p:sp>
      <p:pic>
        <p:nvPicPr>
          <p:cNvPr id="4" name="Image 0" descr="/home/claude/ppt/img/shap_glob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53949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70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importancia global</a:t>
            </a:r>
            <a:endParaRPr lang="en-US" sz="1050" dirty="0"/>
          </a:p>
        </p:txBody>
      </p:sp>
      <p:pic>
        <p:nvPicPr>
          <p:cNvPr id="6" name="Image 1" descr="/home/claude/ppt/img/shap_lo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3120"/>
            <a:ext cx="553212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0" y="532180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explicación local (una observación)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126480" y="56692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contribución SHAP no debe interpretarse como una relación causal.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6291072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2A93B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62910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 2 — Explicar (SHAP)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PASA SI...?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Modificar una condición → observar la nueva predicción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89545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7017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2737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7923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5395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1115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6300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13772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9492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54678" y="283464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02150" y="283464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7870" y="283464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 escenarios no implica que el cambio produzca necesariamente ese resultado en la realidad.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91072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2910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 3 — Explorar (escenarios)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ESCENARIO A LA DECISIÓN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286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33375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4023360"/>
            <a:ext cx="1325880" cy="32004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4023360"/>
            <a:ext cx="-1325880" cy="32004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3434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2057400" y="4343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4348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0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43484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DECIDIR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069080" y="4636008"/>
            <a:ext cx="224028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predicción permite estimar. La explicabilidad ayuda a comprender. Los escenarios permiten explorar. La decisión sigue siendo de ingeniería.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PREDICCIÓN NO ES LA DECISIÓN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86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22860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86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32461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2860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86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32461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41080" y="22860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86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41080" y="32461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83080" y="3977640"/>
            <a:ext cx="8092440" cy="0"/>
          </a:xfrm>
          <a:prstGeom prst="line">
            <a:avLst/>
          </a:prstGeom>
          <a:noFill/>
          <a:ln w="15875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9300" y="3977640"/>
            <a:ext cx="0" cy="365760"/>
          </a:xfrm>
          <a:prstGeom prst="line">
            <a:avLst/>
          </a:prstGeom>
          <a:noFill/>
          <a:ln w="15875">
            <a:solidFill>
              <a:srgbClr val="D7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43484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0B1F3B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434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aporta una predicción; la decisión incorpora el contexto y las restricciones de ingeniería.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 COMPLETA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65176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1640" y="265176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09112" y="265176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4832" y="265176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22112" y="265176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9584" y="265176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5304" y="265176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82583" y="265176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30055" y="265176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5775" y="265176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048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1640" y="384048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09112" y="384048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4832" y="384048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22112" y="384048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9584" y="384048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5304" y="384048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82583" y="384048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30055" y="3840480"/>
            <a:ext cx="2513000" cy="914400"/>
          </a:xfrm>
          <a:prstGeom prst="roundRect">
            <a:avLst>
              <a:gd name="adj" fmla="val 8000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5775" y="384048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son herramientas aisladas: forman una arquitectura que va del dato a la decisión.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DECISIÓN NECESITA CONTEXTO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23774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23774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41080" y="237744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/ IMPACTO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3080" y="3200400"/>
            <a:ext cx="4046220" cy="50292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3200400"/>
            <a:ext cx="1348740" cy="50292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3200400"/>
            <a:ext cx="-1348740" cy="50292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3200400"/>
            <a:ext cx="-4046220" cy="50292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9100" y="37947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0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4229100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predicción por sí sola no determina una acción.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PARA DECIDIR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2743200"/>
        </p:xfrm>
        <a:graphic>
          <a:graphicData uri="http://schemas.openxmlformats.org/drawingml/2006/table">
            <a:tbl>
              <a:tblPr/>
              <a:tblGrid>
                <a:gridCol w="4114800"/>
                <a:gridCol w="697961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ocurrió?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podría ocurrir?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¿Por qué?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pasa si...?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86"/>
                </a:solidFill>
              </a:rPr>
              <a:t>↓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084168" y="53949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0B1F3B"/>
          </a:solidFill>
          <a:ln/>
        </p:spPr>
      </p:sp>
      <p:sp>
        <p:nvSpPr>
          <p:cNvPr id="7" name="Text 4"/>
          <p:cNvSpPr/>
          <p:nvPr/>
        </p:nvSpPr>
        <p:spPr>
          <a:xfrm>
            <a:off x="4084168" y="5394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DE INGENIERÍA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PUEDE APLICARSE?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56032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productivos intensivos en energía.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228600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0" y="256032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4340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variables y de alta demanda energética.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256032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552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donde energía y continuidad operacional están vinculadas.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de transferencia ≠ validación realizada.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GESTIÓN ENERGÉTICA A LA GESTIÓN INTELIGENTE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28708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1752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35723" y="301752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83195" y="3017520"/>
            <a:ext cx="128708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8915" y="301752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0279" y="301752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7751" y="3017520"/>
            <a:ext cx="128708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3471" y="301752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04834" y="301752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52306" y="3017520"/>
            <a:ext cx="128708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8026" y="301752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39389" y="301752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86861" y="3017520"/>
            <a:ext cx="128708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581" y="301752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73945" y="301752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21417" y="3017520"/>
            <a:ext cx="128708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67137" y="301752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08500" y="301752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355972" y="3017520"/>
            <a:ext cx="128708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01692" y="3017520"/>
            <a:ext cx="11956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reemplaza la gestión energética tradicional: la complementa con capacidad de anticipar, explicar y explorar.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—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ESCENARIOS A OPTIMIZACIÓN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2834640"/>
            <a:ext cx="1690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40280" y="2834640"/>
            <a:ext cx="159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84600" y="283464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32072" y="2834640"/>
            <a:ext cx="1690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7792" y="2834640"/>
            <a:ext cx="159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22112" y="283464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9584" y="2834640"/>
            <a:ext cx="1690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5304" y="2834640"/>
            <a:ext cx="159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9623" y="283464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07095" y="2834640"/>
            <a:ext cx="1690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2815" y="2834640"/>
            <a:ext cx="159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FF3DE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= evolución propuesta, no un resultado ya implementado.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82880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INTEGRAR PREDICCIÓN, EXPLICABILIDAD Y OPTIMIZACIÓN PARA APOYAR DECISIONES ENERGÉTICAS BAJO CONDICIONES OPERACIONALES CAMBIANTES?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posible línea de investigación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POSIBLE LÍNEA DE INVESTIGACIÓN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55950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926080"/>
            <a:ext cx="14680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8149" y="292608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55621" y="2926080"/>
            <a:ext cx="155950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1341" y="2926080"/>
            <a:ext cx="14680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15130" y="292608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2602" y="2926080"/>
            <a:ext cx="155950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8322" y="2926080"/>
            <a:ext cx="14680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22112" y="292608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9584" y="2926080"/>
            <a:ext cx="155950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5304" y="2926080"/>
            <a:ext cx="14680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9093" y="292608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76565" y="2926080"/>
            <a:ext cx="155950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2285" y="2926080"/>
            <a:ext cx="14680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36074" y="2926080"/>
            <a:ext cx="292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83546" y="2926080"/>
            <a:ext cx="1559509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29266" y="2926080"/>
            <a:ext cx="14680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AL CONOCIMIENTO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01752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89545" y="301752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7017" y="301752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2737" y="301752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77923" y="301752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5395" y="301752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1115" y="301752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66300" y="301752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13772" y="301752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9492" y="301752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54678" y="3017520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02150" y="3017520"/>
            <a:ext cx="194090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B1F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47870" y="3017520"/>
            <a:ext cx="18494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 no está en tener más datos, sino en transformarlos en mejores decisiones.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¿ESTAMOS MIDIENDO ENERGÍA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REALMENTE GESTIONÁNDOLA?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1287083" cy="777240"/>
          </a:xfrm>
          <a:prstGeom prst="roundRect">
            <a:avLst>
              <a:gd name="adj" fmla="val 9412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0"/>
            <a:ext cx="11956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35723" y="283464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83195" y="2834640"/>
            <a:ext cx="1287083" cy="777240"/>
          </a:xfrm>
          <a:prstGeom prst="roundRect">
            <a:avLst>
              <a:gd name="adj" fmla="val 9412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8915" y="2834640"/>
            <a:ext cx="11956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0279" y="283464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7751" y="2834640"/>
            <a:ext cx="1287083" cy="777240"/>
          </a:xfrm>
          <a:prstGeom prst="roundRect">
            <a:avLst>
              <a:gd name="adj" fmla="val 9412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3471" y="2834640"/>
            <a:ext cx="11956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04834" y="283464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52306" y="2834640"/>
            <a:ext cx="1287083" cy="777240"/>
          </a:xfrm>
          <a:prstGeom prst="roundRect">
            <a:avLst>
              <a:gd name="adj" fmla="val 9412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8026" y="2834640"/>
            <a:ext cx="11956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39389" y="283464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86861" y="2834640"/>
            <a:ext cx="1287083" cy="777240"/>
          </a:xfrm>
          <a:prstGeom prst="roundRect">
            <a:avLst>
              <a:gd name="adj" fmla="val 9412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581" y="2834640"/>
            <a:ext cx="11956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73945" y="283464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21417" y="2834640"/>
            <a:ext cx="1287083" cy="777240"/>
          </a:xfrm>
          <a:prstGeom prst="roundRect">
            <a:avLst>
              <a:gd name="adj" fmla="val 9412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67137" y="2834640"/>
            <a:ext cx="11956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08500" y="283464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355972" y="2834640"/>
            <a:ext cx="1287083" cy="777240"/>
          </a:xfrm>
          <a:prstGeom prst="roundRect">
            <a:avLst>
              <a:gd name="adj" fmla="val 9412"/>
            </a:avLst>
          </a:prstGeom>
          <a:solidFill>
            <a:srgbClr val="16345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1692" y="2834640"/>
            <a:ext cx="11956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a la decisión.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475488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por sí solos no generan eficiencia. Necesitamos convertirlos en conocimiento para tomar mejores decisiones.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Gálvez  |  Universidad Técnica Federico Santa María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medir a predecir</dc:title>
  <dc:subject>PptxGenJS Presentation</dc:subject>
  <dc:creator>Paul Gálvez</dc:creator>
  <cp:lastModifiedBy>Paul Gálvez</cp:lastModifiedBy>
  <cp:revision>1</cp:revision>
  <dcterms:created xsi:type="dcterms:W3CDTF">2026-08-29T22:02:10Z</dcterms:created>
  <dcterms:modified xsi:type="dcterms:W3CDTF">2026-08-29T22:02:10Z</dcterms:modified>
</cp:coreProperties>
</file>